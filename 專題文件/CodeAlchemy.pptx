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4"/>
  </p:sldMasterIdLst>
  <p:notesMasterIdLst>
    <p:notesMasterId r:id="rId59"/>
  </p:notesMasterIdLst>
  <p:sldIdLst>
    <p:sldId id="256" r:id="rId5"/>
    <p:sldId id="383" r:id="rId6"/>
    <p:sldId id="265" r:id="rId7"/>
    <p:sldId id="257" r:id="rId8"/>
    <p:sldId id="329" r:id="rId9"/>
    <p:sldId id="297" r:id="rId10"/>
    <p:sldId id="378" r:id="rId11"/>
    <p:sldId id="292" r:id="rId12"/>
    <p:sldId id="302" r:id="rId13"/>
    <p:sldId id="293" r:id="rId14"/>
    <p:sldId id="275" r:id="rId15"/>
    <p:sldId id="298" r:id="rId16"/>
    <p:sldId id="299" r:id="rId17"/>
    <p:sldId id="300" r:id="rId18"/>
    <p:sldId id="301" r:id="rId19"/>
    <p:sldId id="294" r:id="rId20"/>
    <p:sldId id="333" r:id="rId21"/>
    <p:sldId id="322" r:id="rId22"/>
    <p:sldId id="323" r:id="rId23"/>
    <p:sldId id="336" r:id="rId24"/>
    <p:sldId id="347" r:id="rId25"/>
    <p:sldId id="340" r:id="rId26"/>
    <p:sldId id="381" r:id="rId27"/>
    <p:sldId id="372" r:id="rId28"/>
    <p:sldId id="307" r:id="rId29"/>
    <p:sldId id="308" r:id="rId30"/>
    <p:sldId id="359" r:id="rId31"/>
    <p:sldId id="360" r:id="rId32"/>
    <p:sldId id="361" r:id="rId33"/>
    <p:sldId id="362" r:id="rId34"/>
    <p:sldId id="370" r:id="rId35"/>
    <p:sldId id="356" r:id="rId36"/>
    <p:sldId id="357" r:id="rId37"/>
    <p:sldId id="310" r:id="rId38"/>
    <p:sldId id="358" r:id="rId39"/>
    <p:sldId id="375" r:id="rId40"/>
    <p:sldId id="309" r:id="rId41"/>
    <p:sldId id="373" r:id="rId42"/>
    <p:sldId id="374" r:id="rId43"/>
    <p:sldId id="343" r:id="rId44"/>
    <p:sldId id="312" r:id="rId45"/>
    <p:sldId id="371" r:id="rId46"/>
    <p:sldId id="377" r:id="rId47"/>
    <p:sldId id="320" r:id="rId48"/>
    <p:sldId id="317" r:id="rId49"/>
    <p:sldId id="342" r:id="rId50"/>
    <p:sldId id="354" r:id="rId51"/>
    <p:sldId id="367" r:id="rId52"/>
    <p:sldId id="368" r:id="rId53"/>
    <p:sldId id="369" r:id="rId54"/>
    <p:sldId id="363" r:id="rId55"/>
    <p:sldId id="364" r:id="rId56"/>
    <p:sldId id="365" r:id="rId57"/>
    <p:sldId id="385" r:id="rId58"/>
  </p:sldIdLst>
  <p:sldSz cx="9144000" cy="5143500" type="screen16x9"/>
  <p:notesSz cx="6858000" cy="9144000"/>
  <p:embeddedFontLst>
    <p:embeddedFont>
      <p:font typeface="Abadi" panose="020B0604020104020204" pitchFamily="34" charset="0"/>
      <p:regular r:id="rId60"/>
    </p:embeddedFont>
    <p:embeddedFont>
      <p:font typeface="Nunito Light" pitchFamily="2" charset="0"/>
      <p:regular r:id="rId61"/>
    </p:embeddedFont>
    <p:embeddedFont>
      <p:font typeface="Quantico" panose="02020500000000000000" charset="0"/>
      <p:regular r:id="rId62"/>
      <p:bold r:id="rId63"/>
      <p:italic r:id="rId64"/>
      <p:boldItalic r:id="rId65"/>
    </p:embeddedFont>
    <p:embeddedFont>
      <p:font typeface="Source Code Pro" panose="020B0509030403020204" pitchFamily="49" charset="0"/>
      <p:regular r:id="rId66"/>
      <p:bold r:id="rId67"/>
      <p:italic r:id="rId68"/>
      <p:boldItalic r:id="rId69"/>
    </p:embeddedFont>
    <p:embeddedFont>
      <p:font typeface="微軟正黑體" panose="020B0604030504040204" pitchFamily="34" charset="-120"/>
      <p:regular r:id="rId70"/>
      <p:bold r:id="rId71"/>
    </p:embeddedFont>
    <p:embeddedFont>
      <p:font typeface="微軟正黑體" panose="020B0604030504040204" pitchFamily="34" charset="-120"/>
      <p:regular r:id="rId70"/>
      <p:bold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2D32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DBAF7-65D0-4F8D-A99D-30EBCF5CBCF1}" v="463" dt="2024-10-20T08:38:35.967"/>
    <p1510:client id="{643C8C4A-99FB-4555-BED2-A8DCF52CA036}" v="120" dt="2024-10-19T21:21:19.660"/>
    <p1510:client id="{69141F9E-CC21-5810-54D6-BC3B3C5ADB7D}" v="46" dt="2024-10-20T08:02:50.751"/>
    <p1510:client id="{7E8A29D4-9124-4E17-9853-A9D76E052C4E}" v="119" dt="2024-10-20T08:41:41.907"/>
    <p1510:client id="{7EA1A594-90B0-F7E2-E03F-74FD4E6CBDE7}" v="41" dt="2024-10-20T08:38:48.001"/>
    <p1510:client id="{99656661-F5A0-495A-9331-4F7D0E3B277C}" v="4" dt="2024-10-19T12:17:41.120"/>
    <p1510:client id="{BF5EAB3F-0D2A-4736-9756-7173D0CF9458}" v="145" dt="2024-10-20T08:29:18.537"/>
  </p1510:revLst>
</p1510:revInfo>
</file>

<file path=ppt/tableStyles.xml><?xml version="1.0" encoding="utf-8"?>
<a:tblStyleLst xmlns:a="http://schemas.openxmlformats.org/drawingml/2006/main" def="{156FFB51-9094-4DAB-B666-DE70557B4261}">
  <a:tblStyle styleId="{156FFB51-9094-4DAB-B666-DE70557B42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8" d="100"/>
          <a:sy n="128" d="100"/>
        </p:scale>
        <p:origin x="3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4.fntdata"/><Relationship Id="rId68" Type="http://schemas.openxmlformats.org/officeDocument/2006/relationships/font" Target="fonts/font9.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font" Target="fonts/font7.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2.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5.fntdata"/><Relationship Id="rId69" Type="http://schemas.openxmlformats.org/officeDocument/2006/relationships/font" Target="fonts/font10.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0f7af2584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0f7af2584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0C21C1BA-D97D-78B6-01C7-AD63C288EEFF}"/>
            </a:ext>
          </a:extLst>
        </p:cNvPr>
        <p:cNvGrpSpPr/>
        <p:nvPr/>
      </p:nvGrpSpPr>
      <p:grpSpPr>
        <a:xfrm>
          <a:off x="0" y="0"/>
          <a:ext cx="0" cy="0"/>
          <a:chOff x="0" y="0"/>
          <a:chExt cx="0" cy="0"/>
        </a:xfrm>
      </p:grpSpPr>
      <p:sp>
        <p:nvSpPr>
          <p:cNvPr id="99" name="Google Shape;99;g25c431c3091_0_21:notes">
            <a:extLst>
              <a:ext uri="{FF2B5EF4-FFF2-40B4-BE49-F238E27FC236}">
                <a16:creationId xmlns:a16="http://schemas.microsoft.com/office/drawing/2014/main" id="{1396730B-B100-6E58-62B2-E108A509E2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a:extLst>
              <a:ext uri="{FF2B5EF4-FFF2-40B4-BE49-F238E27FC236}">
                <a16:creationId xmlns:a16="http://schemas.microsoft.com/office/drawing/2014/main" id="{C69D2A85-042E-F621-9331-8B2AB563B3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202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5d94438ed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25d94438ed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9042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67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28A8F0BC-67A6-4DB9-D9C0-50AD36E3CEBF}"/>
            </a:ext>
          </a:extLst>
        </p:cNvPr>
        <p:cNvGrpSpPr/>
        <p:nvPr/>
      </p:nvGrpSpPr>
      <p:grpSpPr>
        <a:xfrm>
          <a:off x="0" y="0"/>
          <a:ext cx="0" cy="0"/>
          <a:chOff x="0" y="0"/>
          <a:chExt cx="0" cy="0"/>
        </a:xfrm>
      </p:grpSpPr>
      <p:sp>
        <p:nvSpPr>
          <p:cNvPr id="99" name="Google Shape;99;g25c431c3091_0_21:notes">
            <a:extLst>
              <a:ext uri="{FF2B5EF4-FFF2-40B4-BE49-F238E27FC236}">
                <a16:creationId xmlns:a16="http://schemas.microsoft.com/office/drawing/2014/main" id="{DF32824E-0A5A-9BF6-2BF9-520F24D08E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a:extLst>
              <a:ext uri="{FF2B5EF4-FFF2-40B4-BE49-F238E27FC236}">
                <a16:creationId xmlns:a16="http://schemas.microsoft.com/office/drawing/2014/main" id="{FE56C1EB-FDF4-6B77-1050-96D92AB45C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3338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7342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050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9195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42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003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3897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522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6688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021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32467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641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08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7221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445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E821C026-B407-68AA-0A1A-450674373DBA}"/>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DE427D08-3C16-A2E0-C16B-1850CB9EAC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D3561C35-377E-AD64-9E01-74213C2821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5154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35D3123C-4A16-5564-E31E-8E4F6561CCBE}"/>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18AF48DA-7A20-19F1-AA8F-DA253E9294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9746CC1A-E5AF-1529-6A14-EABA2E7B27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1717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20901298-E6CF-1D89-6B22-E8D6DEC6FD3E}"/>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796C444E-66B4-F63C-4284-13DA43E235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AA29D748-8842-04A9-A46E-5D50E1215A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9674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CAC3B52C-AA18-8C45-40A1-072A2681B34A}"/>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B0CE52CA-E49D-B9B1-070A-32F2320F23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258576A0-B161-16FB-3EB1-5032D011BB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51372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31262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D14AF0F9-D7EB-8A84-B726-BDFA674360F3}"/>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E8F75134-9CFE-A3E5-79B9-D0920084F2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8531609D-1695-37F4-198F-40F340941E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628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411B24AA-F0FC-0916-9FB8-ED61E4340F80}"/>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DE020405-9B1A-32B7-B903-44D4E29385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9233D1A2-4D25-548D-6F77-DF69000A61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03541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35018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36BEC4C5-7187-493A-7BCC-EBA1C7BBFFCB}"/>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79571BC8-16C3-4F91-EE53-57814A1EA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8F1BECBF-F871-52E3-3E11-74B0F1DEB0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79477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36BEC4C5-7187-493A-7BCC-EBA1C7BBFFCB}"/>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79571BC8-16C3-4F91-EE53-57814A1EA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8F1BECBF-F871-52E3-3E11-74B0F1DEB0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1172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4408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2656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02188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1646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71833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61501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3945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11816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11816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0700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08238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B3D69982-FAA1-9D7A-B152-0F7A650B07E1}"/>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54918317-77CB-A6D6-20E4-543AB70EEC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56EECCEE-4400-32C2-805F-FAB41A5890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11944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77CD7BE4-061B-2E22-F326-0568BBF6F50B}"/>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D1D465F4-42EA-FEB1-9CBA-13F3653EE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920F5012-F662-CAB5-B103-855A47EB83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82913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a:extLst>
            <a:ext uri="{FF2B5EF4-FFF2-40B4-BE49-F238E27FC236}">
              <a16:creationId xmlns:a16="http://schemas.microsoft.com/office/drawing/2014/main" id="{FB14E53F-12A8-09C3-3286-B6A3F227CF69}"/>
            </a:ext>
          </a:extLst>
        </p:cNvPr>
        <p:cNvGrpSpPr/>
        <p:nvPr/>
      </p:nvGrpSpPr>
      <p:grpSpPr>
        <a:xfrm>
          <a:off x="0" y="0"/>
          <a:ext cx="0" cy="0"/>
          <a:chOff x="0" y="0"/>
          <a:chExt cx="0" cy="0"/>
        </a:xfrm>
      </p:grpSpPr>
      <p:sp>
        <p:nvSpPr>
          <p:cNvPr id="934" name="Google Shape;934;g25d94438ed8_0_64:notes">
            <a:extLst>
              <a:ext uri="{FF2B5EF4-FFF2-40B4-BE49-F238E27FC236}">
                <a16:creationId xmlns:a16="http://schemas.microsoft.com/office/drawing/2014/main" id="{97378C5F-8B09-F196-A60F-67A6F41059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a:extLst>
              <a:ext uri="{FF2B5EF4-FFF2-40B4-BE49-F238E27FC236}">
                <a16:creationId xmlns:a16="http://schemas.microsoft.com/office/drawing/2014/main" id="{315B40A8-6665-4E8E-0FE5-C1FC6BB624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60364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5d94438ed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25d94438e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5381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00" y="0"/>
            <a:ext cx="9144000" cy="41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2062200" y="1289175"/>
            <a:ext cx="5019600" cy="18093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3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050100" y="3617700"/>
            <a:ext cx="3043800" cy="71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5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86988" y="1906688"/>
            <a:ext cx="3943500" cy="1115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8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5731913" y="1906688"/>
            <a:ext cx="2225100" cy="1115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rtl="0">
              <a:spcBef>
                <a:spcPts val="0"/>
              </a:spcBef>
              <a:spcAft>
                <a:spcPts val="0"/>
              </a:spcAft>
              <a:buSzPts val="9600"/>
              <a:buNone/>
              <a:defRPr sz="9600"/>
            </a:lvl2pPr>
            <a:lvl3pPr lvl="2" rtl="0">
              <a:spcBef>
                <a:spcPts val="0"/>
              </a:spcBef>
              <a:spcAft>
                <a:spcPts val="0"/>
              </a:spcAft>
              <a:buSzPts val="9600"/>
              <a:buNone/>
              <a:defRPr sz="9600"/>
            </a:lvl3pPr>
            <a:lvl4pPr lvl="3" rtl="0">
              <a:spcBef>
                <a:spcPts val="0"/>
              </a:spcBef>
              <a:spcAft>
                <a:spcPts val="0"/>
              </a:spcAft>
              <a:buSzPts val="9600"/>
              <a:buNone/>
              <a:defRPr sz="9600"/>
            </a:lvl4pPr>
            <a:lvl5pPr lvl="4" rtl="0">
              <a:spcBef>
                <a:spcPts val="0"/>
              </a:spcBef>
              <a:spcAft>
                <a:spcPts val="0"/>
              </a:spcAft>
              <a:buSzPts val="9600"/>
              <a:buNone/>
              <a:defRPr sz="9600"/>
            </a:lvl5pPr>
            <a:lvl6pPr lvl="5" rtl="0">
              <a:spcBef>
                <a:spcPts val="0"/>
              </a:spcBef>
              <a:spcAft>
                <a:spcPts val="0"/>
              </a:spcAft>
              <a:buSzPts val="9600"/>
              <a:buNone/>
              <a:defRPr sz="9600"/>
            </a:lvl6pPr>
            <a:lvl7pPr lvl="6" rtl="0">
              <a:spcBef>
                <a:spcPts val="0"/>
              </a:spcBef>
              <a:spcAft>
                <a:spcPts val="0"/>
              </a:spcAft>
              <a:buSzPts val="9600"/>
              <a:buNone/>
              <a:defRPr sz="9600"/>
            </a:lvl7pPr>
            <a:lvl8pPr lvl="7" rtl="0">
              <a:spcBef>
                <a:spcPts val="0"/>
              </a:spcBef>
              <a:spcAft>
                <a:spcPts val="0"/>
              </a:spcAft>
              <a:buSzPts val="9600"/>
              <a:buNone/>
              <a:defRPr sz="9600"/>
            </a:lvl8pPr>
            <a:lvl9pPr lvl="8" rtl="0">
              <a:spcBef>
                <a:spcPts val="0"/>
              </a:spcBef>
              <a:spcAft>
                <a:spcPts val="0"/>
              </a:spcAft>
              <a:buSzPts val="9600"/>
              <a:buNone/>
              <a:defRPr sz="9600"/>
            </a:lvl9pPr>
          </a:lstStyle>
          <a:p>
            <a:r>
              <a:t>xx%</a:t>
            </a:r>
          </a:p>
        </p:txBody>
      </p:sp>
      <p:sp>
        <p:nvSpPr>
          <p:cNvPr id="16" name="Google Shape;16;p3"/>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17" name="Google Shape;17;p3"/>
          <p:cNvSpPr/>
          <p:nvPr/>
        </p:nvSpPr>
        <p:spPr>
          <a:xfrm>
            <a:off x="11575" y="0"/>
            <a:ext cx="3048600" cy="4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3059300" y="0"/>
            <a:ext cx="6084600" cy="41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文字方塊 1">
            <a:extLst>
              <a:ext uri="{FF2B5EF4-FFF2-40B4-BE49-F238E27FC236}">
                <a16:creationId xmlns:a16="http://schemas.microsoft.com/office/drawing/2014/main" id="{084B20B0-5B05-39AD-A72A-6BEA960868B4}"/>
              </a:ext>
            </a:extLst>
          </p:cNvPr>
          <p:cNvSpPr txBox="1"/>
          <p:nvPr userDrawn="1"/>
        </p:nvSpPr>
        <p:spPr>
          <a:xfrm>
            <a:off x="8407687" y="4445907"/>
            <a:ext cx="415213" cy="646331"/>
          </a:xfrm>
          <a:prstGeom prst="rect">
            <a:avLst/>
          </a:prstGeom>
          <a:noFill/>
        </p:spPr>
        <p:txBody>
          <a:bodyPr wrap="square" rtlCol="0">
            <a:spAutoFit/>
          </a:bodyPr>
          <a:lstStyle/>
          <a:p>
            <a:fld id="{7FE2AF11-312E-4A7D-9C7D-DCDD92117134}" type="slidenum">
              <a:rPr lang="zh-TW" altLang="en-US" sz="1800" smtClean="0">
                <a:solidFill>
                  <a:schemeClr val="tx1"/>
                </a:solidFill>
              </a:rPr>
              <a:t>‹#›</a:t>
            </a:fld>
            <a:endParaRPr lang="zh-TW" altLang="en-US" sz="1800">
              <a:solidFill>
                <a:schemeClr val="tx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539500"/>
            <a:ext cx="7704000" cy="996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1" name="Google Shape;21;p4"/>
          <p:cNvSpPr txBox="1">
            <a:spLocks noGrp="1"/>
          </p:cNvSpPr>
          <p:nvPr>
            <p:ph type="body" idx="1"/>
          </p:nvPr>
        </p:nvSpPr>
        <p:spPr>
          <a:xfrm>
            <a:off x="720000" y="1809700"/>
            <a:ext cx="7704000" cy="2581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2" name="Google Shape;22;p4"/>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grpSp>
        <p:nvGrpSpPr>
          <p:cNvPr id="24" name="Google Shape;24;p5"/>
          <p:cNvGrpSpPr/>
          <p:nvPr/>
        </p:nvGrpSpPr>
        <p:grpSpPr>
          <a:xfrm>
            <a:off x="396500" y="170424"/>
            <a:ext cx="8360126" cy="4398447"/>
            <a:chOff x="1054783" y="1029605"/>
            <a:chExt cx="7587010" cy="3902100"/>
          </a:xfrm>
        </p:grpSpPr>
        <p:sp>
          <p:nvSpPr>
            <p:cNvPr id="25" name="Google Shape;25;p5"/>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5"/>
          <p:cNvSpPr txBox="1">
            <a:spLocks noGrp="1"/>
          </p:cNvSpPr>
          <p:nvPr>
            <p:ph type="subTitle" idx="1"/>
          </p:nvPr>
        </p:nvSpPr>
        <p:spPr>
          <a:xfrm>
            <a:off x="807625" y="2775700"/>
            <a:ext cx="3415800" cy="149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2"/>
          </p:nvPr>
        </p:nvSpPr>
        <p:spPr>
          <a:xfrm>
            <a:off x="4922022" y="2775700"/>
            <a:ext cx="3415800" cy="149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3"/>
          </p:nvPr>
        </p:nvSpPr>
        <p:spPr>
          <a:xfrm>
            <a:off x="807630" y="2403350"/>
            <a:ext cx="3415800" cy="42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Quantico"/>
              <a:buNone/>
              <a:defRPr sz="2200">
                <a:latin typeface="Quantico"/>
                <a:ea typeface="Quantico"/>
                <a:cs typeface="Quantico"/>
                <a:sym typeface="Quantico"/>
              </a:defRPr>
            </a:lvl1pPr>
            <a:lvl2pPr lvl="1"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2pPr>
            <a:lvl3pPr lvl="2"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3pPr>
            <a:lvl4pPr lvl="3"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4pPr>
            <a:lvl5pPr lvl="4"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5pPr>
            <a:lvl6pPr lvl="5"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6pPr>
            <a:lvl7pPr lvl="6"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7pPr>
            <a:lvl8pPr lvl="7"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8pPr>
            <a:lvl9pPr lvl="8"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9pPr>
          </a:lstStyle>
          <a:p>
            <a:endParaRPr/>
          </a:p>
        </p:txBody>
      </p:sp>
      <p:sp>
        <p:nvSpPr>
          <p:cNvPr id="30" name="Google Shape;30;p5"/>
          <p:cNvSpPr txBox="1">
            <a:spLocks noGrp="1"/>
          </p:cNvSpPr>
          <p:nvPr>
            <p:ph type="subTitle" idx="4"/>
          </p:nvPr>
        </p:nvSpPr>
        <p:spPr>
          <a:xfrm>
            <a:off x="4922022" y="2403350"/>
            <a:ext cx="3415800" cy="42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Quantico"/>
              <a:buNone/>
              <a:defRPr sz="2200">
                <a:latin typeface="Quantico"/>
                <a:ea typeface="Quantico"/>
                <a:cs typeface="Quantico"/>
                <a:sym typeface="Quantico"/>
              </a:defRPr>
            </a:lvl1pPr>
            <a:lvl2pPr lvl="1"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2pPr>
            <a:lvl3pPr lvl="2"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3pPr>
            <a:lvl4pPr lvl="3"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4pPr>
            <a:lvl5pPr lvl="4"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5pPr>
            <a:lvl6pPr lvl="5"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6pPr>
            <a:lvl7pPr lvl="6"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7pPr>
            <a:lvl8pPr lvl="7"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8pPr>
            <a:lvl9pPr lvl="8"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9pPr>
          </a:lstStyle>
          <a:p>
            <a:endParaRPr/>
          </a:p>
        </p:txBody>
      </p:sp>
      <p:sp>
        <p:nvSpPr>
          <p:cNvPr id="31" name="Google Shape;31;p5"/>
          <p:cNvSpPr txBox="1">
            <a:spLocks noGrp="1"/>
          </p:cNvSpPr>
          <p:nvPr>
            <p:ph type="title"/>
          </p:nvPr>
        </p:nvSpPr>
        <p:spPr>
          <a:xfrm>
            <a:off x="719988" y="459128"/>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2" name="Google Shape;32;p5"/>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grpSp>
        <p:nvGrpSpPr>
          <p:cNvPr id="36" name="Google Shape;36;p7"/>
          <p:cNvGrpSpPr/>
          <p:nvPr/>
        </p:nvGrpSpPr>
        <p:grpSpPr>
          <a:xfrm>
            <a:off x="396500" y="170424"/>
            <a:ext cx="8360126" cy="4398447"/>
            <a:chOff x="1054783" y="1029605"/>
            <a:chExt cx="7587010" cy="3902100"/>
          </a:xfrm>
        </p:grpSpPr>
        <p:sp>
          <p:nvSpPr>
            <p:cNvPr id="37" name="Google Shape;37;p7"/>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7"/>
          <p:cNvSpPr txBox="1">
            <a:spLocks noGrp="1"/>
          </p:cNvSpPr>
          <p:nvPr>
            <p:ph type="title"/>
          </p:nvPr>
        </p:nvSpPr>
        <p:spPr>
          <a:xfrm>
            <a:off x="720000" y="475500"/>
            <a:ext cx="7704000" cy="557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2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0" name="Google Shape;40;p7"/>
          <p:cNvSpPr txBox="1">
            <a:spLocks noGrp="1"/>
          </p:cNvSpPr>
          <p:nvPr>
            <p:ph type="body" idx="1"/>
          </p:nvPr>
        </p:nvSpPr>
        <p:spPr>
          <a:xfrm>
            <a:off x="720000" y="1244275"/>
            <a:ext cx="3692400" cy="2955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accent4"/>
              </a:buClr>
              <a:buSzPts val="1200"/>
              <a:buAutoNum type="arabicPeriod"/>
              <a:defRPr/>
            </a:lvl1pPr>
            <a:lvl2pPr marL="914400" lvl="1" indent="-304800" rtl="0">
              <a:spcBef>
                <a:spcPts val="0"/>
              </a:spcBef>
              <a:spcAft>
                <a:spcPts val="0"/>
              </a:spcAft>
              <a:buClr>
                <a:srgbClr val="E76A28"/>
              </a:buClr>
              <a:buSzPts val="1200"/>
              <a:buFont typeface="Nunito Light"/>
              <a:buAutoNum type="alphaLcPeriod"/>
              <a:defRPr/>
            </a:lvl2pPr>
            <a:lvl3pPr marL="1371600" lvl="2" indent="-304800" rtl="0">
              <a:spcBef>
                <a:spcPts val="0"/>
              </a:spcBef>
              <a:spcAft>
                <a:spcPts val="0"/>
              </a:spcAft>
              <a:buClr>
                <a:srgbClr val="E76A28"/>
              </a:buClr>
              <a:buSzPts val="1200"/>
              <a:buFont typeface="Nunito Light"/>
              <a:buAutoNum type="romanLcPeriod"/>
              <a:defRPr/>
            </a:lvl3pPr>
            <a:lvl4pPr marL="1828800" lvl="3" indent="-304800" rtl="0">
              <a:spcBef>
                <a:spcPts val="0"/>
              </a:spcBef>
              <a:spcAft>
                <a:spcPts val="0"/>
              </a:spcAft>
              <a:buClr>
                <a:srgbClr val="E76A28"/>
              </a:buClr>
              <a:buSzPts val="1200"/>
              <a:buFont typeface="Nunito Light"/>
              <a:buAutoNum type="arabicPeriod"/>
              <a:defRPr/>
            </a:lvl4pPr>
            <a:lvl5pPr marL="2286000" lvl="4" indent="-304800" rtl="0">
              <a:spcBef>
                <a:spcPts val="0"/>
              </a:spcBef>
              <a:spcAft>
                <a:spcPts val="0"/>
              </a:spcAft>
              <a:buClr>
                <a:srgbClr val="E76A28"/>
              </a:buClr>
              <a:buSzPts val="1200"/>
              <a:buFont typeface="Nunito Light"/>
              <a:buAutoNum type="alphaLcPeriod"/>
              <a:defRPr/>
            </a:lvl5pPr>
            <a:lvl6pPr marL="2743200" lvl="5" indent="-304800" rtl="0">
              <a:spcBef>
                <a:spcPts val="0"/>
              </a:spcBef>
              <a:spcAft>
                <a:spcPts val="0"/>
              </a:spcAft>
              <a:buClr>
                <a:srgbClr val="999999"/>
              </a:buClr>
              <a:buSzPts val="1200"/>
              <a:buFont typeface="Nunito Light"/>
              <a:buAutoNum type="romanLcPeriod"/>
              <a:defRPr/>
            </a:lvl6pPr>
            <a:lvl7pPr marL="3200400" lvl="6" indent="-304800" rtl="0">
              <a:spcBef>
                <a:spcPts val="0"/>
              </a:spcBef>
              <a:spcAft>
                <a:spcPts val="0"/>
              </a:spcAft>
              <a:buClr>
                <a:srgbClr val="999999"/>
              </a:buClr>
              <a:buSzPts val="1200"/>
              <a:buFont typeface="Nunito Light"/>
              <a:buAutoNum type="arabicPeriod"/>
              <a:defRPr/>
            </a:lvl7pPr>
            <a:lvl8pPr marL="3657600" lvl="7" indent="-304800" rtl="0">
              <a:spcBef>
                <a:spcPts val="0"/>
              </a:spcBef>
              <a:spcAft>
                <a:spcPts val="0"/>
              </a:spcAft>
              <a:buClr>
                <a:srgbClr val="999999"/>
              </a:buClr>
              <a:buSzPts val="1200"/>
              <a:buFont typeface="Nunito Light"/>
              <a:buAutoNum type="alphaLcPeriod"/>
              <a:defRPr/>
            </a:lvl8pPr>
            <a:lvl9pPr marL="4114800" lvl="8" indent="-304800" rtl="0">
              <a:spcBef>
                <a:spcPts val="0"/>
              </a:spcBef>
              <a:spcAft>
                <a:spcPts val="0"/>
              </a:spcAft>
              <a:buClr>
                <a:srgbClr val="999999"/>
              </a:buClr>
              <a:buSzPts val="1200"/>
              <a:buFont typeface="Nunito Light"/>
              <a:buAutoNum type="romanLcPeriod"/>
              <a:defRPr/>
            </a:lvl9pPr>
          </a:lstStyle>
          <a:p>
            <a:endParaRPr/>
          </a:p>
        </p:txBody>
      </p:sp>
      <p:sp>
        <p:nvSpPr>
          <p:cNvPr id="41" name="Google Shape;41;p7"/>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grpSp>
        <p:nvGrpSpPr>
          <p:cNvPr id="43" name="Google Shape;43;p8"/>
          <p:cNvGrpSpPr/>
          <p:nvPr/>
        </p:nvGrpSpPr>
        <p:grpSpPr>
          <a:xfrm>
            <a:off x="396500" y="170424"/>
            <a:ext cx="8360126" cy="4398447"/>
            <a:chOff x="1054783" y="1029605"/>
            <a:chExt cx="7587010" cy="3902100"/>
          </a:xfrm>
        </p:grpSpPr>
        <p:sp>
          <p:nvSpPr>
            <p:cNvPr id="44" name="Google Shape;44;p8"/>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8"/>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47" name="Google Shape;47;p8"/>
          <p:cNvSpPr txBox="1">
            <a:spLocks noGrp="1"/>
          </p:cNvSpPr>
          <p:nvPr>
            <p:ph type="title"/>
          </p:nvPr>
        </p:nvSpPr>
        <p:spPr>
          <a:xfrm>
            <a:off x="2801700" y="1918054"/>
            <a:ext cx="5622300" cy="2473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grpSp>
        <p:nvGrpSpPr>
          <p:cNvPr id="49" name="Google Shape;49;p9"/>
          <p:cNvGrpSpPr/>
          <p:nvPr/>
        </p:nvGrpSpPr>
        <p:grpSpPr>
          <a:xfrm>
            <a:off x="396500" y="170424"/>
            <a:ext cx="8360126" cy="4398447"/>
            <a:chOff x="1054783" y="1029605"/>
            <a:chExt cx="7587010" cy="3902100"/>
          </a:xfrm>
        </p:grpSpPr>
        <p:sp>
          <p:nvSpPr>
            <p:cNvPr id="50" name="Google Shape;50;p9"/>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9"/>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9"/>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53" name="Google Shape;53;p9"/>
          <p:cNvSpPr txBox="1">
            <a:spLocks noGrp="1"/>
          </p:cNvSpPr>
          <p:nvPr>
            <p:ph type="title"/>
          </p:nvPr>
        </p:nvSpPr>
        <p:spPr>
          <a:xfrm rot="515">
            <a:off x="2406900" y="1623064"/>
            <a:ext cx="6006600" cy="603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3658200" y="2303046"/>
            <a:ext cx="4755300" cy="1472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3030250" y="1291525"/>
            <a:ext cx="4711500" cy="1198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3" name="Google Shape;63;p11"/>
          <p:cNvSpPr txBox="1">
            <a:spLocks noGrp="1"/>
          </p:cNvSpPr>
          <p:nvPr>
            <p:ph type="subTitle" idx="1"/>
          </p:nvPr>
        </p:nvSpPr>
        <p:spPr>
          <a:xfrm>
            <a:off x="4173275" y="3581850"/>
            <a:ext cx="3169800" cy="67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64" name="Google Shape;64;p11"/>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65" name="Google Shape;65;p11"/>
          <p:cNvSpPr/>
          <p:nvPr/>
        </p:nvSpPr>
        <p:spPr>
          <a:xfrm>
            <a:off x="11575" y="0"/>
            <a:ext cx="3048600" cy="4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1"/>
          <p:cNvSpPr/>
          <p:nvPr/>
        </p:nvSpPr>
        <p:spPr>
          <a:xfrm>
            <a:off x="3059300" y="0"/>
            <a:ext cx="6084600" cy="41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7"/>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Quantico"/>
              <a:buNone/>
              <a:defRPr sz="3300">
                <a:solidFill>
                  <a:schemeClr val="dk1"/>
                </a:solidFill>
                <a:latin typeface="Quantico"/>
                <a:ea typeface="Quantico"/>
                <a:cs typeface="Quantico"/>
                <a:sym typeface="Quantico"/>
              </a:defRPr>
            </a:lvl1pPr>
            <a:lvl2pPr lvl="1">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2pPr>
            <a:lvl3pPr lvl="2">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3pPr>
            <a:lvl4pPr lvl="3">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4pPr>
            <a:lvl5pPr lvl="4">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5pPr>
            <a:lvl6pPr lvl="5">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6pPr>
            <a:lvl7pPr lvl="6">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7pPr>
            <a:lvl8pPr lvl="7">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8pPr>
            <a:lvl9pPr lvl="8">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1pPr>
            <a:lvl2pPr marL="914400" lvl="1"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2pPr>
            <a:lvl3pPr marL="1371600" lvl="2"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3pPr>
            <a:lvl4pPr marL="1828800" lvl="3"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4pPr>
            <a:lvl5pPr marL="2286000" lvl="4"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5pPr>
            <a:lvl6pPr marL="2743200" lvl="5"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6pPr>
            <a:lvl7pPr marL="3200400" lvl="6"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7pPr>
            <a:lvl8pPr marL="3657600" lvl="7"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8pPr>
            <a:lvl9pPr marL="4114800" lvl="8"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Lst>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3.png"/><Relationship Id="rId4"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hyperlink" Target="file:///C:\Users\Enyu\Desktop\CodeAlchemy\app.py" TargetMode="External"/><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hyperlink" Target="https://dolos.ugent.be/server/#/share/1038603341445976928" TargetMode="External"/><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
        <p:cNvGrpSpPr/>
        <p:nvPr/>
      </p:nvGrpSpPr>
      <p:grpSpPr>
        <a:xfrm>
          <a:off x="0" y="0"/>
          <a:ext cx="0" cy="0"/>
          <a:chOff x="0" y="0"/>
          <a:chExt cx="0" cy="0"/>
        </a:xfrm>
      </p:grpSpPr>
      <p:sp>
        <p:nvSpPr>
          <p:cNvPr id="84" name="Google Shape;84;p15"/>
          <p:cNvSpPr txBox="1">
            <a:spLocks noGrp="1"/>
          </p:cNvSpPr>
          <p:nvPr>
            <p:ph type="ctrTitle"/>
          </p:nvPr>
        </p:nvSpPr>
        <p:spPr>
          <a:xfrm>
            <a:off x="1954353" y="1129627"/>
            <a:ext cx="6831429" cy="95761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600" b="1"/>
              <a:t>CodeAlchemy</a:t>
            </a:r>
            <a:endParaRPr sz="6600" b="1">
              <a:solidFill>
                <a:schemeClr val="accent2"/>
              </a:solidFill>
            </a:endParaRPr>
          </a:p>
        </p:txBody>
      </p:sp>
      <p:sp>
        <p:nvSpPr>
          <p:cNvPr id="85" name="Google Shape;85;p15"/>
          <p:cNvSpPr txBox="1">
            <a:spLocks noGrp="1"/>
          </p:cNvSpPr>
          <p:nvPr>
            <p:ph type="subTitle" idx="1"/>
          </p:nvPr>
        </p:nvSpPr>
        <p:spPr>
          <a:xfrm>
            <a:off x="3552361" y="2279628"/>
            <a:ext cx="4888148" cy="1967593"/>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TW" altLang="en-US" sz="1600"/>
              <a:t>組　　別</a:t>
            </a:r>
            <a:r>
              <a:rPr lang="en-US" altLang="zh-TW" sz="1600"/>
              <a:t>: </a:t>
            </a:r>
            <a:r>
              <a:rPr lang="zh-TW" altLang="en-US" sz="1600"/>
              <a:t>第</a:t>
            </a:r>
            <a:r>
              <a:rPr lang="en-US" altLang="zh-TW" sz="1600"/>
              <a:t>113502</a:t>
            </a:r>
            <a:r>
              <a:rPr lang="zh-TW" altLang="en-US" sz="1600"/>
              <a:t>組</a:t>
            </a:r>
            <a:endParaRPr lang="en-US" altLang="zh-TW" sz="1600"/>
          </a:p>
          <a:p>
            <a:pPr marL="0" lvl="0" indent="0" algn="l" rtl="0">
              <a:lnSpc>
                <a:spcPct val="150000"/>
              </a:lnSpc>
              <a:spcBef>
                <a:spcPts val="0"/>
              </a:spcBef>
              <a:spcAft>
                <a:spcPts val="0"/>
              </a:spcAft>
              <a:buNone/>
            </a:pPr>
            <a:r>
              <a:rPr lang="zh-TW" altLang="en-US" sz="1600"/>
              <a:t>指導老師</a:t>
            </a:r>
            <a:r>
              <a:rPr lang="en-US" altLang="zh-TW" sz="1600"/>
              <a:t>: </a:t>
            </a:r>
            <a:r>
              <a:rPr lang="zh-TW" altLang="en-US" sz="1600"/>
              <a:t>楊進雄 老師</a:t>
            </a:r>
            <a:endParaRPr lang="en-US" altLang="zh-TW" sz="1600"/>
          </a:p>
          <a:p>
            <a:pPr marL="0" lvl="0" indent="0" algn="l" rtl="0">
              <a:lnSpc>
                <a:spcPct val="150000"/>
              </a:lnSpc>
              <a:spcBef>
                <a:spcPts val="0"/>
              </a:spcBef>
              <a:spcAft>
                <a:spcPts val="0"/>
              </a:spcAft>
              <a:buNone/>
            </a:pPr>
            <a:r>
              <a:rPr lang="zh-TW" altLang="en-US" sz="1600"/>
              <a:t>組　　長</a:t>
            </a:r>
            <a:r>
              <a:rPr lang="en-US" altLang="zh-TW" sz="1600"/>
              <a:t>: 10956010</a:t>
            </a:r>
            <a:r>
              <a:rPr lang="zh-TW" altLang="en-US" sz="1600"/>
              <a:t> 童柏祐</a:t>
            </a:r>
            <a:endParaRPr lang="en-US" altLang="zh-TW" sz="1600"/>
          </a:p>
          <a:p>
            <a:pPr marL="0" lvl="0" indent="0" algn="l" rtl="0">
              <a:lnSpc>
                <a:spcPct val="150000"/>
              </a:lnSpc>
              <a:spcBef>
                <a:spcPts val="0"/>
              </a:spcBef>
              <a:spcAft>
                <a:spcPts val="0"/>
              </a:spcAft>
              <a:buNone/>
            </a:pPr>
            <a:r>
              <a:rPr lang="zh-TW" altLang="en-US" sz="1600"/>
              <a:t>組　　員</a:t>
            </a:r>
            <a:r>
              <a:rPr lang="en-US" altLang="zh-TW" sz="1600"/>
              <a:t>: 10956011</a:t>
            </a:r>
            <a:r>
              <a:rPr lang="zh-TW" altLang="en-US" sz="1600"/>
              <a:t> 周恩宇 </a:t>
            </a:r>
            <a:r>
              <a:rPr lang="en-US" altLang="zh-TW" sz="1600"/>
              <a:t>10956030</a:t>
            </a:r>
            <a:r>
              <a:rPr lang="zh-TW" altLang="en-US" sz="1600"/>
              <a:t> 林妤玟</a:t>
            </a:r>
            <a:endParaRPr lang="en-US" altLang="zh-TW" sz="1600"/>
          </a:p>
          <a:p>
            <a:pPr marL="0" lvl="0" indent="0" algn="l" rtl="0">
              <a:lnSpc>
                <a:spcPct val="150000"/>
              </a:lnSpc>
              <a:spcBef>
                <a:spcPts val="0"/>
              </a:spcBef>
              <a:spcAft>
                <a:spcPts val="0"/>
              </a:spcAft>
              <a:buNone/>
            </a:pPr>
            <a:r>
              <a:rPr lang="zh-TW" altLang="en-US" sz="1600"/>
              <a:t>　　 　　 </a:t>
            </a:r>
            <a:r>
              <a:rPr lang="en-US" altLang="zh-TW" sz="1600"/>
              <a:t>10956044</a:t>
            </a:r>
            <a:r>
              <a:rPr lang="zh-TW" altLang="en-US" sz="1600"/>
              <a:t> 顏子綺 </a:t>
            </a:r>
            <a:r>
              <a:rPr lang="en-US" altLang="zh-TW" sz="1600"/>
              <a:t>10956051</a:t>
            </a:r>
            <a:r>
              <a:rPr lang="zh-TW" altLang="en-US" sz="1600"/>
              <a:t> 范雨茜</a:t>
            </a:r>
            <a:endParaRPr sz="1600"/>
          </a:p>
        </p:txBody>
      </p:sp>
      <p:grpSp>
        <p:nvGrpSpPr>
          <p:cNvPr id="86" name="Google Shape;86;p15"/>
          <p:cNvGrpSpPr/>
          <p:nvPr/>
        </p:nvGrpSpPr>
        <p:grpSpPr>
          <a:xfrm>
            <a:off x="542955" y="2967845"/>
            <a:ext cx="1864800" cy="718498"/>
            <a:chOff x="488525" y="3093501"/>
            <a:chExt cx="1864800" cy="718498"/>
          </a:xfrm>
        </p:grpSpPr>
        <p:grpSp>
          <p:nvGrpSpPr>
            <p:cNvPr id="87" name="Google Shape;87;p15"/>
            <p:cNvGrpSpPr/>
            <p:nvPr/>
          </p:nvGrpSpPr>
          <p:grpSpPr>
            <a:xfrm>
              <a:off x="488525" y="3093501"/>
              <a:ext cx="1864800" cy="718498"/>
              <a:chOff x="488525" y="3093501"/>
              <a:chExt cx="1864800" cy="718498"/>
            </a:xfrm>
          </p:grpSpPr>
          <p:sp>
            <p:nvSpPr>
              <p:cNvPr id="88" name="Google Shape;88;p15"/>
              <p:cNvSpPr/>
              <p:nvPr/>
            </p:nvSpPr>
            <p:spPr>
              <a:xfrm>
                <a:off x="488525" y="3348799"/>
                <a:ext cx="1864800" cy="463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488525" y="3093501"/>
                <a:ext cx="1864800" cy="255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 name="Google Shape;90;p15"/>
            <p:cNvGrpSpPr/>
            <p:nvPr/>
          </p:nvGrpSpPr>
          <p:grpSpPr>
            <a:xfrm>
              <a:off x="693113" y="3432625"/>
              <a:ext cx="1455642" cy="295547"/>
              <a:chOff x="704072" y="2828928"/>
              <a:chExt cx="1455642" cy="295547"/>
            </a:xfrm>
          </p:grpSpPr>
          <p:sp>
            <p:nvSpPr>
              <p:cNvPr id="91" name="Google Shape;91;p15"/>
              <p:cNvSpPr/>
              <p:nvPr/>
            </p:nvSpPr>
            <p:spPr>
              <a:xfrm>
                <a:off x="704072" y="2828928"/>
                <a:ext cx="295547" cy="295547"/>
              </a:xfrm>
              <a:custGeom>
                <a:avLst/>
                <a:gdLst/>
                <a:ahLst/>
                <a:cxnLst/>
                <a:rect l="l" t="t" r="r" b="b"/>
                <a:pathLst>
                  <a:path w="3170" h="3170" extrusionOk="0">
                    <a:moveTo>
                      <a:pt x="701" y="1"/>
                    </a:moveTo>
                    <a:cubicBezTo>
                      <a:pt x="301" y="1"/>
                      <a:pt x="1" y="334"/>
                      <a:pt x="1" y="701"/>
                    </a:cubicBezTo>
                    <a:lnTo>
                      <a:pt x="1" y="2436"/>
                    </a:lnTo>
                    <a:cubicBezTo>
                      <a:pt x="1" y="2869"/>
                      <a:pt x="334" y="3169"/>
                      <a:pt x="701" y="3169"/>
                    </a:cubicBezTo>
                    <a:lnTo>
                      <a:pt x="2469" y="3169"/>
                    </a:lnTo>
                    <a:cubicBezTo>
                      <a:pt x="2870" y="3169"/>
                      <a:pt x="3170" y="2836"/>
                      <a:pt x="3170" y="2436"/>
                    </a:cubicBezTo>
                    <a:lnTo>
                      <a:pt x="3170" y="701"/>
                    </a:lnTo>
                    <a:cubicBezTo>
                      <a:pt x="3170" y="267"/>
                      <a:pt x="2836" y="1"/>
                      <a:pt x="24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1095931" y="2922255"/>
                <a:ext cx="1063783" cy="21816"/>
              </a:xfrm>
              <a:custGeom>
                <a:avLst/>
                <a:gdLst/>
                <a:ahLst/>
                <a:cxnLst/>
                <a:rect l="l" t="t" r="r" b="b"/>
                <a:pathLst>
                  <a:path w="11410" h="234" extrusionOk="0">
                    <a:moveTo>
                      <a:pt x="134" y="0"/>
                    </a:moveTo>
                    <a:cubicBezTo>
                      <a:pt x="68" y="0"/>
                      <a:pt x="1" y="34"/>
                      <a:pt x="1" y="100"/>
                    </a:cubicBezTo>
                    <a:cubicBezTo>
                      <a:pt x="1" y="200"/>
                      <a:pt x="68" y="234"/>
                      <a:pt x="134" y="234"/>
                    </a:cubicBezTo>
                    <a:lnTo>
                      <a:pt x="11276" y="234"/>
                    </a:lnTo>
                    <a:cubicBezTo>
                      <a:pt x="11342" y="234"/>
                      <a:pt x="11409" y="200"/>
                      <a:pt x="11409" y="100"/>
                    </a:cubicBezTo>
                    <a:cubicBezTo>
                      <a:pt x="11409" y="34"/>
                      <a:pt x="11309" y="0"/>
                      <a:pt x="112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1095931" y="3003088"/>
                <a:ext cx="684327" cy="21910"/>
              </a:xfrm>
              <a:custGeom>
                <a:avLst/>
                <a:gdLst/>
                <a:ahLst/>
                <a:cxnLst/>
                <a:rect l="l" t="t" r="r" b="b"/>
                <a:pathLst>
                  <a:path w="7340" h="235" extrusionOk="0">
                    <a:moveTo>
                      <a:pt x="134" y="1"/>
                    </a:moveTo>
                    <a:cubicBezTo>
                      <a:pt x="68" y="1"/>
                      <a:pt x="1" y="34"/>
                      <a:pt x="1" y="134"/>
                    </a:cubicBezTo>
                    <a:cubicBezTo>
                      <a:pt x="1" y="201"/>
                      <a:pt x="68" y="234"/>
                      <a:pt x="134" y="234"/>
                    </a:cubicBezTo>
                    <a:lnTo>
                      <a:pt x="7239" y="234"/>
                    </a:lnTo>
                    <a:cubicBezTo>
                      <a:pt x="7306" y="234"/>
                      <a:pt x="7339" y="201"/>
                      <a:pt x="7339" y="134"/>
                    </a:cubicBezTo>
                    <a:cubicBezTo>
                      <a:pt x="7339" y="67"/>
                      <a:pt x="7273" y="1"/>
                      <a:pt x="7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4;p15"/>
            <p:cNvGrpSpPr/>
            <p:nvPr/>
          </p:nvGrpSpPr>
          <p:grpSpPr>
            <a:xfrm>
              <a:off x="1892128" y="3177685"/>
              <a:ext cx="361833" cy="86930"/>
              <a:chOff x="2513203" y="3027163"/>
              <a:chExt cx="361833" cy="86930"/>
            </a:xfrm>
          </p:grpSpPr>
          <p:sp>
            <p:nvSpPr>
              <p:cNvPr id="95" name="Google Shape;95;p15"/>
              <p:cNvSpPr/>
              <p:nvPr/>
            </p:nvSpPr>
            <p:spPr>
              <a:xfrm>
                <a:off x="2513203" y="3027163"/>
                <a:ext cx="88213" cy="86930"/>
              </a:xfrm>
              <a:custGeom>
                <a:avLst/>
                <a:gdLst/>
                <a:ahLst/>
                <a:cxnLst/>
                <a:rect l="l" t="t" r="r" b="b"/>
                <a:pathLst>
                  <a:path w="2269" h="2236" extrusionOk="0">
                    <a:moveTo>
                      <a:pt x="1134" y="1"/>
                    </a:moveTo>
                    <a:cubicBezTo>
                      <a:pt x="500" y="1"/>
                      <a:pt x="0" y="501"/>
                      <a:pt x="0" y="1101"/>
                    </a:cubicBezTo>
                    <a:cubicBezTo>
                      <a:pt x="0" y="1735"/>
                      <a:pt x="500" y="2236"/>
                      <a:pt x="1134" y="2236"/>
                    </a:cubicBezTo>
                    <a:cubicBezTo>
                      <a:pt x="1768" y="2236"/>
                      <a:pt x="2268" y="1735"/>
                      <a:pt x="2268" y="1101"/>
                    </a:cubicBezTo>
                    <a:cubicBezTo>
                      <a:pt x="2268" y="501"/>
                      <a:pt x="1768" y="1"/>
                      <a:pt x="1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2650635" y="3027163"/>
                <a:ext cx="88252" cy="86930"/>
              </a:xfrm>
              <a:custGeom>
                <a:avLst/>
                <a:gdLst/>
                <a:ahLst/>
                <a:cxnLst/>
                <a:rect l="l" t="t" r="r" b="b"/>
                <a:pathLst>
                  <a:path w="2270" h="2236" extrusionOk="0">
                    <a:moveTo>
                      <a:pt x="1135" y="1"/>
                    </a:moveTo>
                    <a:cubicBezTo>
                      <a:pt x="501" y="1"/>
                      <a:pt x="1" y="501"/>
                      <a:pt x="1" y="1101"/>
                    </a:cubicBezTo>
                    <a:cubicBezTo>
                      <a:pt x="1" y="1735"/>
                      <a:pt x="501" y="2236"/>
                      <a:pt x="1135" y="2236"/>
                    </a:cubicBezTo>
                    <a:cubicBezTo>
                      <a:pt x="1769" y="2236"/>
                      <a:pt x="2269" y="1735"/>
                      <a:pt x="2269" y="1101"/>
                    </a:cubicBezTo>
                    <a:cubicBezTo>
                      <a:pt x="2269" y="501"/>
                      <a:pt x="1736" y="1"/>
                      <a:pt x="11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2786822" y="3027163"/>
                <a:ext cx="88213" cy="86930"/>
              </a:xfrm>
              <a:custGeom>
                <a:avLst/>
                <a:gdLst/>
                <a:ahLst/>
                <a:cxnLst/>
                <a:rect l="l" t="t" r="r" b="b"/>
                <a:pathLst>
                  <a:path w="2269" h="2236" extrusionOk="0">
                    <a:moveTo>
                      <a:pt x="1135" y="1"/>
                    </a:moveTo>
                    <a:cubicBezTo>
                      <a:pt x="501" y="1"/>
                      <a:pt x="0" y="501"/>
                      <a:pt x="0" y="1101"/>
                    </a:cubicBezTo>
                    <a:cubicBezTo>
                      <a:pt x="0" y="1735"/>
                      <a:pt x="501" y="2236"/>
                      <a:pt x="1135" y="2236"/>
                    </a:cubicBezTo>
                    <a:cubicBezTo>
                      <a:pt x="1768" y="2236"/>
                      <a:pt x="2269" y="1735"/>
                      <a:pt x="2269" y="1101"/>
                    </a:cubicBezTo>
                    <a:cubicBezTo>
                      <a:pt x="2269" y="501"/>
                      <a:pt x="1768" y="1"/>
                      <a:pt x="11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圖片 3">
            <a:extLst>
              <a:ext uri="{FF2B5EF4-FFF2-40B4-BE49-F238E27FC236}">
                <a16:creationId xmlns:a16="http://schemas.microsoft.com/office/drawing/2014/main" id="{3B8A38CF-E7E9-467C-8F97-229F36FBBC45}"/>
              </a:ext>
            </a:extLst>
          </p:cNvPr>
          <p:cNvPicPr>
            <a:picLocks noChangeAspect="1"/>
          </p:cNvPicPr>
          <p:nvPr/>
        </p:nvPicPr>
        <p:blipFill>
          <a:blip r:embed="rId3"/>
          <a:stretch>
            <a:fillRect/>
          </a:stretch>
        </p:blipFill>
        <p:spPr>
          <a:xfrm>
            <a:off x="770620" y="664027"/>
            <a:ext cx="1602490" cy="1462636"/>
          </a:xfrm>
          <a:prstGeom prst="rect">
            <a:avLst/>
          </a:prstGeom>
        </p:spPr>
      </p:pic>
      <p:sp>
        <p:nvSpPr>
          <p:cNvPr id="6" name="矩形 5">
            <a:extLst>
              <a:ext uri="{FF2B5EF4-FFF2-40B4-BE49-F238E27FC236}">
                <a16:creationId xmlns:a16="http://schemas.microsoft.com/office/drawing/2014/main" id="{8E75C73A-583D-4451-AA53-90565A204779}"/>
              </a:ext>
            </a:extLst>
          </p:cNvPr>
          <p:cNvSpPr/>
          <p:nvPr/>
        </p:nvSpPr>
        <p:spPr>
          <a:xfrm>
            <a:off x="13174" y="10886"/>
            <a:ext cx="9122400"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9C458706-1217-F5F2-B6E0-D15E7294D1A1}"/>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B8CB915C-421B-A978-DB3F-922E85DE0C52}"/>
              </a:ext>
            </a:extLst>
          </p:cNvPr>
          <p:cNvSpPr/>
          <p:nvPr/>
        </p:nvSpPr>
        <p:spPr>
          <a:xfrm>
            <a:off x="397565"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Google Shape;103;p16">
            <a:extLst>
              <a:ext uri="{FF2B5EF4-FFF2-40B4-BE49-F238E27FC236}">
                <a16:creationId xmlns:a16="http://schemas.microsoft.com/office/drawing/2014/main" id="{85EED760-C83C-976C-AE07-DADF535274AA}"/>
              </a:ext>
            </a:extLst>
          </p:cNvPr>
          <p:cNvSpPr txBox="1">
            <a:spLocks noGrp="1"/>
          </p:cNvSpPr>
          <p:nvPr>
            <p:ph type="body" idx="1"/>
          </p:nvPr>
        </p:nvSpPr>
        <p:spPr>
          <a:xfrm>
            <a:off x="173417" y="667236"/>
            <a:ext cx="8655111" cy="680502"/>
          </a:xfrm>
          <a:prstGeom prst="rect">
            <a:avLst/>
          </a:prstGeom>
        </p:spPr>
        <p:txBody>
          <a:bodyPr spcFirstLastPara="1" wrap="square" lIns="91425" tIns="91425" rIns="91425" bIns="91425" anchor="t" anchorCtr="0">
            <a:noAutofit/>
          </a:bodyPr>
          <a:lstStyle/>
          <a:p>
            <a:pPr marL="152400" lvl="0" indent="0" algn="just" rtl="0">
              <a:lnSpc>
                <a:spcPct val="150000"/>
              </a:lnSpc>
              <a:spcBef>
                <a:spcPts val="0"/>
              </a:spcBef>
              <a:spcAft>
                <a:spcPts val="1200"/>
              </a:spcAft>
              <a:buSzPts val="1200"/>
              <a:buNone/>
            </a:pPr>
            <a:r>
              <a:rPr lang="zh-TW" altLang="en-US" sz="2400" b="1">
                <a:latin typeface="微軟正黑體" panose="020B0604030504040204" pitchFamily="34" charset="-120"/>
                <a:ea typeface="微軟正黑體" panose="020B0604030504040204" pitchFamily="34" charset="-120"/>
              </a:rPr>
              <a:t>「扶創盃全國青少年智慧商務創業創新競賽」中榮獲佳作以上</a:t>
            </a:r>
            <a:endParaRPr lang="en-US" altLang="zh-TW" sz="2400" b="1">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9D2600D9-EF51-594C-76D3-21995D9D5190}"/>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a:t>
            </a:fld>
            <a:endParaRPr lang="zh-TW" altLang="en-US">
              <a:solidFill>
                <a:schemeClr val="tx1"/>
              </a:solidFill>
            </a:endParaRPr>
          </a:p>
        </p:txBody>
      </p:sp>
      <p:pic>
        <p:nvPicPr>
          <p:cNvPr id="4" name="圖片 3" descr="一張含有 文字, 螢幕擷取畫面, 字型, 數字 的圖片">
            <a:extLst>
              <a:ext uri="{FF2B5EF4-FFF2-40B4-BE49-F238E27FC236}">
                <a16:creationId xmlns:a16="http://schemas.microsoft.com/office/drawing/2014/main" id="{DC3E0733-D8C1-8A9A-B2CF-2C29D97231D6}"/>
              </a:ext>
            </a:extLst>
          </p:cNvPr>
          <p:cNvPicPr>
            <a:picLocks noChangeAspect="1"/>
          </p:cNvPicPr>
          <p:nvPr/>
        </p:nvPicPr>
        <p:blipFill>
          <a:blip r:embed="rId3"/>
          <a:srcRect t="26092" b="45790"/>
          <a:stretch/>
        </p:blipFill>
        <p:spPr>
          <a:xfrm>
            <a:off x="293362" y="1941660"/>
            <a:ext cx="3705551" cy="2234030"/>
          </a:xfrm>
          <a:prstGeom prst="rect">
            <a:avLst/>
          </a:prstGeom>
        </p:spPr>
      </p:pic>
      <p:grpSp>
        <p:nvGrpSpPr>
          <p:cNvPr id="6" name="群組 5">
            <a:extLst>
              <a:ext uri="{FF2B5EF4-FFF2-40B4-BE49-F238E27FC236}">
                <a16:creationId xmlns:a16="http://schemas.microsoft.com/office/drawing/2014/main" id="{D8EE99B4-7A69-322F-89DF-F1FCDB68376D}"/>
              </a:ext>
            </a:extLst>
          </p:cNvPr>
          <p:cNvGrpSpPr/>
          <p:nvPr/>
        </p:nvGrpSpPr>
        <p:grpSpPr>
          <a:xfrm>
            <a:off x="4127751" y="1840870"/>
            <a:ext cx="4703982" cy="2435610"/>
            <a:chOff x="4048728" y="1094848"/>
            <a:chExt cx="4703982" cy="2435610"/>
          </a:xfrm>
        </p:grpSpPr>
        <p:pic>
          <p:nvPicPr>
            <p:cNvPr id="7" name="圖片 6" descr="一張含有 文字, 螢幕擷取畫面, 數字, 字型 的圖片">
              <a:extLst>
                <a:ext uri="{FF2B5EF4-FFF2-40B4-BE49-F238E27FC236}">
                  <a16:creationId xmlns:a16="http://schemas.microsoft.com/office/drawing/2014/main" id="{260F4DEB-1BB9-8820-FFFF-2E3195D2E495}"/>
                </a:ext>
              </a:extLst>
            </p:cNvPr>
            <p:cNvPicPr>
              <a:picLocks noChangeAspect="1"/>
            </p:cNvPicPr>
            <p:nvPr/>
          </p:nvPicPr>
          <p:blipFill>
            <a:blip r:embed="rId4"/>
            <a:srcRect b="63717"/>
            <a:stretch/>
          </p:blipFill>
          <p:spPr>
            <a:xfrm>
              <a:off x="4051987" y="1094848"/>
              <a:ext cx="4699900" cy="1425722"/>
            </a:xfrm>
            <a:prstGeom prst="rect">
              <a:avLst/>
            </a:prstGeom>
          </p:spPr>
        </p:pic>
        <p:pic>
          <p:nvPicPr>
            <p:cNvPr id="11" name="圖片 10">
              <a:extLst>
                <a:ext uri="{FF2B5EF4-FFF2-40B4-BE49-F238E27FC236}">
                  <a16:creationId xmlns:a16="http://schemas.microsoft.com/office/drawing/2014/main" id="{768D32BC-EAF2-275B-226D-D49E27875605}"/>
                </a:ext>
              </a:extLst>
            </p:cNvPr>
            <p:cNvPicPr>
              <a:picLocks noChangeAspect="1"/>
            </p:cNvPicPr>
            <p:nvPr/>
          </p:nvPicPr>
          <p:blipFill>
            <a:blip r:embed="rId5"/>
            <a:srcRect t="87785" b="6821"/>
            <a:stretch/>
          </p:blipFill>
          <p:spPr>
            <a:xfrm>
              <a:off x="4048728" y="1901654"/>
              <a:ext cx="4700777" cy="211930"/>
            </a:xfrm>
            <a:prstGeom prst="rect">
              <a:avLst/>
            </a:prstGeom>
          </p:spPr>
        </p:pic>
        <p:pic>
          <p:nvPicPr>
            <p:cNvPr id="13" name="圖片 12">
              <a:extLst>
                <a:ext uri="{FF2B5EF4-FFF2-40B4-BE49-F238E27FC236}">
                  <a16:creationId xmlns:a16="http://schemas.microsoft.com/office/drawing/2014/main" id="{9AE29906-DE2D-3EE2-B03A-CDF9C70E6972}"/>
                </a:ext>
              </a:extLst>
            </p:cNvPr>
            <p:cNvPicPr>
              <a:picLocks noChangeAspect="1"/>
            </p:cNvPicPr>
            <p:nvPr/>
          </p:nvPicPr>
          <p:blipFill>
            <a:blip r:embed="rId5"/>
            <a:srcRect t="51707" b="22511"/>
            <a:stretch/>
          </p:blipFill>
          <p:spPr>
            <a:xfrm>
              <a:off x="4051110" y="2516997"/>
              <a:ext cx="4701600" cy="1013461"/>
            </a:xfrm>
            <a:prstGeom prst="rect">
              <a:avLst/>
            </a:prstGeom>
          </p:spPr>
        </p:pic>
      </p:grpSp>
      <p:sp>
        <p:nvSpPr>
          <p:cNvPr id="9" name="矩形: 圓角 8">
            <a:extLst>
              <a:ext uri="{FF2B5EF4-FFF2-40B4-BE49-F238E27FC236}">
                <a16:creationId xmlns:a16="http://schemas.microsoft.com/office/drawing/2014/main" id="{E2157917-84D0-0DD1-027A-4A6A3806C640}"/>
              </a:ext>
            </a:extLst>
          </p:cNvPr>
          <p:cNvSpPr/>
          <p:nvPr/>
        </p:nvSpPr>
        <p:spPr>
          <a:xfrm>
            <a:off x="4125369" y="2625095"/>
            <a:ext cx="4634811" cy="21193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204614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zh-TW" altLang="en-US" b="1">
                <a:latin typeface="微軟正黑體" panose="020B0604030504040204" pitchFamily="34" charset="-120"/>
                <a:ea typeface="微軟正黑體" panose="020B0604030504040204" pitchFamily="34" charset="-120"/>
              </a:rPr>
              <a:t>目錄</a:t>
            </a:r>
          </a:p>
        </p:txBody>
      </p:sp>
      <p:sp>
        <p:nvSpPr>
          <p:cNvPr id="487" name="Google Shape;487;p24"/>
          <p:cNvSpPr txBox="1"/>
          <p:nvPr/>
        </p:nvSpPr>
        <p:spPr>
          <a:xfrm>
            <a:off x="2679000" y="1708622"/>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{01</a:t>
            </a:r>
            <a:r>
              <a:rPr lang="en" sz="3000">
                <a:solidFill>
                  <a:schemeClr val="lt2"/>
                </a:solidFill>
                <a:latin typeface="Quantico"/>
                <a:ea typeface="Quantico"/>
                <a:cs typeface="Quantico"/>
                <a:sym typeface="Quantico"/>
              </a:rPr>
              <a:t>}</a:t>
            </a:r>
            <a:endParaRPr sz="3000">
              <a:solidFill>
                <a:schemeClr val="lt2"/>
              </a:solidFill>
              <a:latin typeface="Quantico"/>
              <a:ea typeface="Quantico"/>
              <a:cs typeface="Quantico"/>
              <a:sym typeface="Quantico"/>
            </a:endParaRPr>
          </a:p>
        </p:txBody>
      </p:sp>
      <p:sp>
        <p:nvSpPr>
          <p:cNvPr id="489" name="Google Shape;489;p24"/>
          <p:cNvSpPr txBox="1"/>
          <p:nvPr/>
        </p:nvSpPr>
        <p:spPr>
          <a:xfrm>
            <a:off x="720000" y="1820630"/>
            <a:ext cx="19590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zh-TW" altLang="en-US" sz="2400" b="1">
                <a:solidFill>
                  <a:schemeClr val="dk1"/>
                </a:solidFill>
                <a:latin typeface="微軟正黑體" panose="020B0604030504040204" pitchFamily="34" charset="-120"/>
                <a:ea typeface="微軟正黑體" panose="020B0604030504040204" pitchFamily="34" charset="-120"/>
                <a:cs typeface="Quantico"/>
                <a:sym typeface="Quantico"/>
              </a:rPr>
              <a:t>背景與動機</a:t>
            </a:r>
          </a:p>
        </p:txBody>
      </p:sp>
      <p:sp>
        <p:nvSpPr>
          <p:cNvPr id="492" name="Google Shape;492;p24"/>
          <p:cNvSpPr txBox="1"/>
          <p:nvPr/>
        </p:nvSpPr>
        <p:spPr>
          <a:xfrm>
            <a:off x="2679000" y="2550430"/>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{03</a:t>
            </a:r>
            <a:r>
              <a:rPr lang="en" sz="3000">
                <a:solidFill>
                  <a:schemeClr val="accent2"/>
                </a:solidFill>
                <a:latin typeface="Quantico"/>
                <a:ea typeface="Quantico"/>
                <a:cs typeface="Quantico"/>
                <a:sym typeface="Quantico"/>
              </a:rPr>
              <a:t>}</a:t>
            </a:r>
            <a:endParaRPr sz="3000">
              <a:solidFill>
                <a:schemeClr val="accent2"/>
              </a:solidFill>
              <a:latin typeface="Quantico"/>
              <a:ea typeface="Quantico"/>
              <a:cs typeface="Quantico"/>
              <a:sym typeface="Quantico"/>
            </a:endParaRPr>
          </a:p>
        </p:txBody>
      </p:sp>
      <p:sp>
        <p:nvSpPr>
          <p:cNvPr id="494" name="Google Shape;494;p24"/>
          <p:cNvSpPr txBox="1"/>
          <p:nvPr/>
        </p:nvSpPr>
        <p:spPr>
          <a:xfrm>
            <a:off x="720000" y="2662438"/>
            <a:ext cx="19590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altLang="zh-TW" sz="2400" b="1">
                <a:solidFill>
                  <a:schemeClr val="dk1"/>
                </a:solidFill>
                <a:latin typeface="Quantico"/>
                <a:ea typeface="Quantico"/>
                <a:cs typeface="Quantico"/>
                <a:sym typeface="Quantico"/>
              </a:rPr>
              <a:t>SWOT</a:t>
            </a:r>
            <a:r>
              <a:rPr lang="zh-TW" altLang="en-US" sz="2400" b="1">
                <a:solidFill>
                  <a:schemeClr val="dk1"/>
                </a:solidFill>
                <a:latin typeface="微軟正黑體" panose="020B0604030504040204" pitchFamily="34" charset="-120"/>
                <a:ea typeface="微軟正黑體" panose="020B0604030504040204" pitchFamily="34" charset="-120"/>
                <a:cs typeface="Quantico"/>
                <a:sym typeface="Quantico"/>
              </a:rPr>
              <a:t>分析</a:t>
            </a:r>
          </a:p>
        </p:txBody>
      </p:sp>
      <p:sp>
        <p:nvSpPr>
          <p:cNvPr id="502" name="Google Shape;502;p24"/>
          <p:cNvSpPr txBox="1"/>
          <p:nvPr/>
        </p:nvSpPr>
        <p:spPr>
          <a:xfrm>
            <a:off x="2679000" y="3392239"/>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{05</a:t>
            </a:r>
            <a:r>
              <a:rPr lang="en" sz="3000">
                <a:solidFill>
                  <a:schemeClr val="accent1"/>
                </a:solidFill>
                <a:latin typeface="Quantico"/>
                <a:ea typeface="Quantico"/>
                <a:cs typeface="Quantico"/>
                <a:sym typeface="Quantico"/>
              </a:rPr>
              <a:t>}</a:t>
            </a:r>
            <a:endParaRPr sz="3000">
              <a:solidFill>
                <a:schemeClr val="accent1"/>
              </a:solidFill>
              <a:latin typeface="Quantico"/>
              <a:ea typeface="Quantico"/>
              <a:cs typeface="Quantico"/>
              <a:sym typeface="Quantico"/>
            </a:endParaRPr>
          </a:p>
        </p:txBody>
      </p:sp>
      <p:sp>
        <p:nvSpPr>
          <p:cNvPr id="504" name="Google Shape;504;p24"/>
          <p:cNvSpPr txBox="1"/>
          <p:nvPr/>
        </p:nvSpPr>
        <p:spPr>
          <a:xfrm>
            <a:off x="720000" y="3504247"/>
            <a:ext cx="195900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gn="r">
              <a:buNone/>
              <a:defRPr sz="2400" b="1">
                <a:solidFill>
                  <a:schemeClr val="dk1"/>
                </a:solidFill>
                <a:latin typeface="微軟正黑體" panose="020B0604030504040204" pitchFamily="34" charset="-120"/>
                <a:ea typeface="微軟正黑體" panose="020B0604030504040204" pitchFamily="34" charset="-120"/>
                <a:cs typeface="Quantico"/>
              </a:defRPr>
            </a:lvl1pPr>
          </a:lstStyle>
          <a:p>
            <a:r>
              <a:rPr lang="zh-TW" altLang="en-US">
                <a:sym typeface="Quantico"/>
              </a:rPr>
              <a:t>系統展示</a:t>
            </a:r>
          </a:p>
        </p:txBody>
      </p:sp>
      <p:sp>
        <p:nvSpPr>
          <p:cNvPr id="507" name="Google Shape;507;p24"/>
          <p:cNvSpPr txBox="1"/>
          <p:nvPr/>
        </p:nvSpPr>
        <p:spPr>
          <a:xfrm flipH="1">
            <a:off x="5130725" y="1708622"/>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{02</a:t>
            </a:r>
            <a:r>
              <a:rPr lang="en" sz="3000">
                <a:solidFill>
                  <a:schemeClr val="accent1"/>
                </a:solidFill>
                <a:latin typeface="Quantico"/>
                <a:ea typeface="Quantico"/>
                <a:cs typeface="Quantico"/>
                <a:sym typeface="Quantico"/>
              </a:rPr>
              <a:t>}</a:t>
            </a:r>
            <a:endParaRPr sz="3000">
              <a:solidFill>
                <a:schemeClr val="accent1"/>
              </a:solidFill>
              <a:latin typeface="Quantico"/>
              <a:ea typeface="Quantico"/>
              <a:cs typeface="Quantico"/>
              <a:sym typeface="Quantico"/>
            </a:endParaRPr>
          </a:p>
        </p:txBody>
      </p:sp>
      <p:sp>
        <p:nvSpPr>
          <p:cNvPr id="509" name="Google Shape;509;p24"/>
          <p:cNvSpPr txBox="1"/>
          <p:nvPr/>
        </p:nvSpPr>
        <p:spPr>
          <a:xfrm flipH="1">
            <a:off x="6466925" y="1820630"/>
            <a:ext cx="19590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zh-TW" altLang="en-US" sz="2400" b="1">
                <a:solidFill>
                  <a:schemeClr val="dk1"/>
                </a:solidFill>
                <a:latin typeface="微軟正黑體" panose="020B0604030504040204" pitchFamily="34" charset="-120"/>
                <a:ea typeface="微軟正黑體" panose="020B0604030504040204" pitchFamily="34" charset="-120"/>
                <a:cs typeface="Quantico"/>
                <a:sym typeface="Quantico"/>
              </a:rPr>
              <a:t>系統架構</a:t>
            </a:r>
          </a:p>
        </p:txBody>
      </p:sp>
      <p:sp>
        <p:nvSpPr>
          <p:cNvPr id="512" name="Google Shape;512;p24"/>
          <p:cNvSpPr txBox="1"/>
          <p:nvPr/>
        </p:nvSpPr>
        <p:spPr>
          <a:xfrm flipH="1">
            <a:off x="5130725" y="2550430"/>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{04</a:t>
            </a:r>
            <a:r>
              <a:rPr lang="en" sz="3000">
                <a:solidFill>
                  <a:schemeClr val="lt2"/>
                </a:solidFill>
                <a:latin typeface="Quantico"/>
                <a:ea typeface="Quantico"/>
                <a:cs typeface="Quantico"/>
                <a:sym typeface="Quantico"/>
              </a:rPr>
              <a:t>}</a:t>
            </a:r>
            <a:endParaRPr sz="3000">
              <a:solidFill>
                <a:schemeClr val="lt2"/>
              </a:solidFill>
              <a:latin typeface="Quantico"/>
              <a:ea typeface="Quantico"/>
              <a:cs typeface="Quantico"/>
              <a:sym typeface="Quantico"/>
            </a:endParaRPr>
          </a:p>
        </p:txBody>
      </p:sp>
      <p:sp>
        <p:nvSpPr>
          <p:cNvPr id="514" name="Google Shape;514;p24"/>
          <p:cNvSpPr txBox="1"/>
          <p:nvPr/>
        </p:nvSpPr>
        <p:spPr>
          <a:xfrm flipH="1">
            <a:off x="6431204" y="2748166"/>
            <a:ext cx="2448475" cy="383708"/>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zh-TW" altLang="en-US" sz="2400" b="1">
                <a:solidFill>
                  <a:schemeClr val="dk1"/>
                </a:solidFill>
                <a:latin typeface="微軟正黑體" panose="020B0604030504040204" pitchFamily="34" charset="-120"/>
                <a:ea typeface="微軟正黑體" panose="020B0604030504040204" pitchFamily="34" charset="-120"/>
                <a:sym typeface="Quantico"/>
              </a:rPr>
              <a:t>系統比較與特色</a:t>
            </a:r>
          </a:p>
        </p:txBody>
      </p:sp>
      <p:sp>
        <p:nvSpPr>
          <p:cNvPr id="522" name="Google Shape;522;p24"/>
          <p:cNvSpPr txBox="1"/>
          <p:nvPr/>
        </p:nvSpPr>
        <p:spPr>
          <a:xfrm flipH="1">
            <a:off x="5130725" y="3392239"/>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{06</a:t>
            </a:r>
            <a:r>
              <a:rPr lang="en" sz="3000">
                <a:solidFill>
                  <a:schemeClr val="accent2"/>
                </a:solidFill>
                <a:latin typeface="Quantico"/>
                <a:ea typeface="Quantico"/>
                <a:cs typeface="Quantico"/>
                <a:sym typeface="Quantico"/>
              </a:rPr>
              <a:t>}</a:t>
            </a:r>
            <a:endParaRPr sz="3000">
              <a:solidFill>
                <a:schemeClr val="accent2"/>
              </a:solidFill>
              <a:latin typeface="Quantico"/>
              <a:ea typeface="Quantico"/>
              <a:cs typeface="Quantico"/>
              <a:sym typeface="Quantico"/>
            </a:endParaRPr>
          </a:p>
        </p:txBody>
      </p:sp>
      <p:sp>
        <p:nvSpPr>
          <p:cNvPr id="524" name="Google Shape;524;p24"/>
          <p:cNvSpPr txBox="1"/>
          <p:nvPr/>
        </p:nvSpPr>
        <p:spPr>
          <a:xfrm flipH="1">
            <a:off x="6466925" y="3472963"/>
            <a:ext cx="19590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zh-TW" altLang="en-US" sz="2400" b="1">
                <a:solidFill>
                  <a:schemeClr val="dk1"/>
                </a:solidFill>
                <a:latin typeface="微軟正黑體" panose="020B0604030504040204" pitchFamily="34" charset="-120"/>
                <a:ea typeface="微軟正黑體" panose="020B0604030504040204" pitchFamily="34" charset="-120"/>
                <a:sym typeface="Quantico"/>
              </a:rPr>
              <a:t>未來展望</a:t>
            </a:r>
          </a:p>
        </p:txBody>
      </p:sp>
      <p:cxnSp>
        <p:nvCxnSpPr>
          <p:cNvPr id="526" name="Google Shape;526;p24"/>
          <p:cNvCxnSpPr>
            <a:stCxn id="487" idx="3"/>
            <a:endCxn id="507" idx="3"/>
          </p:cNvCxnSpPr>
          <p:nvPr/>
        </p:nvCxnSpPr>
        <p:spPr>
          <a:xfrm>
            <a:off x="4015200" y="2024822"/>
            <a:ext cx="1115400" cy="0"/>
          </a:xfrm>
          <a:prstGeom prst="straightConnector1">
            <a:avLst/>
          </a:prstGeom>
          <a:noFill/>
          <a:ln w="9525" cap="flat" cmpd="sng">
            <a:solidFill>
              <a:schemeClr val="dk1"/>
            </a:solidFill>
            <a:prstDash val="solid"/>
            <a:round/>
            <a:headEnd type="none" w="med" len="med"/>
            <a:tailEnd type="triangle" w="med" len="med"/>
          </a:ln>
        </p:spPr>
      </p:cxnSp>
      <p:cxnSp>
        <p:nvCxnSpPr>
          <p:cNvPr id="527" name="Google Shape;527;p24"/>
          <p:cNvCxnSpPr>
            <a:stCxn id="507" idx="2"/>
            <a:endCxn id="492" idx="0"/>
          </p:cNvCxnSpPr>
          <p:nvPr/>
        </p:nvCxnSpPr>
        <p:spPr>
          <a:xfrm rot="5400000">
            <a:off x="4468325" y="1219922"/>
            <a:ext cx="209400" cy="2451600"/>
          </a:xfrm>
          <a:prstGeom prst="bentConnector3">
            <a:avLst>
              <a:gd name="adj1" fmla="val 50002"/>
            </a:avLst>
          </a:prstGeom>
          <a:noFill/>
          <a:ln w="9525" cap="flat" cmpd="sng">
            <a:solidFill>
              <a:schemeClr val="dk1"/>
            </a:solidFill>
            <a:prstDash val="solid"/>
            <a:round/>
            <a:headEnd type="none" w="med" len="med"/>
            <a:tailEnd type="triangle" w="med" len="med"/>
          </a:ln>
        </p:spPr>
      </p:cxnSp>
      <p:cxnSp>
        <p:nvCxnSpPr>
          <p:cNvPr id="528" name="Google Shape;528;p24"/>
          <p:cNvCxnSpPr>
            <a:stCxn id="512" idx="3"/>
            <a:endCxn id="492" idx="3"/>
          </p:cNvCxnSpPr>
          <p:nvPr/>
        </p:nvCxnSpPr>
        <p:spPr>
          <a:xfrm rot="10800000">
            <a:off x="4015325" y="2866630"/>
            <a:ext cx="1115400" cy="0"/>
          </a:xfrm>
          <a:prstGeom prst="straightConnector1">
            <a:avLst/>
          </a:prstGeom>
          <a:noFill/>
          <a:ln w="9525" cap="flat" cmpd="sng">
            <a:solidFill>
              <a:schemeClr val="dk1"/>
            </a:solidFill>
            <a:prstDash val="solid"/>
            <a:round/>
            <a:headEnd type="triangle" w="med" len="med"/>
            <a:tailEnd type="none" w="med" len="med"/>
          </a:ln>
        </p:spPr>
      </p:cxnSp>
      <p:cxnSp>
        <p:nvCxnSpPr>
          <p:cNvPr id="529" name="Google Shape;529;p24"/>
          <p:cNvCxnSpPr>
            <a:stCxn id="522" idx="3"/>
            <a:endCxn id="502" idx="3"/>
          </p:cNvCxnSpPr>
          <p:nvPr/>
        </p:nvCxnSpPr>
        <p:spPr>
          <a:xfrm rot="10800000">
            <a:off x="4015325" y="3708439"/>
            <a:ext cx="1115400" cy="0"/>
          </a:xfrm>
          <a:prstGeom prst="straightConnector1">
            <a:avLst/>
          </a:prstGeom>
          <a:noFill/>
          <a:ln w="9525" cap="flat" cmpd="sng">
            <a:solidFill>
              <a:schemeClr val="dk1"/>
            </a:solidFill>
            <a:prstDash val="solid"/>
            <a:round/>
            <a:headEnd type="triangle" w="med" len="med"/>
            <a:tailEnd type="none" w="med" len="med"/>
          </a:ln>
        </p:spPr>
      </p:cxnSp>
      <p:cxnSp>
        <p:nvCxnSpPr>
          <p:cNvPr id="531" name="Google Shape;531;p24"/>
          <p:cNvCxnSpPr>
            <a:stCxn id="512" idx="2"/>
            <a:endCxn id="502" idx="0"/>
          </p:cNvCxnSpPr>
          <p:nvPr/>
        </p:nvCxnSpPr>
        <p:spPr>
          <a:xfrm rot="5400000">
            <a:off x="4468325" y="2061730"/>
            <a:ext cx="209400" cy="2451600"/>
          </a:xfrm>
          <a:prstGeom prst="bentConnector3">
            <a:avLst>
              <a:gd name="adj1" fmla="val 50002"/>
            </a:avLst>
          </a:prstGeom>
          <a:noFill/>
          <a:ln w="9525" cap="flat" cmpd="sng">
            <a:solidFill>
              <a:schemeClr val="dk1"/>
            </a:solidFill>
            <a:prstDash val="solid"/>
            <a:round/>
            <a:headEnd type="none" w="med" len="med"/>
            <a:tailEnd type="triangle" w="med" len="med"/>
          </a:ln>
        </p:spPr>
      </p:cxnSp>
      <p:sp>
        <p:nvSpPr>
          <p:cNvPr id="4" name="文字方塊 3">
            <a:extLst>
              <a:ext uri="{FF2B5EF4-FFF2-40B4-BE49-F238E27FC236}">
                <a16:creationId xmlns:a16="http://schemas.microsoft.com/office/drawing/2014/main" id="{C64D277C-AA4A-964E-26F1-1C4BD4BAE3ED}"/>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a:t>
            </a:fld>
            <a:endParaRPr lang="zh-TW" altLang="en-US">
              <a:solidFill>
                <a:schemeClr val="tx1"/>
              </a:solidFill>
            </a:endParaRPr>
          </a:p>
        </p:txBody>
      </p:sp>
      <p:sp>
        <p:nvSpPr>
          <p:cNvPr id="23" name="文字方塊 22">
            <a:extLst>
              <a:ext uri="{FF2B5EF4-FFF2-40B4-BE49-F238E27FC236}">
                <a16:creationId xmlns:a16="http://schemas.microsoft.com/office/drawing/2014/main" id="{2074ACB7-B04A-4F81-89BB-D1BB422BE7AB}"/>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6" name="文字方塊 5">
            <a:extLst>
              <a:ext uri="{FF2B5EF4-FFF2-40B4-BE49-F238E27FC236}">
                <a16:creationId xmlns:a16="http://schemas.microsoft.com/office/drawing/2014/main" id="{DB8B7D78-1E54-4AA0-9E4E-BE21FA8E84E7}"/>
              </a:ext>
            </a:extLst>
          </p:cNvPr>
          <p:cNvSpPr txBox="1"/>
          <p:nvPr/>
        </p:nvSpPr>
        <p:spPr>
          <a:xfrm>
            <a:off x="3908799" y="2066541"/>
            <a:ext cx="1945052" cy="923330"/>
          </a:xfrm>
          <a:prstGeom prst="rect">
            <a:avLst/>
          </a:prstGeom>
          <a:noFill/>
          <a:ln>
            <a:noFill/>
          </a:ln>
        </p:spPr>
        <p:txBody>
          <a:bodyPr wrap="square">
            <a:spAutoFit/>
          </a:bodyPr>
          <a:lstStyle/>
          <a:p>
            <a:r>
              <a:rPr lang="zh-TW" altLang="en-US" sz="5400" b="1">
                <a:solidFill>
                  <a:schemeClr val="bg1"/>
                </a:solidFill>
                <a:latin typeface="Quantico"/>
                <a:ea typeface="Quantico"/>
                <a:cs typeface="Quantico"/>
                <a:sym typeface="Quantico"/>
              </a:rPr>
              <a:t>背景</a:t>
            </a:r>
            <a:endParaRPr lang="zh-TW" altLang="en-US" sz="5400">
              <a:solidFill>
                <a:schemeClr val="bg1"/>
              </a:solidFill>
            </a:endParaRPr>
          </a:p>
        </p:txBody>
      </p:sp>
      <p:sp>
        <p:nvSpPr>
          <p:cNvPr id="8" name="Google Shape;487;p24">
            <a:extLst>
              <a:ext uri="{FF2B5EF4-FFF2-40B4-BE49-F238E27FC236}">
                <a16:creationId xmlns:a16="http://schemas.microsoft.com/office/drawing/2014/main" id="{A17D0743-20EB-4699-83E9-6636A0FA9D13}"/>
              </a:ext>
            </a:extLst>
          </p:cNvPr>
          <p:cNvSpPr txBox="1"/>
          <p:nvPr/>
        </p:nvSpPr>
        <p:spPr>
          <a:xfrm>
            <a:off x="839315" y="2484150"/>
            <a:ext cx="3488678"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6000">
                <a:solidFill>
                  <a:schemeClr val="dk1"/>
                </a:solidFill>
                <a:latin typeface="Quantico"/>
                <a:ea typeface="Quantico"/>
                <a:cs typeface="Quantico"/>
                <a:sym typeface="Quantico"/>
              </a:rPr>
              <a:t>{01</a:t>
            </a:r>
            <a:r>
              <a:rPr lang="en" sz="6000">
                <a:solidFill>
                  <a:schemeClr val="lt2"/>
                </a:solidFill>
                <a:latin typeface="Quantico"/>
                <a:ea typeface="Quantico"/>
                <a:cs typeface="Quantico"/>
                <a:sym typeface="Quantico"/>
              </a:rPr>
              <a:t>}</a:t>
            </a:r>
            <a:endParaRPr sz="6000">
              <a:solidFill>
                <a:schemeClr val="lt2"/>
              </a:solidFill>
              <a:latin typeface="Quantico"/>
              <a:ea typeface="Quantico"/>
              <a:cs typeface="Quantico"/>
              <a:sym typeface="Quantico"/>
            </a:endParaRPr>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2407285" y="2615294"/>
            <a:ext cx="5114743"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zh-TW" altLang="en-US" sz="5400" b="1">
                <a:solidFill>
                  <a:schemeClr val="dk1"/>
                </a:solidFill>
                <a:latin typeface="微軟正黑體" panose="020B0604030504040204" pitchFamily="34" charset="-120"/>
                <a:ea typeface="微軟正黑體" panose="020B0604030504040204" pitchFamily="34" charset="-120"/>
                <a:cs typeface="Quantico"/>
                <a:sym typeface="Quantico"/>
              </a:rPr>
              <a:t>背景與動機</a:t>
            </a:r>
          </a:p>
        </p:txBody>
      </p:sp>
      <p:sp>
        <p:nvSpPr>
          <p:cNvPr id="7" name="文字方塊 6">
            <a:extLst>
              <a:ext uri="{FF2B5EF4-FFF2-40B4-BE49-F238E27FC236}">
                <a16:creationId xmlns:a16="http://schemas.microsoft.com/office/drawing/2014/main" id="{553FE203-EC97-47A3-A722-7E588A2E97B9}"/>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7" name="矩形 16">
            <a:extLst>
              <a:ext uri="{FF2B5EF4-FFF2-40B4-BE49-F238E27FC236}">
                <a16:creationId xmlns:a16="http://schemas.microsoft.com/office/drawing/2014/main" id="{1C8E7923-3107-452F-B639-5BB3967161E1}"/>
              </a:ext>
            </a:extLst>
          </p:cNvPr>
          <p:cNvSpPr/>
          <p:nvPr/>
        </p:nvSpPr>
        <p:spPr>
          <a:xfrm>
            <a:off x="397565"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593273" y="188095"/>
            <a:ext cx="1752599" cy="102598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zh-TW" altLang="en-US" sz="3300" b="1">
                <a:solidFill>
                  <a:schemeClr val="dk1"/>
                </a:solidFill>
                <a:latin typeface="微軟正黑體" panose="020B0604030504040204" pitchFamily="34" charset="-120"/>
                <a:ea typeface="微軟正黑體" panose="020B0604030504040204" pitchFamily="34" charset="-120"/>
                <a:sym typeface="Quantico"/>
              </a:rPr>
              <a:t>背景</a:t>
            </a:r>
          </a:p>
        </p:txBody>
      </p:sp>
      <p:sp>
        <p:nvSpPr>
          <p:cNvPr id="6" name="文字方塊 5">
            <a:extLst>
              <a:ext uri="{FF2B5EF4-FFF2-40B4-BE49-F238E27FC236}">
                <a16:creationId xmlns:a16="http://schemas.microsoft.com/office/drawing/2014/main" id="{6569B79A-5363-4968-8DCA-B565251E7A21}"/>
              </a:ext>
            </a:extLst>
          </p:cNvPr>
          <p:cNvSpPr txBox="1"/>
          <p:nvPr/>
        </p:nvSpPr>
        <p:spPr>
          <a:xfrm>
            <a:off x="720000" y="550386"/>
            <a:ext cx="821872" cy="600164"/>
          </a:xfrm>
          <a:prstGeom prst="rect">
            <a:avLst/>
          </a:prstGeom>
          <a:noFill/>
        </p:spPr>
        <p:txBody>
          <a:bodyPr wrap="square">
            <a:spAutoFit/>
          </a:bodyPr>
          <a:lstStyle/>
          <a:p>
            <a:r>
              <a:rPr lang="en" altLang="zh-TW" sz="3300" b="1">
                <a:solidFill>
                  <a:schemeClr val="accent2"/>
                </a:solidFill>
                <a:latin typeface="微軟正黑體" panose="020B0604030504040204" pitchFamily="34" charset="-120"/>
                <a:ea typeface="微軟正黑體" panose="020B0604030504040204" pitchFamily="34" charset="-120"/>
              </a:rPr>
              <a:t>&lt;/</a:t>
            </a:r>
            <a:r>
              <a:rPr lang="zh-TW" altLang="en-US" sz="3300" b="1">
                <a:solidFill>
                  <a:schemeClr val="accent2"/>
                </a:solidFill>
                <a:latin typeface="微軟正黑體" panose="020B0604030504040204" pitchFamily="34" charset="-120"/>
                <a:ea typeface="微軟正黑體" panose="020B0604030504040204" pitchFamily="34" charset="-120"/>
              </a:rPr>
              <a:t> </a:t>
            </a:r>
            <a:endParaRPr lang="zh-TW" altLang="en-US" sz="3300"/>
          </a:p>
        </p:txBody>
      </p:sp>
      <p:sp>
        <p:nvSpPr>
          <p:cNvPr id="10" name="Google Shape;103;p16">
            <a:extLst>
              <a:ext uri="{FF2B5EF4-FFF2-40B4-BE49-F238E27FC236}">
                <a16:creationId xmlns:a16="http://schemas.microsoft.com/office/drawing/2014/main" id="{AC5A973E-20F1-4B9E-8508-089A52808944}"/>
              </a:ext>
            </a:extLst>
          </p:cNvPr>
          <p:cNvSpPr txBox="1">
            <a:spLocks noGrp="1"/>
          </p:cNvSpPr>
          <p:nvPr>
            <p:ph type="body" idx="1"/>
          </p:nvPr>
        </p:nvSpPr>
        <p:spPr>
          <a:xfrm>
            <a:off x="1071182" y="2115292"/>
            <a:ext cx="7044118" cy="1528877"/>
          </a:xfrm>
          <a:prstGeom prst="rect">
            <a:avLst/>
          </a:prstGeom>
        </p:spPr>
        <p:txBody>
          <a:bodyPr spcFirstLastPara="1" wrap="square" lIns="91425" tIns="91425" rIns="91425" bIns="91425" anchor="t" anchorCtr="0">
            <a:noAutofit/>
          </a:bodyPr>
          <a:lstStyle/>
          <a:p>
            <a:pPr lvl="0" algn="just" rtl="0">
              <a:lnSpc>
                <a:spcPct val="150000"/>
              </a:lnSpc>
              <a:spcBef>
                <a:spcPts val="0"/>
              </a:spcBef>
              <a:spcAft>
                <a:spcPts val="1200"/>
              </a:spcAft>
              <a:buSzPts val="1200"/>
              <a:buFont typeface="Wingdings" panose="05000000000000000000" pitchFamily="2" charset="2"/>
              <a:buChar char="ü"/>
            </a:pPr>
            <a:r>
              <a:rPr lang="zh-TW" altLang="en-US" sz="2000">
                <a:latin typeface="微軟正黑體" panose="020B0604030504040204" pitchFamily="34" charset="-120"/>
                <a:ea typeface="微軟正黑體" panose="020B0604030504040204" pitchFamily="34" charset="-120"/>
              </a:rPr>
              <a:t>程式設計是現代社會不可或缺的一部分</a:t>
            </a:r>
            <a:endParaRPr lang="en-US" altLang="zh-TW" sz="2000">
              <a:latin typeface="微軟正黑體" panose="020B0604030504040204" pitchFamily="34" charset="-120"/>
              <a:ea typeface="微軟正黑體" panose="020B0604030504040204" pitchFamily="34" charset="-120"/>
            </a:endParaRPr>
          </a:p>
          <a:p>
            <a:pPr algn="just">
              <a:lnSpc>
                <a:spcPct val="150000"/>
              </a:lnSpc>
              <a:spcAft>
                <a:spcPts val="1200"/>
              </a:spcAft>
              <a:buFont typeface="Wingdings" panose="05000000000000000000" pitchFamily="2" charset="2"/>
              <a:buChar char="ü"/>
            </a:pPr>
            <a:r>
              <a:rPr lang="zh-TW" altLang="en-US" sz="2000">
                <a:latin typeface="微軟正黑體" panose="020B0604030504040204" pitchFamily="34" charset="-120"/>
                <a:ea typeface="微軟正黑體" panose="020B0604030504040204" pitchFamily="34" charset="-120"/>
              </a:rPr>
              <a:t>具備良好的解題能力成為進入高科技行業的必要條件之一</a:t>
            </a:r>
            <a:endParaRPr lang="en-US" altLang="zh-TW" sz="2000">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49BE2F15-5D39-4B4F-978B-1804C85934F1}"/>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5</a:t>
            </a:fld>
            <a:endParaRPr lang="zh-TW" altLang="en-US">
              <a:solidFill>
                <a:schemeClr val="tx1"/>
              </a:solidFill>
            </a:endParaRPr>
          </a:p>
        </p:txBody>
      </p:sp>
      <p:sp>
        <p:nvSpPr>
          <p:cNvPr id="2" name="文字方塊 1">
            <a:extLst>
              <a:ext uri="{FF2B5EF4-FFF2-40B4-BE49-F238E27FC236}">
                <a16:creationId xmlns:a16="http://schemas.microsoft.com/office/drawing/2014/main" id="{31702922-FABB-AE4A-1EA5-3C0C00DAD825}"/>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spTree>
    <p:extLst>
      <p:ext uri="{BB962C8B-B14F-4D97-AF65-F5344CB8AC3E}">
        <p14:creationId xmlns:p14="http://schemas.microsoft.com/office/powerpoint/2010/main" val="39239617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720000" y="539500"/>
            <a:ext cx="7704000" cy="99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tx2"/>
                </a:solidFill>
                <a:latin typeface="微軟正黑體" panose="020B0604030504040204" pitchFamily="34" charset="-120"/>
                <a:ea typeface="微軟正黑體" panose="020B0604030504040204" pitchFamily="34" charset="-120"/>
              </a:rPr>
              <a:t>&lt;/</a:t>
            </a:r>
            <a:r>
              <a:rPr lang="zh-TW" altLang="en-US" b="1">
                <a:solidFill>
                  <a:schemeClr val="accent2"/>
                </a:solidFill>
                <a:latin typeface="微軟正黑體" panose="020B0604030504040204" pitchFamily="34" charset="-120"/>
                <a:ea typeface="微軟正黑體" panose="020B0604030504040204" pitchFamily="34" charset="-120"/>
              </a:rPr>
              <a:t> </a:t>
            </a:r>
            <a:r>
              <a:rPr lang="zh-TW" altLang="en-US" b="1">
                <a:latin typeface="微軟正黑體" panose="020B0604030504040204" pitchFamily="34" charset="-120"/>
                <a:ea typeface="微軟正黑體" panose="020B0604030504040204" pitchFamily="34" charset="-120"/>
              </a:rPr>
              <a:t>動機</a:t>
            </a:r>
          </a:p>
        </p:txBody>
      </p:sp>
      <p:sp>
        <p:nvSpPr>
          <p:cNvPr id="4" name="文字方塊 3">
            <a:extLst>
              <a:ext uri="{FF2B5EF4-FFF2-40B4-BE49-F238E27FC236}">
                <a16:creationId xmlns:a16="http://schemas.microsoft.com/office/drawing/2014/main" id="{A9A42B88-9735-8ABE-4C96-4E7EF248CCE4}"/>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6</a:t>
            </a:fld>
            <a:endParaRPr lang="zh-TW" altLang="en-US">
              <a:solidFill>
                <a:schemeClr val="tx1"/>
              </a:solidFill>
            </a:endParaRPr>
          </a:p>
        </p:txBody>
      </p:sp>
      <p:sp>
        <p:nvSpPr>
          <p:cNvPr id="7" name="矩形 6">
            <a:extLst>
              <a:ext uri="{FF2B5EF4-FFF2-40B4-BE49-F238E27FC236}">
                <a16:creationId xmlns:a16="http://schemas.microsoft.com/office/drawing/2014/main" id="{C9C92CD7-ABC8-476B-A1A7-9B01E4B776B1}"/>
              </a:ext>
            </a:extLst>
          </p:cNvPr>
          <p:cNvSpPr/>
          <p:nvPr/>
        </p:nvSpPr>
        <p:spPr>
          <a:xfrm>
            <a:off x="397565"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5EF73BE3-54EE-8C9B-2D53-99485E949FA2}"/>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pic>
        <p:nvPicPr>
          <p:cNvPr id="10" name="圖片 9" descr="一張含有 文字, 字型, 圖形, 標誌 的圖片&#10;&#10;自動產生的描述">
            <a:extLst>
              <a:ext uri="{FF2B5EF4-FFF2-40B4-BE49-F238E27FC236}">
                <a16:creationId xmlns:a16="http://schemas.microsoft.com/office/drawing/2014/main" id="{3C16F0B5-08F4-44AF-2A17-EEB741411BCD}"/>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0000" b="90000" l="18855" r="82347">
                        <a14:foregroundMark x1="24333" y1="20317" x2="26000" y2="54762"/>
                        <a14:foregroundMark x1="26000" y1="54762" x2="26083" y2="54921"/>
                        <a14:foregroundMark x1="24083" y1="23810" x2="24500" y2="19206"/>
                        <a14:foregroundMark x1="23667" y1="23333" x2="25167" y2="56508"/>
                        <a14:foregroundMark x1="25167" y1="56508" x2="32750" y2="71905"/>
                        <a14:foregroundMark x1="30083" y1="37778" x2="59667" y2="37619"/>
                        <a14:foregroundMark x1="59667" y1="37619" x2="69500" y2="38095"/>
                        <a14:foregroundMark x1="31833" y1="34762" x2="64750" y2="42540"/>
                        <a14:foregroundMark x1="68917" y1="41270" x2="69667" y2="43016"/>
                        <a14:foregroundMark x1="60500" y1="39524" x2="69667" y2="38889"/>
                        <a14:foregroundMark x1="69667" y1="40159" x2="69000" y2="33016"/>
                        <a14:foregroundMark x1="67750" y1="30000" x2="63917" y2="27143"/>
                        <a14:foregroundMark x1="64333" y1="27619" x2="61500" y2="39206"/>
                        <a14:foregroundMark x1="60667" y1="39524" x2="61250" y2="32222"/>
                        <a14:foregroundMark x1="51250" y1="26667" x2="52083" y2="45873"/>
                        <a14:foregroundMark x1="51667" y1="27460" x2="54417" y2="35238"/>
                        <a14:foregroundMark x1="52333" y1="27778" x2="56417" y2="28889"/>
                        <a14:foregroundMark x1="38833" y1="26984" x2="47250" y2="30635"/>
                        <a14:foregroundMark x1="42333" y1="27778" x2="47583" y2="30000"/>
                        <a14:foregroundMark x1="41750" y1="34444" x2="47917" y2="41905"/>
                        <a14:foregroundMark x1="41250" y1="38413" x2="41250" y2="45714"/>
                        <a14:foregroundMark x1="30250" y1="32540" x2="33417" y2="34444"/>
                        <a14:foregroundMark x1="34750" y1="35873" x2="36667" y2="28254"/>
                        <a14:foregroundMark x1="36417" y1="27937" x2="30167" y2="30635"/>
                        <a14:foregroundMark x1="30333" y1="31270" x2="36333" y2="28095"/>
                        <a14:foregroundMark x1="30750" y1="28571" x2="31167" y2="26984"/>
                        <a14:foregroundMark x1="33167" y1="38413" x2="30667" y2="44286"/>
                        <a14:foregroundMark x1="31167" y1="46190" x2="36750" y2="45556"/>
                        <a14:foregroundMark x1="36333" y1="55238" x2="36500" y2="65397"/>
                        <a14:foregroundMark x1="38667" y1="55079" x2="39750" y2="70000"/>
                        <a14:foregroundMark x1="40167" y1="70159" x2="42667" y2="67460"/>
                        <a14:foregroundMark x1="45500" y1="55873" x2="46417" y2="70317"/>
                        <a14:foregroundMark x1="45667" y1="55397" x2="51500" y2="63016"/>
                        <a14:foregroundMark x1="47333" y1="54286" x2="51167" y2="58889"/>
                        <a14:foregroundMark x1="59917" y1="56508" x2="57417" y2="62540"/>
                        <a14:foregroundMark x1="59917" y1="56349" x2="56000" y2="54603"/>
                        <a14:foregroundMark x1="56417" y1="54603" x2="54000" y2="62540"/>
                        <a14:foregroundMark x1="53333" y1="60317" x2="53667" y2="65714"/>
                        <a14:foregroundMark x1="56167" y1="68730" x2="59667" y2="68095"/>
                        <a14:foregroundMark x1="62500" y1="55397" x2="66500" y2="55397"/>
                        <a14:foregroundMark x1="62417" y1="56032" x2="62750" y2="66032"/>
                        <a14:foregroundMark x1="62583" y1="66032" x2="66333" y2="68571"/>
                        <a14:foregroundMark x1="74917" y1="18413" x2="77000" y2="30317"/>
                        <a14:foregroundMark x1="76750" y1="28889" x2="76083" y2="49524"/>
                        <a14:foregroundMark x1="76167" y1="41746" x2="72250" y2="59048"/>
                        <a14:foregroundMark x1="76083" y1="47937" x2="72250" y2="62381"/>
                        <a14:foregroundMark x1="72917" y1="61587" x2="64000" y2="75714"/>
                        <a14:foregroundMark x1="71750" y1="64921" x2="62583" y2="79048"/>
                        <a14:foregroundMark x1="65417" y1="76349" x2="52917" y2="83492"/>
                        <a14:foregroundMark x1="63750" y1="79524" x2="53583" y2="85397"/>
                        <a14:foregroundMark x1="55250" y1="84444" x2="43750" y2="83651"/>
                        <a14:foregroundMark x1="47500" y1="85397" x2="36083" y2="75714"/>
                        <a14:foregroundMark x1="45000" y1="85397" x2="36000" y2="78413"/>
                        <a14:foregroundMark x1="44000" y1="84444" x2="28750" y2="65397"/>
                        <a14:foregroundMark x1="28750" y1="65397" x2="28083" y2="63651"/>
                        <a14:foregroundMark x1="24667" y1="53968" x2="22000" y2="27778"/>
                        <a14:foregroundMark x1="35083" y1="79683" x2="36750" y2="82063"/>
                        <a14:foregroundMark x1="37250" y1="82222" x2="42417" y2="84286"/>
                        <a14:foregroundMark x1="41583" y1="85238" x2="45333" y2="86190"/>
                        <a14:foregroundMark x1="45583" y1="87143" x2="48750" y2="87460"/>
                        <a14:foregroundMark x1="49083" y1="87619" x2="55000" y2="85238"/>
                        <a14:foregroundMark x1="76750" y1="50476" x2="74667" y2="58254"/>
                        <a14:foregroundMark x1="75500" y1="55397" x2="71333" y2="66667"/>
                        <a14:foregroundMark x1="74167" y1="60635" x2="67083" y2="71429"/>
                        <a14:backgroundMark x1="75833" y1="60317" x2="75583" y2="62222"/>
                      </a14:backgroundRemoval>
                    </a14:imgEffect>
                  </a14:imgLayer>
                </a14:imgProps>
              </a:ext>
            </a:extLst>
          </a:blip>
          <a:srcRect l="14851" r="18893" b="3781"/>
          <a:stretch/>
        </p:blipFill>
        <p:spPr>
          <a:xfrm>
            <a:off x="1274190" y="2124729"/>
            <a:ext cx="1356121" cy="1033952"/>
          </a:xfrm>
          <a:prstGeom prst="rect">
            <a:avLst/>
          </a:prstGeom>
        </p:spPr>
      </p:pic>
      <p:sp>
        <p:nvSpPr>
          <p:cNvPr id="13" name="Google Shape;489;p24">
            <a:extLst>
              <a:ext uri="{FF2B5EF4-FFF2-40B4-BE49-F238E27FC236}">
                <a16:creationId xmlns:a16="http://schemas.microsoft.com/office/drawing/2014/main" id="{63FD281F-7383-2F97-010F-569C58F6167C}"/>
              </a:ext>
            </a:extLst>
          </p:cNvPr>
          <p:cNvSpPr txBox="1"/>
          <p:nvPr/>
        </p:nvSpPr>
        <p:spPr>
          <a:xfrm>
            <a:off x="2867375" y="2124729"/>
            <a:ext cx="609601" cy="1033952"/>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altLang="zh-TW" sz="5400" b="1">
                <a:solidFill>
                  <a:schemeClr val="dk1"/>
                </a:solidFill>
                <a:latin typeface="微軟正黑體" panose="020B0604030504040204" pitchFamily="34" charset="-120"/>
                <a:ea typeface="微軟正黑體" panose="020B0604030504040204" pitchFamily="34" charset="-120"/>
                <a:cs typeface="Quantico"/>
                <a:sym typeface="Quantico"/>
              </a:rPr>
              <a:t>+</a:t>
            </a:r>
            <a:endParaRPr lang="zh-TW" altLang="en-US" sz="5400" b="1">
              <a:solidFill>
                <a:schemeClr val="dk1"/>
              </a:solidFill>
              <a:latin typeface="微軟正黑體" panose="020B0604030504040204" pitchFamily="34" charset="-120"/>
              <a:ea typeface="微軟正黑體" panose="020B0604030504040204" pitchFamily="34" charset="-120"/>
              <a:cs typeface="Quantico"/>
              <a:sym typeface="Quantico"/>
            </a:endParaRPr>
          </a:p>
        </p:txBody>
      </p:sp>
      <p:sp>
        <p:nvSpPr>
          <p:cNvPr id="14" name="Google Shape;489;p24">
            <a:extLst>
              <a:ext uri="{FF2B5EF4-FFF2-40B4-BE49-F238E27FC236}">
                <a16:creationId xmlns:a16="http://schemas.microsoft.com/office/drawing/2014/main" id="{4DB8A19E-EF17-66D0-7B1C-878508062F08}"/>
              </a:ext>
            </a:extLst>
          </p:cNvPr>
          <p:cNvSpPr txBox="1"/>
          <p:nvPr/>
        </p:nvSpPr>
        <p:spPr>
          <a:xfrm>
            <a:off x="5349055" y="2124729"/>
            <a:ext cx="609601" cy="1033952"/>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altLang="zh-TW" sz="5400" b="1">
                <a:solidFill>
                  <a:schemeClr val="dk1"/>
                </a:solidFill>
                <a:latin typeface="微軟正黑體" panose="020B0604030504040204" pitchFamily="34" charset="-120"/>
                <a:ea typeface="微軟正黑體" panose="020B0604030504040204" pitchFamily="34" charset="-120"/>
                <a:cs typeface="Quantico"/>
                <a:sym typeface="Quantico"/>
              </a:rPr>
              <a:t>=</a:t>
            </a:r>
            <a:endParaRPr lang="zh-TW" altLang="en-US" sz="5400" b="1">
              <a:solidFill>
                <a:schemeClr val="dk1"/>
              </a:solidFill>
              <a:latin typeface="微軟正黑體" panose="020B0604030504040204" pitchFamily="34" charset="-120"/>
              <a:ea typeface="微軟正黑體" panose="020B0604030504040204" pitchFamily="34" charset="-120"/>
              <a:cs typeface="Quantico"/>
              <a:sym typeface="Quantico"/>
            </a:endParaRPr>
          </a:p>
        </p:txBody>
      </p:sp>
      <p:pic>
        <p:nvPicPr>
          <p:cNvPr id="15" name="圖片 14">
            <a:extLst>
              <a:ext uri="{FF2B5EF4-FFF2-40B4-BE49-F238E27FC236}">
                <a16:creationId xmlns:a16="http://schemas.microsoft.com/office/drawing/2014/main" id="{87CE915B-531A-7AAE-4E2A-A48489A82538}"/>
              </a:ext>
            </a:extLst>
          </p:cNvPr>
          <p:cNvPicPr>
            <a:picLocks noChangeAspect="1"/>
          </p:cNvPicPr>
          <p:nvPr/>
        </p:nvPicPr>
        <p:blipFill>
          <a:blip r:embed="rId5"/>
          <a:stretch>
            <a:fillRect/>
          </a:stretch>
        </p:blipFill>
        <p:spPr>
          <a:xfrm>
            <a:off x="6385729" y="1966069"/>
            <a:ext cx="1356121" cy="1237768"/>
          </a:xfrm>
          <a:prstGeom prst="rect">
            <a:avLst/>
          </a:prstGeom>
        </p:spPr>
      </p:pic>
      <p:pic>
        <p:nvPicPr>
          <p:cNvPr id="17" name="圖片 16" descr="一張含有 標誌, 圖形, 電子藍, 字型 的圖片">
            <a:extLst>
              <a:ext uri="{FF2B5EF4-FFF2-40B4-BE49-F238E27FC236}">
                <a16:creationId xmlns:a16="http://schemas.microsoft.com/office/drawing/2014/main" id="{0C4BD55C-2274-9AF0-8911-9CBB478B7F5C}"/>
              </a:ext>
            </a:extLst>
          </p:cNvPr>
          <p:cNvPicPr>
            <a:picLocks noChangeAspect="1"/>
          </p:cNvPicPr>
          <p:nvPr/>
        </p:nvPicPr>
        <p:blipFill>
          <a:blip r:embed="rId6"/>
          <a:stretch>
            <a:fillRect/>
          </a:stretch>
        </p:blipFill>
        <p:spPr>
          <a:xfrm>
            <a:off x="4020839" y="2227297"/>
            <a:ext cx="886073" cy="886073"/>
          </a:xfrm>
          <a:prstGeom prst="rect">
            <a:avLst/>
          </a:prstGeom>
        </p:spPr>
      </p:pic>
      <p:sp>
        <p:nvSpPr>
          <p:cNvPr id="20" name="Google Shape;489;p24">
            <a:extLst>
              <a:ext uri="{FF2B5EF4-FFF2-40B4-BE49-F238E27FC236}">
                <a16:creationId xmlns:a16="http://schemas.microsoft.com/office/drawing/2014/main" id="{7BC967BD-E1EE-C31E-0E0B-EFE0A80CD7F6}"/>
              </a:ext>
            </a:extLst>
          </p:cNvPr>
          <p:cNvSpPr txBox="1"/>
          <p:nvPr/>
        </p:nvSpPr>
        <p:spPr>
          <a:xfrm>
            <a:off x="1131927" y="3408587"/>
            <a:ext cx="1640645" cy="505630"/>
          </a:xfrm>
          <a:prstGeom prst="rect">
            <a:avLst/>
          </a:prstGeom>
          <a:noFill/>
          <a:ln>
            <a:noFill/>
          </a:ln>
        </p:spPr>
        <p:txBody>
          <a:bodyPr spcFirstLastPara="1" wrap="square" lIns="91425" tIns="91425" rIns="91425" bIns="91425" anchor="b" anchorCtr="0">
            <a:noAutofit/>
          </a:bodyPr>
          <a:lstStyle/>
          <a:p>
            <a:pPr lvl="0" algn="r"/>
            <a:r>
              <a:rPr lang="zh-TW" altLang="en-US" sz="1800" b="1">
                <a:solidFill>
                  <a:schemeClr val="dk1"/>
                </a:solidFill>
                <a:latin typeface="微軟正黑體" panose="020B0604030504040204" pitchFamily="34" charset="-120"/>
                <a:ea typeface="微軟正黑體" panose="020B0604030504040204" pitchFamily="34" charset="-120"/>
                <a:cs typeface="Quantico"/>
                <a:sym typeface="Quantico"/>
              </a:rPr>
              <a:t>多樣化的題目</a:t>
            </a:r>
          </a:p>
        </p:txBody>
      </p:sp>
      <p:sp>
        <p:nvSpPr>
          <p:cNvPr id="21" name="Google Shape;489;p24">
            <a:extLst>
              <a:ext uri="{FF2B5EF4-FFF2-40B4-BE49-F238E27FC236}">
                <a16:creationId xmlns:a16="http://schemas.microsoft.com/office/drawing/2014/main" id="{B159C6D9-1DBC-DB70-B004-EA8798FD8F10}"/>
              </a:ext>
            </a:extLst>
          </p:cNvPr>
          <p:cNvSpPr txBox="1"/>
          <p:nvPr/>
        </p:nvSpPr>
        <p:spPr>
          <a:xfrm>
            <a:off x="3554102" y="3500664"/>
            <a:ext cx="1819546" cy="505630"/>
          </a:xfrm>
          <a:prstGeom prst="rect">
            <a:avLst/>
          </a:prstGeom>
          <a:noFill/>
          <a:ln>
            <a:noFill/>
          </a:ln>
        </p:spPr>
        <p:txBody>
          <a:bodyPr spcFirstLastPara="1" wrap="square" lIns="91425" tIns="91425" rIns="91425" bIns="91425" anchor="b" anchorCtr="0">
            <a:noAutofit/>
          </a:bodyPr>
          <a:lstStyle/>
          <a:p>
            <a:pPr lvl="0" algn="ctr"/>
            <a:r>
              <a:rPr lang="zh-TW" altLang="en-US" sz="1800" b="1">
                <a:solidFill>
                  <a:schemeClr val="dk1"/>
                </a:solidFill>
                <a:latin typeface="微軟正黑體" panose="020B0604030504040204" pitchFamily="34" charset="-120"/>
                <a:ea typeface="微軟正黑體" panose="020B0604030504040204" pitchFamily="34" charset="-120"/>
                <a:cs typeface="Quantico"/>
                <a:sym typeface="Quantico"/>
              </a:rPr>
              <a:t>先進的</a:t>
            </a:r>
            <a:endParaRPr lang="en-US" altLang="zh-TW" sz="1800" b="1">
              <a:solidFill>
                <a:schemeClr val="dk1"/>
              </a:solidFill>
              <a:latin typeface="微軟正黑體" panose="020B0604030504040204" pitchFamily="34" charset="-120"/>
              <a:ea typeface="微軟正黑體" panose="020B0604030504040204" pitchFamily="34" charset="-120"/>
              <a:cs typeface="Quantico"/>
              <a:sym typeface="Quantico"/>
            </a:endParaRPr>
          </a:p>
          <a:p>
            <a:pPr lvl="0" algn="ctr"/>
            <a:r>
              <a:rPr lang="zh-TW" altLang="en-US" sz="1800" b="1">
                <a:solidFill>
                  <a:schemeClr val="dk1"/>
                </a:solidFill>
                <a:latin typeface="微軟正黑體" panose="020B0604030504040204" pitchFamily="34" charset="-120"/>
                <a:ea typeface="微軟正黑體" panose="020B0604030504040204" pitchFamily="34" charset="-120"/>
                <a:cs typeface="Quantico"/>
                <a:sym typeface="Quantico"/>
              </a:rPr>
              <a:t>程式碼比對工具</a:t>
            </a:r>
          </a:p>
        </p:txBody>
      </p:sp>
      <p:sp>
        <p:nvSpPr>
          <p:cNvPr id="22" name="Google Shape;489;p24">
            <a:extLst>
              <a:ext uri="{FF2B5EF4-FFF2-40B4-BE49-F238E27FC236}">
                <a16:creationId xmlns:a16="http://schemas.microsoft.com/office/drawing/2014/main" id="{08B5876F-75B7-C185-D94A-8795CE4C0084}"/>
              </a:ext>
            </a:extLst>
          </p:cNvPr>
          <p:cNvSpPr txBox="1"/>
          <p:nvPr/>
        </p:nvSpPr>
        <p:spPr>
          <a:xfrm>
            <a:off x="6348821" y="3491347"/>
            <a:ext cx="1429936" cy="505630"/>
          </a:xfrm>
          <a:prstGeom prst="rect">
            <a:avLst/>
          </a:prstGeom>
          <a:noFill/>
          <a:ln>
            <a:noFill/>
          </a:ln>
        </p:spPr>
        <p:txBody>
          <a:bodyPr spcFirstLastPara="1" wrap="square" lIns="91425" tIns="91425" rIns="91425" bIns="91425" anchor="b" anchorCtr="0">
            <a:noAutofit/>
          </a:bodyPr>
          <a:lstStyle/>
          <a:p>
            <a:pPr lvl="0" algn="r"/>
            <a:r>
              <a:rPr lang="zh-TW" altLang="en-US" sz="1800" b="1">
                <a:solidFill>
                  <a:schemeClr val="dk1"/>
                </a:solidFill>
                <a:latin typeface="微軟正黑體" panose="020B0604030504040204" pitchFamily="34" charset="-120"/>
                <a:ea typeface="微軟正黑體" panose="020B0604030504040204" pitchFamily="34" charset="-120"/>
                <a:cs typeface="Quantico"/>
                <a:sym typeface="Quantico"/>
              </a:rPr>
              <a:t>強大且有效的學習工具</a:t>
            </a:r>
          </a:p>
        </p:txBody>
      </p:sp>
    </p:spTree>
    <p:extLst>
      <p:ext uri="{BB962C8B-B14F-4D97-AF65-F5344CB8AC3E}">
        <p14:creationId xmlns:p14="http://schemas.microsoft.com/office/powerpoint/2010/main" val="11348791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10DC4735-EE83-DA7A-815C-A6ECC6B6A017}"/>
            </a:ext>
          </a:extLst>
        </p:cNvPr>
        <p:cNvGrpSpPr/>
        <p:nvPr/>
      </p:nvGrpSpPr>
      <p:grpSpPr>
        <a:xfrm>
          <a:off x="0" y="0"/>
          <a:ext cx="0" cy="0"/>
          <a:chOff x="0" y="0"/>
          <a:chExt cx="0" cy="0"/>
        </a:xfrm>
      </p:grpSpPr>
      <p:sp>
        <p:nvSpPr>
          <p:cNvPr id="102" name="Google Shape;102;p16">
            <a:extLst>
              <a:ext uri="{FF2B5EF4-FFF2-40B4-BE49-F238E27FC236}">
                <a16:creationId xmlns:a16="http://schemas.microsoft.com/office/drawing/2014/main" id="{4215E8CB-FA33-EFBD-46BB-5E0735190A9F}"/>
              </a:ext>
            </a:extLst>
          </p:cNvPr>
          <p:cNvSpPr txBox="1">
            <a:spLocks noGrp="1"/>
          </p:cNvSpPr>
          <p:nvPr>
            <p:ph type="title"/>
          </p:nvPr>
        </p:nvSpPr>
        <p:spPr>
          <a:xfrm>
            <a:off x="720000" y="539500"/>
            <a:ext cx="7704000" cy="99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tx2"/>
                </a:solidFill>
                <a:latin typeface="微軟正黑體" panose="020B0604030504040204" pitchFamily="34" charset="-120"/>
                <a:ea typeface="微軟正黑體" panose="020B0604030504040204" pitchFamily="34" charset="-120"/>
              </a:rPr>
              <a:t>&lt;/</a:t>
            </a:r>
            <a:r>
              <a:rPr lang="zh-TW" altLang="en-US" b="1">
                <a:solidFill>
                  <a:schemeClr val="accent2"/>
                </a:solidFill>
                <a:latin typeface="微軟正黑體" panose="020B0604030504040204" pitchFamily="34" charset="-120"/>
                <a:ea typeface="微軟正黑體" panose="020B0604030504040204" pitchFamily="34" charset="-120"/>
              </a:rPr>
              <a:t> </a:t>
            </a:r>
            <a:r>
              <a:rPr lang="zh-TW" altLang="en-US" b="1">
                <a:latin typeface="微軟正黑體" panose="020B0604030504040204" pitchFamily="34" charset="-120"/>
                <a:ea typeface="微軟正黑體" panose="020B0604030504040204" pitchFamily="34" charset="-120"/>
              </a:rPr>
              <a:t>動機</a:t>
            </a:r>
          </a:p>
        </p:txBody>
      </p:sp>
      <p:sp>
        <p:nvSpPr>
          <p:cNvPr id="103" name="Google Shape;103;p16">
            <a:extLst>
              <a:ext uri="{FF2B5EF4-FFF2-40B4-BE49-F238E27FC236}">
                <a16:creationId xmlns:a16="http://schemas.microsoft.com/office/drawing/2014/main" id="{111E2BCA-7450-80AC-CC55-434BE907EC1B}"/>
              </a:ext>
            </a:extLst>
          </p:cNvPr>
          <p:cNvSpPr txBox="1">
            <a:spLocks noGrp="1"/>
          </p:cNvSpPr>
          <p:nvPr>
            <p:ph type="body" idx="1"/>
          </p:nvPr>
        </p:nvSpPr>
        <p:spPr>
          <a:xfrm>
            <a:off x="730727" y="2340917"/>
            <a:ext cx="7682545" cy="461665"/>
          </a:xfrm>
          <a:prstGeom prst="rect">
            <a:avLst/>
          </a:prstGeom>
        </p:spPr>
        <p:txBody>
          <a:bodyPr spcFirstLastPara="1" wrap="square" lIns="91425" tIns="91425" rIns="91425" bIns="91425" anchor="t" anchorCtr="0">
            <a:noAutofit/>
          </a:bodyPr>
          <a:lstStyle/>
          <a:p>
            <a:pPr marL="152400" lvl="0" indent="0" algn="just" rtl="0">
              <a:lnSpc>
                <a:spcPct val="150000"/>
              </a:lnSpc>
              <a:spcBef>
                <a:spcPts val="0"/>
              </a:spcBef>
              <a:spcAft>
                <a:spcPts val="0"/>
              </a:spcAft>
              <a:buSzPts val="1200"/>
              <a:buNone/>
            </a:pPr>
            <a:r>
              <a:rPr lang="zh-TW" altLang="en-US" sz="2400">
                <a:latin typeface="微軟正黑體" panose="020B0604030504040204" pitchFamily="34" charset="-120"/>
                <a:ea typeface="微軟正黑體" panose="020B0604030504040204" pitchFamily="34" charset="-120"/>
              </a:rPr>
              <a:t>輕鬆、有趣地學習程式設計，提升自己的程式技術水平</a:t>
            </a:r>
            <a:endParaRPr lang="en-US" sz="240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4785886A-31BE-F55F-AD0E-FA88062789E6}"/>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7</a:t>
            </a:fld>
            <a:endParaRPr lang="zh-TW" altLang="en-US">
              <a:solidFill>
                <a:schemeClr val="tx1"/>
              </a:solidFill>
            </a:endParaRPr>
          </a:p>
        </p:txBody>
      </p:sp>
      <p:sp>
        <p:nvSpPr>
          <p:cNvPr id="7" name="矩形 6">
            <a:extLst>
              <a:ext uri="{FF2B5EF4-FFF2-40B4-BE49-F238E27FC236}">
                <a16:creationId xmlns:a16="http://schemas.microsoft.com/office/drawing/2014/main" id="{FE36E318-7231-5FC4-3458-29316F3EE030}"/>
              </a:ext>
            </a:extLst>
          </p:cNvPr>
          <p:cNvSpPr/>
          <p:nvPr/>
        </p:nvSpPr>
        <p:spPr>
          <a:xfrm>
            <a:off x="397565"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77D92588-E0E8-8FFE-7EBD-5DE7BBFF2484}"/>
              </a:ext>
            </a:extLst>
          </p:cNvPr>
          <p:cNvSpPr txBox="1"/>
          <p:nvPr/>
        </p:nvSpPr>
        <p:spPr>
          <a:xfrm>
            <a:off x="2633007" y="2005505"/>
            <a:ext cx="3877985" cy="1132490"/>
          </a:xfrm>
          <a:prstGeom prst="rect">
            <a:avLst/>
          </a:prstGeom>
          <a:noFill/>
        </p:spPr>
        <p:txBody>
          <a:bodyPr wrap="none" rtlCol="0">
            <a:spAutoFit/>
          </a:bodyPr>
          <a:lstStyle/>
          <a:p>
            <a:pPr algn="ctr">
              <a:lnSpc>
                <a:spcPct val="150000"/>
              </a:lnSpc>
            </a:pPr>
            <a:r>
              <a:rPr lang="zh-TW" altLang="en-US" sz="2400">
                <a:solidFill>
                  <a:schemeClr val="tx1"/>
                </a:solidFill>
                <a:latin typeface="微軟正黑體" panose="020B0604030504040204" pitchFamily="34" charset="-120"/>
                <a:ea typeface="微軟正黑體" panose="020B0604030504040204" pitchFamily="34" charset="-120"/>
              </a:rPr>
              <a:t>建構</a:t>
            </a:r>
            <a:r>
              <a:rPr lang="en-US" altLang="zh-TW" sz="2400" b="1" err="1">
                <a:solidFill>
                  <a:srgbClr val="FFC000"/>
                </a:solidFill>
                <a:latin typeface="Quantico" panose="02020500000000000000" charset="0"/>
              </a:rPr>
              <a:t>CodeAlchemy</a:t>
            </a:r>
            <a:r>
              <a:rPr lang="zh-TW" altLang="en-US" sz="2400">
                <a:solidFill>
                  <a:schemeClr val="tx1"/>
                </a:solidFill>
                <a:latin typeface="微軟正黑體" panose="020B0604030504040204" pitchFamily="34" charset="-120"/>
                <a:ea typeface="微軟正黑體" panose="020B0604030504040204" pitchFamily="34" charset="-120"/>
              </a:rPr>
              <a:t>平台</a:t>
            </a:r>
            <a:endParaRPr lang="en-US" altLang="zh-TW" sz="2400">
              <a:solidFill>
                <a:schemeClr val="tx1"/>
              </a:solidFill>
              <a:latin typeface="微軟正黑體" panose="020B0604030504040204" pitchFamily="34" charset="-120"/>
              <a:ea typeface="微軟正黑體" panose="020B0604030504040204" pitchFamily="34" charset="-120"/>
            </a:endParaRPr>
          </a:p>
          <a:p>
            <a:pPr algn="ctr">
              <a:lnSpc>
                <a:spcPct val="150000"/>
              </a:lnSpc>
            </a:pPr>
            <a:r>
              <a:rPr lang="zh-TW" altLang="en-US" sz="2400">
                <a:solidFill>
                  <a:schemeClr val="tx1"/>
                </a:solidFill>
                <a:latin typeface="微軟正黑體" panose="020B0604030504040204" pitchFamily="34" charset="-120"/>
                <a:ea typeface="微軟正黑體" panose="020B0604030504040204" pitchFamily="34" charset="-120"/>
              </a:rPr>
              <a:t>完善現有程式設計學習資源</a:t>
            </a:r>
            <a:endParaRPr lang="en-US" altLang="zh-TW" sz="2400">
              <a:solidFill>
                <a:schemeClr val="tx1"/>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536356EE-4074-D693-8536-7251559ACA9A}"/>
              </a:ext>
            </a:extLst>
          </p:cNvPr>
          <p:cNvSpPr txBox="1"/>
          <p:nvPr/>
        </p:nvSpPr>
        <p:spPr>
          <a:xfrm>
            <a:off x="2017455" y="2492726"/>
            <a:ext cx="5109091" cy="461665"/>
          </a:xfrm>
          <a:prstGeom prst="rect">
            <a:avLst/>
          </a:prstGeom>
          <a:noFill/>
        </p:spPr>
        <p:txBody>
          <a:bodyPr wrap="none" rtlCol="0">
            <a:spAutoFit/>
          </a:bodyPr>
          <a:lstStyle/>
          <a:p>
            <a:r>
              <a:rPr lang="zh-TW" altLang="en-US" sz="2400">
                <a:solidFill>
                  <a:schemeClr val="tx1"/>
                </a:solidFill>
                <a:latin typeface="微軟正黑體" panose="020B0604030504040204" pitchFamily="34" charset="-120"/>
                <a:ea typeface="微軟正黑體" panose="020B0604030504040204" pitchFamily="34" charset="-120"/>
              </a:rPr>
              <a:t>提供一個共享知識、共同成長的空間</a:t>
            </a:r>
            <a:endParaRPr lang="en-US" altLang="zh-TW" sz="2400">
              <a:solidFill>
                <a:schemeClr val="tx1"/>
              </a:solidFill>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CA8B8328-3A34-99C0-D59E-05C6A0ECC41B}"/>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spTree>
    <p:extLst>
      <p:ext uri="{BB962C8B-B14F-4D97-AF65-F5344CB8AC3E}">
        <p14:creationId xmlns:p14="http://schemas.microsoft.com/office/powerpoint/2010/main" val="5979258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03">
                                            <p:txEl>
                                              <p:pRg st="0" end="0"/>
                                            </p:txEl>
                                          </p:spTgt>
                                        </p:tgtEl>
                                        <p:attrNameLst>
                                          <p:attrName>style.visibility</p:attrName>
                                        </p:attrNameLst>
                                      </p:cBhvr>
                                      <p:to>
                                        <p:strVal val="visible"/>
                                      </p:to>
                                    </p:set>
                                    <p:animEffect transition="in" filter="fade">
                                      <p:cBhvr>
                                        <p:cTn id="20" dur="500"/>
                                        <p:tgtEl>
                                          <p:spTgt spid="1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build="p"/>
      <p:bldP spid="8" grpId="0"/>
      <p:bldP spid="8" grpId="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8" name="Google Shape;487;p24">
            <a:extLst>
              <a:ext uri="{FF2B5EF4-FFF2-40B4-BE49-F238E27FC236}">
                <a16:creationId xmlns:a16="http://schemas.microsoft.com/office/drawing/2014/main" id="{A17D0743-20EB-4699-83E9-6636A0FA9D13}"/>
              </a:ext>
            </a:extLst>
          </p:cNvPr>
          <p:cNvSpPr txBox="1"/>
          <p:nvPr/>
        </p:nvSpPr>
        <p:spPr>
          <a:xfrm>
            <a:off x="839315" y="2484150"/>
            <a:ext cx="3488678"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6000">
                <a:solidFill>
                  <a:schemeClr val="dk1"/>
                </a:solidFill>
                <a:latin typeface="Quantico"/>
                <a:ea typeface="Quantico"/>
                <a:cs typeface="Quantico"/>
                <a:sym typeface="Quantico"/>
              </a:rPr>
              <a:t>{02</a:t>
            </a:r>
            <a:r>
              <a:rPr lang="en" sz="6000">
                <a:solidFill>
                  <a:srgbClr val="92D050"/>
                </a:solidFill>
                <a:latin typeface="Quantico"/>
                <a:ea typeface="Quantico"/>
                <a:cs typeface="Quantico"/>
                <a:sym typeface="Quantico"/>
              </a:rPr>
              <a:t>}</a:t>
            </a:r>
            <a:endParaRPr sz="6000">
              <a:solidFill>
                <a:srgbClr val="92D050"/>
              </a:solidFill>
              <a:latin typeface="Quantico"/>
              <a:ea typeface="Quantico"/>
              <a:cs typeface="Quantico"/>
              <a:sym typeface="Quantico"/>
            </a:endParaRPr>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2407285" y="2615294"/>
            <a:ext cx="4461601"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zh-TW" altLang="en-US" sz="5400" b="1">
                <a:solidFill>
                  <a:schemeClr val="dk1"/>
                </a:solidFill>
                <a:latin typeface="微軟正黑體" panose="020B0604030504040204" pitchFamily="34" charset="-120"/>
                <a:ea typeface="微軟正黑體" panose="020B0604030504040204" pitchFamily="34" charset="-120"/>
                <a:cs typeface="Quantico"/>
                <a:sym typeface="Quantico"/>
              </a:rPr>
              <a:t>系統架構</a:t>
            </a:r>
          </a:p>
        </p:txBody>
      </p:sp>
      <p:sp>
        <p:nvSpPr>
          <p:cNvPr id="2" name="文字方塊 1">
            <a:extLst>
              <a:ext uri="{FF2B5EF4-FFF2-40B4-BE49-F238E27FC236}">
                <a16:creationId xmlns:a16="http://schemas.microsoft.com/office/drawing/2014/main" id="{AE809A4D-AAFC-2CCE-73E5-030CDB4036A7}"/>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spTree>
    <p:extLst>
      <p:ext uri="{BB962C8B-B14F-4D97-AF65-F5344CB8AC3E}">
        <p14:creationId xmlns:p14="http://schemas.microsoft.com/office/powerpoint/2010/main" val="37302273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7" name="矩形 6">
            <a:extLst>
              <a:ext uri="{FF2B5EF4-FFF2-40B4-BE49-F238E27FC236}">
                <a16:creationId xmlns:a16="http://schemas.microsoft.com/office/drawing/2014/main" id="{2456980E-F39C-4F4C-9AC0-CFFAEA2E4AB4}"/>
              </a:ext>
            </a:extLst>
          </p:cNvPr>
          <p:cNvSpPr/>
          <p:nvPr/>
        </p:nvSpPr>
        <p:spPr>
          <a:xfrm>
            <a:off x="397565"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Google Shape;102;p16"/>
          <p:cNvSpPr txBox="1">
            <a:spLocks noGrp="1"/>
          </p:cNvSpPr>
          <p:nvPr>
            <p:ph type="title"/>
          </p:nvPr>
        </p:nvSpPr>
        <p:spPr>
          <a:xfrm>
            <a:off x="397565" y="414984"/>
            <a:ext cx="7704000" cy="99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92D050"/>
                </a:solidFill>
                <a:latin typeface="微軟正黑體" panose="020B0604030504040204" pitchFamily="34" charset="-120"/>
                <a:ea typeface="微軟正黑體" panose="020B0604030504040204" pitchFamily="34" charset="-120"/>
              </a:rPr>
              <a:t>&lt;/</a:t>
            </a:r>
            <a:r>
              <a:rPr lang="zh-TW" altLang="en-US" b="1">
                <a:solidFill>
                  <a:srgbClr val="92D050"/>
                </a:solidFill>
                <a:latin typeface="微軟正黑體" panose="020B0604030504040204" pitchFamily="34" charset="-120"/>
                <a:ea typeface="微軟正黑體" panose="020B0604030504040204" pitchFamily="34" charset="-120"/>
              </a:rPr>
              <a:t> </a:t>
            </a:r>
            <a:r>
              <a:rPr lang="zh-TW" altLang="en-US" b="1">
                <a:latin typeface="微軟正黑體" panose="020B0604030504040204" pitchFamily="34" charset="-120"/>
                <a:ea typeface="微軟正黑體" panose="020B0604030504040204" pitchFamily="34" charset="-120"/>
              </a:rPr>
              <a:t>系統架構</a:t>
            </a:r>
          </a:p>
        </p:txBody>
      </p:sp>
      <p:sp>
        <p:nvSpPr>
          <p:cNvPr id="6" name="文字方塊 5">
            <a:extLst>
              <a:ext uri="{FF2B5EF4-FFF2-40B4-BE49-F238E27FC236}">
                <a16:creationId xmlns:a16="http://schemas.microsoft.com/office/drawing/2014/main" id="{DD3EF57F-AF44-523D-E01A-5A41EB674BE5}"/>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9</a:t>
            </a:fld>
            <a:endParaRPr lang="zh-TW" altLang="en-US">
              <a:solidFill>
                <a:schemeClr val="tx1"/>
              </a:solidFill>
            </a:endParaRPr>
          </a:p>
        </p:txBody>
      </p:sp>
      <p:sp>
        <p:nvSpPr>
          <p:cNvPr id="3" name="文字方塊 2">
            <a:extLst>
              <a:ext uri="{FF2B5EF4-FFF2-40B4-BE49-F238E27FC236}">
                <a16:creationId xmlns:a16="http://schemas.microsoft.com/office/drawing/2014/main" id="{4C01CF5B-87DC-6E4E-E6FF-6248EB0DFFC7}"/>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10956044</a:t>
            </a:r>
            <a:r>
              <a:rPr lang="zh-TW" altLang="en-US">
                <a:solidFill>
                  <a:schemeClr val="tx1"/>
                </a:solidFill>
              </a:rPr>
              <a:t> 顏子綺</a:t>
            </a:r>
            <a:endParaRPr lang="en-US" altLang="zh-TW">
              <a:solidFill>
                <a:schemeClr val="tx1"/>
              </a:solidFill>
            </a:endParaRPr>
          </a:p>
        </p:txBody>
      </p:sp>
      <p:pic>
        <p:nvPicPr>
          <p:cNvPr id="31" name="圖片 30">
            <a:extLst>
              <a:ext uri="{FF2B5EF4-FFF2-40B4-BE49-F238E27FC236}">
                <a16:creationId xmlns:a16="http://schemas.microsoft.com/office/drawing/2014/main" id="{513660A1-0F9A-F31D-B5F7-111F4998F9C7}"/>
              </a:ext>
            </a:extLst>
          </p:cNvPr>
          <p:cNvPicPr>
            <a:picLocks noChangeAspect="1"/>
          </p:cNvPicPr>
          <p:nvPr/>
        </p:nvPicPr>
        <p:blipFill>
          <a:blip r:embed="rId3"/>
          <a:stretch>
            <a:fillRect/>
          </a:stretch>
        </p:blipFill>
        <p:spPr>
          <a:xfrm>
            <a:off x="2910595" y="1152644"/>
            <a:ext cx="3322810" cy="3575872"/>
          </a:xfrm>
          <a:prstGeom prst="rect">
            <a:avLst/>
          </a:prstGeom>
        </p:spPr>
      </p:pic>
    </p:spTree>
    <p:extLst>
      <p:ext uri="{BB962C8B-B14F-4D97-AF65-F5344CB8AC3E}">
        <p14:creationId xmlns:p14="http://schemas.microsoft.com/office/powerpoint/2010/main" val="10483693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8" name="Google Shape;487;p24">
            <a:extLst>
              <a:ext uri="{FF2B5EF4-FFF2-40B4-BE49-F238E27FC236}">
                <a16:creationId xmlns:a16="http://schemas.microsoft.com/office/drawing/2014/main" id="{A17D0743-20EB-4699-83E9-6636A0FA9D13}"/>
              </a:ext>
            </a:extLst>
          </p:cNvPr>
          <p:cNvSpPr txBox="1"/>
          <p:nvPr/>
        </p:nvSpPr>
        <p:spPr>
          <a:xfrm>
            <a:off x="839315" y="2484150"/>
            <a:ext cx="3488678"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6000">
                <a:solidFill>
                  <a:schemeClr val="dk1"/>
                </a:solidFill>
                <a:latin typeface="Quantico"/>
                <a:ea typeface="Quantico"/>
                <a:cs typeface="Quantico"/>
                <a:sym typeface="Quantico"/>
              </a:rPr>
              <a:t>{0</a:t>
            </a:r>
            <a:r>
              <a:rPr lang="en-US" altLang="zh-TW" sz="6000">
                <a:solidFill>
                  <a:schemeClr val="dk1"/>
                </a:solidFill>
                <a:latin typeface="Quantico"/>
                <a:ea typeface="Quantico"/>
                <a:cs typeface="Quantico"/>
                <a:sym typeface="Quantico"/>
              </a:rPr>
              <a:t>3</a:t>
            </a:r>
            <a:r>
              <a:rPr lang="en" sz="6000">
                <a:solidFill>
                  <a:schemeClr val="accent2"/>
                </a:solidFill>
                <a:latin typeface="Quantico"/>
                <a:ea typeface="Quantico"/>
                <a:cs typeface="Quantico"/>
                <a:sym typeface="Quantico"/>
              </a:rPr>
              <a:t>}</a:t>
            </a:r>
            <a:endParaRPr sz="6000">
              <a:solidFill>
                <a:schemeClr val="accent2"/>
              </a:solidFill>
              <a:latin typeface="Quantico"/>
              <a:ea typeface="Quantico"/>
              <a:cs typeface="Quantico"/>
              <a:sym typeface="Quantico"/>
            </a:endParaRPr>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2407285" y="2615294"/>
            <a:ext cx="5071201"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altLang="zh-TW" sz="5400" b="1">
                <a:solidFill>
                  <a:schemeClr val="dk1"/>
                </a:solidFill>
                <a:latin typeface="Quantico"/>
                <a:ea typeface="Quantico"/>
                <a:cs typeface="Quantico"/>
                <a:sym typeface="Quantico"/>
              </a:rPr>
              <a:t>SWOT</a:t>
            </a:r>
            <a:r>
              <a:rPr lang="zh-TW" altLang="en-US" sz="5400" b="1">
                <a:solidFill>
                  <a:schemeClr val="dk1"/>
                </a:solidFill>
                <a:latin typeface="Quantico"/>
                <a:ea typeface="Quantico"/>
                <a:cs typeface="Quantico"/>
                <a:sym typeface="Quantico"/>
              </a:rPr>
              <a:t>分析</a:t>
            </a:r>
            <a:endParaRPr sz="5400" b="1">
              <a:solidFill>
                <a:schemeClr val="dk1"/>
              </a:solidFill>
              <a:latin typeface="Quantico"/>
              <a:ea typeface="Quantico"/>
              <a:cs typeface="Quantico"/>
              <a:sym typeface="Quantico"/>
            </a:endParaRPr>
          </a:p>
        </p:txBody>
      </p:sp>
      <p:sp>
        <p:nvSpPr>
          <p:cNvPr id="2" name="文字方塊 1">
            <a:extLst>
              <a:ext uri="{FF2B5EF4-FFF2-40B4-BE49-F238E27FC236}">
                <a16:creationId xmlns:a16="http://schemas.microsoft.com/office/drawing/2014/main" id="{556A4D9F-77C7-5A35-0349-CE4C2752943F}"/>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10956030 </a:t>
            </a:r>
            <a:r>
              <a:rPr lang="zh-TW" altLang="en-US">
                <a:solidFill>
                  <a:schemeClr val="tx1"/>
                </a:solidFill>
              </a:rPr>
              <a:t>林妤玟</a:t>
            </a:r>
            <a:endParaRPr lang="en-US" altLang="zh-TW">
              <a:solidFill>
                <a:schemeClr val="tx1"/>
              </a:solidFill>
            </a:endParaRPr>
          </a:p>
        </p:txBody>
      </p:sp>
    </p:spTree>
    <p:extLst>
      <p:ext uri="{BB962C8B-B14F-4D97-AF65-F5344CB8AC3E}">
        <p14:creationId xmlns:p14="http://schemas.microsoft.com/office/powerpoint/2010/main" val="716247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en-US" altLang="zh-TW" b="1"/>
              <a:t>SWOT</a:t>
            </a:r>
            <a:r>
              <a:rPr lang="zh-TW" altLang="en-US" b="1">
                <a:latin typeface="微軟正黑體" panose="020B0604030504040204" pitchFamily="34" charset="-120"/>
                <a:ea typeface="微軟正黑體" panose="020B0604030504040204" pitchFamily="34" charset="-120"/>
              </a:rPr>
              <a:t>分析</a:t>
            </a:r>
          </a:p>
        </p:txBody>
      </p:sp>
      <p:pic>
        <p:nvPicPr>
          <p:cNvPr id="2" name="圖片 1">
            <a:extLst>
              <a:ext uri="{FF2B5EF4-FFF2-40B4-BE49-F238E27FC236}">
                <a16:creationId xmlns:a16="http://schemas.microsoft.com/office/drawing/2014/main" id="{0155E0A2-5006-CB5F-F119-65FA21BC7BF9}"/>
              </a:ext>
            </a:extLst>
          </p:cNvPr>
          <p:cNvPicPr>
            <a:picLocks noChangeAspect="1"/>
          </p:cNvPicPr>
          <p:nvPr/>
        </p:nvPicPr>
        <p:blipFill rotWithShape="1">
          <a:blip r:embed="rId3"/>
          <a:stretch/>
        </p:blipFill>
        <p:spPr>
          <a:xfrm>
            <a:off x="720000" y="1725707"/>
            <a:ext cx="7712108" cy="2554445"/>
          </a:xfrm>
          <a:prstGeom prst="rect">
            <a:avLst/>
          </a:prstGeom>
        </p:spPr>
      </p:pic>
      <p:sp>
        <p:nvSpPr>
          <p:cNvPr id="7" name="文字方塊 6">
            <a:extLst>
              <a:ext uri="{FF2B5EF4-FFF2-40B4-BE49-F238E27FC236}">
                <a16:creationId xmlns:a16="http://schemas.microsoft.com/office/drawing/2014/main" id="{7FDF8353-997F-D829-E95B-1E1D42BB1A0D}"/>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11</a:t>
            </a:fld>
            <a:endParaRPr lang="zh-TW" altLang="en-US">
              <a:solidFill>
                <a:schemeClr val="tx1"/>
              </a:solidFill>
            </a:endParaRPr>
          </a:p>
        </p:txBody>
      </p:sp>
      <p:sp>
        <p:nvSpPr>
          <p:cNvPr id="4" name="文字方塊 3">
            <a:extLst>
              <a:ext uri="{FF2B5EF4-FFF2-40B4-BE49-F238E27FC236}">
                <a16:creationId xmlns:a16="http://schemas.microsoft.com/office/drawing/2014/main" id="{60E7EA60-FE4B-3C83-97BF-0B4FB44732C1}"/>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10956030 </a:t>
            </a:r>
            <a:r>
              <a:rPr lang="zh-TW" altLang="en-US">
                <a:solidFill>
                  <a:schemeClr val="tx1"/>
                </a:solidFill>
              </a:rPr>
              <a:t>林妤玟</a:t>
            </a:r>
            <a:endParaRPr lang="en-US" altLang="zh-TW">
              <a:solidFill>
                <a:schemeClr val="tx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en-US" altLang="zh-TW" b="1"/>
              <a:t>SWOT</a:t>
            </a:r>
            <a:r>
              <a:rPr lang="zh-TW" altLang="en-US" b="1">
                <a:latin typeface="微軟正黑體" panose="020B0604030504040204" pitchFamily="34" charset="-120"/>
                <a:ea typeface="微軟正黑體" panose="020B0604030504040204" pitchFamily="34" charset="-120"/>
              </a:rPr>
              <a:t>分析</a:t>
            </a:r>
          </a:p>
        </p:txBody>
      </p:sp>
      <p:pic>
        <p:nvPicPr>
          <p:cNvPr id="3" name="圖片 2">
            <a:extLst>
              <a:ext uri="{FF2B5EF4-FFF2-40B4-BE49-F238E27FC236}">
                <a16:creationId xmlns:a16="http://schemas.microsoft.com/office/drawing/2014/main" id="{4ECC021F-0000-64BD-55D7-9A5F50154C5A}"/>
              </a:ext>
            </a:extLst>
          </p:cNvPr>
          <p:cNvPicPr>
            <a:picLocks noChangeAspect="1"/>
          </p:cNvPicPr>
          <p:nvPr/>
        </p:nvPicPr>
        <p:blipFill rotWithShape="1">
          <a:blip r:embed="rId3"/>
          <a:srcRect l="1461" r="78779"/>
          <a:stretch/>
        </p:blipFill>
        <p:spPr>
          <a:xfrm>
            <a:off x="832624" y="1725707"/>
            <a:ext cx="1524000" cy="2554445"/>
          </a:xfrm>
          <a:prstGeom prst="rect">
            <a:avLst/>
          </a:prstGeom>
        </p:spPr>
      </p:pic>
      <p:sp>
        <p:nvSpPr>
          <p:cNvPr id="5" name="Google Shape;103;p16">
            <a:extLst>
              <a:ext uri="{FF2B5EF4-FFF2-40B4-BE49-F238E27FC236}">
                <a16:creationId xmlns:a16="http://schemas.microsoft.com/office/drawing/2014/main" id="{709DE4D2-8DD1-7079-E1B1-E35404ECAE8E}"/>
              </a:ext>
            </a:extLst>
          </p:cNvPr>
          <p:cNvSpPr txBox="1">
            <a:spLocks/>
          </p:cNvSpPr>
          <p:nvPr/>
        </p:nvSpPr>
        <p:spPr>
          <a:xfrm>
            <a:off x="2743200" y="1725707"/>
            <a:ext cx="5680800" cy="24704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rPr>
              <a:t>提供</a:t>
            </a:r>
            <a:r>
              <a:rPr lang="zh-TW" altLang="en-US" sz="1600" b="1">
                <a:solidFill>
                  <a:srgbClr val="FFC000"/>
                </a:solidFill>
              </a:rPr>
              <a:t>中文題庫</a:t>
            </a:r>
            <a:r>
              <a:rPr lang="zh-TW" altLang="en-US" sz="1600" b="1">
                <a:solidFill>
                  <a:schemeClr val="tx1"/>
                </a:solidFill>
              </a:rPr>
              <a:t>。</a:t>
            </a:r>
            <a:endParaRPr lang="en-US" altLang="zh-TW" sz="1600">
              <a:solidFill>
                <a:schemeClr val="tx1"/>
              </a:solidFill>
            </a:endParaRPr>
          </a:p>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rPr>
              <a:t>提供部分</a:t>
            </a:r>
            <a:r>
              <a:rPr lang="zh-TW" altLang="en-US" sz="1600" b="1">
                <a:solidFill>
                  <a:schemeClr val="tx2">
                    <a:lumMod val="75000"/>
                  </a:schemeClr>
                </a:solidFill>
              </a:rPr>
              <a:t>解題影片</a:t>
            </a:r>
            <a:r>
              <a:rPr lang="zh-TW" altLang="en-US" sz="1600">
                <a:solidFill>
                  <a:schemeClr val="tx1"/>
                </a:solidFill>
              </a:rPr>
              <a:t>。</a:t>
            </a:r>
            <a:endParaRPr lang="en-US" altLang="zh-TW" sz="1600">
              <a:solidFill>
                <a:schemeClr val="tx1"/>
              </a:solidFill>
            </a:endParaRPr>
          </a:p>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rPr>
              <a:t>利用</a:t>
            </a:r>
            <a:r>
              <a:rPr lang="en-US" altLang="zh-TW" sz="1600">
                <a:solidFill>
                  <a:schemeClr val="tx1"/>
                </a:solidFill>
              </a:rPr>
              <a:t>Dolos</a:t>
            </a:r>
            <a:r>
              <a:rPr lang="zh-TW" altLang="en-US" sz="1600">
                <a:solidFill>
                  <a:schemeClr val="tx1"/>
                </a:solidFill>
              </a:rPr>
              <a:t>系統提升使用者程式的</a:t>
            </a:r>
            <a:r>
              <a:rPr lang="zh-TW" altLang="en-US" sz="1600" b="1">
                <a:solidFill>
                  <a:schemeClr val="tx2">
                    <a:lumMod val="75000"/>
                  </a:schemeClr>
                </a:solidFill>
              </a:rPr>
              <a:t>創新性</a:t>
            </a:r>
            <a:r>
              <a:rPr lang="zh-TW" altLang="en-US" sz="1600">
                <a:solidFill>
                  <a:schemeClr val="tx1"/>
                </a:solidFill>
              </a:rPr>
              <a:t>。</a:t>
            </a:r>
          </a:p>
        </p:txBody>
      </p:sp>
      <p:sp>
        <p:nvSpPr>
          <p:cNvPr id="4" name="文字方塊 3">
            <a:extLst>
              <a:ext uri="{FF2B5EF4-FFF2-40B4-BE49-F238E27FC236}">
                <a16:creationId xmlns:a16="http://schemas.microsoft.com/office/drawing/2014/main" id="{8041D481-5793-8EA0-6746-56DAA1D39278}"/>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12</a:t>
            </a:fld>
            <a:endParaRPr lang="zh-TW" altLang="en-US">
              <a:solidFill>
                <a:schemeClr val="tx1"/>
              </a:solidFill>
            </a:endParaRPr>
          </a:p>
        </p:txBody>
      </p:sp>
      <p:sp>
        <p:nvSpPr>
          <p:cNvPr id="2" name="文字方塊 1">
            <a:extLst>
              <a:ext uri="{FF2B5EF4-FFF2-40B4-BE49-F238E27FC236}">
                <a16:creationId xmlns:a16="http://schemas.microsoft.com/office/drawing/2014/main" id="{F1508B5C-5B3D-5F82-F6D9-13B1B36CEE03}"/>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10956030 </a:t>
            </a:r>
            <a:r>
              <a:rPr lang="zh-TW" altLang="en-US">
                <a:solidFill>
                  <a:schemeClr val="tx1"/>
                </a:solidFill>
              </a:rPr>
              <a:t>林妤玟</a:t>
            </a:r>
            <a:endParaRPr lang="en-US" altLang="zh-TW">
              <a:solidFill>
                <a:schemeClr val="tx1"/>
              </a:solidFill>
            </a:endParaRPr>
          </a:p>
        </p:txBody>
      </p:sp>
    </p:spTree>
    <p:extLst>
      <p:ext uri="{BB962C8B-B14F-4D97-AF65-F5344CB8AC3E}">
        <p14:creationId xmlns:p14="http://schemas.microsoft.com/office/powerpoint/2010/main" val="22209935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en-US" altLang="zh-TW" b="1"/>
              <a:t>SWOT</a:t>
            </a:r>
            <a:r>
              <a:rPr lang="zh-TW" altLang="en-US" b="1">
                <a:latin typeface="微軟正黑體" panose="020B0604030504040204" pitchFamily="34" charset="-120"/>
                <a:ea typeface="微軟正黑體" panose="020B0604030504040204" pitchFamily="34" charset="-120"/>
              </a:rPr>
              <a:t>分析</a:t>
            </a:r>
          </a:p>
        </p:txBody>
      </p:sp>
      <p:pic>
        <p:nvPicPr>
          <p:cNvPr id="3" name="圖片 2">
            <a:extLst>
              <a:ext uri="{FF2B5EF4-FFF2-40B4-BE49-F238E27FC236}">
                <a16:creationId xmlns:a16="http://schemas.microsoft.com/office/drawing/2014/main" id="{4ECC021F-0000-64BD-55D7-9A5F50154C5A}"/>
              </a:ext>
            </a:extLst>
          </p:cNvPr>
          <p:cNvPicPr>
            <a:picLocks noChangeAspect="1"/>
          </p:cNvPicPr>
          <p:nvPr/>
        </p:nvPicPr>
        <p:blipFill rotWithShape="1">
          <a:blip r:embed="rId3"/>
          <a:srcRect l="27294" r="52946"/>
          <a:stretch/>
        </p:blipFill>
        <p:spPr>
          <a:xfrm>
            <a:off x="832624" y="1725707"/>
            <a:ext cx="1524000" cy="2554445"/>
          </a:xfrm>
          <a:prstGeom prst="rect">
            <a:avLst/>
          </a:prstGeom>
        </p:spPr>
      </p:pic>
      <p:sp>
        <p:nvSpPr>
          <p:cNvPr id="2" name="Google Shape;103;p16">
            <a:extLst>
              <a:ext uri="{FF2B5EF4-FFF2-40B4-BE49-F238E27FC236}">
                <a16:creationId xmlns:a16="http://schemas.microsoft.com/office/drawing/2014/main" id="{6F2BAFB9-23CF-E2AD-B0A7-8B9FFD1F4229}"/>
              </a:ext>
            </a:extLst>
          </p:cNvPr>
          <p:cNvSpPr txBox="1">
            <a:spLocks/>
          </p:cNvSpPr>
          <p:nvPr/>
        </p:nvSpPr>
        <p:spPr>
          <a:xfrm>
            <a:off x="2743200" y="1725707"/>
            <a:ext cx="5680800" cy="24704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rPr>
              <a:t>要持續開發和維護一個的平台，</a:t>
            </a:r>
            <a:r>
              <a:rPr lang="zh-TW" altLang="en-US" sz="1600" b="1">
                <a:solidFill>
                  <a:srgbClr val="FFC000"/>
                </a:solidFill>
              </a:rPr>
              <a:t>需要大量的技術和資源</a:t>
            </a:r>
            <a:r>
              <a:rPr lang="zh-TW" altLang="en-US" sz="1600" b="1">
                <a:solidFill>
                  <a:schemeClr val="tx1"/>
                </a:solidFill>
              </a:rPr>
              <a:t>。</a:t>
            </a:r>
          </a:p>
          <a:p>
            <a:pPr marL="495300" indent="-342900" algn="just">
              <a:lnSpc>
                <a:spcPct val="150000"/>
              </a:lnSpc>
              <a:spcAft>
                <a:spcPts val="1800"/>
              </a:spcAft>
              <a:buClr>
                <a:schemeClr val="tx1"/>
              </a:buClr>
              <a:buSzPct val="100000"/>
              <a:buAutoNum type="arabicPeriod"/>
            </a:pPr>
            <a:r>
              <a:rPr lang="zh-TW" altLang="en-US" sz="1600" b="1">
                <a:solidFill>
                  <a:srgbClr val="FFC000"/>
                </a:solidFill>
                <a:ea typeface="Microsoft JhengHei"/>
              </a:rPr>
              <a:t>無法及時調整和改進平台</a:t>
            </a:r>
            <a:r>
              <a:rPr lang="zh-TW" altLang="en-US" sz="1800" b="1">
                <a:solidFill>
                  <a:schemeClr val="tx1"/>
                </a:solidFill>
              </a:rPr>
              <a:t>。</a:t>
            </a:r>
          </a:p>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rPr>
              <a:t>系統</a:t>
            </a:r>
            <a:r>
              <a:rPr lang="zh-TW" altLang="en-US" sz="1600" b="1">
                <a:solidFill>
                  <a:srgbClr val="FFC000"/>
                </a:solidFill>
              </a:rPr>
              <a:t>無法處理某些程式語言</a:t>
            </a:r>
            <a:r>
              <a:rPr lang="zh-TW" altLang="en-US" sz="1600">
                <a:solidFill>
                  <a:schemeClr val="tx1"/>
                </a:solidFill>
              </a:rPr>
              <a:t>，需要進一步改善。</a:t>
            </a:r>
          </a:p>
        </p:txBody>
      </p:sp>
      <p:sp>
        <p:nvSpPr>
          <p:cNvPr id="5" name="文字方塊 4">
            <a:extLst>
              <a:ext uri="{FF2B5EF4-FFF2-40B4-BE49-F238E27FC236}">
                <a16:creationId xmlns:a16="http://schemas.microsoft.com/office/drawing/2014/main" id="{1E0516EF-73E7-7A1A-C9E8-767A0C67106C}"/>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13</a:t>
            </a:fld>
            <a:endParaRPr lang="zh-TW" altLang="en-US">
              <a:solidFill>
                <a:schemeClr val="tx1"/>
              </a:solidFill>
            </a:endParaRPr>
          </a:p>
        </p:txBody>
      </p:sp>
      <p:sp>
        <p:nvSpPr>
          <p:cNvPr id="4" name="文字方塊 3">
            <a:extLst>
              <a:ext uri="{FF2B5EF4-FFF2-40B4-BE49-F238E27FC236}">
                <a16:creationId xmlns:a16="http://schemas.microsoft.com/office/drawing/2014/main" id="{A371F77E-9FA8-1563-6609-0B6FC771B445}"/>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10956030 </a:t>
            </a:r>
            <a:r>
              <a:rPr lang="zh-TW" altLang="en-US">
                <a:solidFill>
                  <a:schemeClr val="tx1"/>
                </a:solidFill>
              </a:rPr>
              <a:t>林妤玟</a:t>
            </a:r>
            <a:endParaRPr lang="en-US" altLang="zh-TW">
              <a:solidFill>
                <a:schemeClr val="tx1"/>
              </a:solidFill>
            </a:endParaRPr>
          </a:p>
        </p:txBody>
      </p:sp>
    </p:spTree>
    <p:extLst>
      <p:ext uri="{BB962C8B-B14F-4D97-AF65-F5344CB8AC3E}">
        <p14:creationId xmlns:p14="http://schemas.microsoft.com/office/powerpoint/2010/main" val="37255744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en-US" altLang="zh-TW" b="1"/>
              <a:t>SWOT</a:t>
            </a:r>
            <a:r>
              <a:rPr lang="zh-TW" altLang="en-US" b="1">
                <a:latin typeface="微軟正黑體" panose="020B0604030504040204" pitchFamily="34" charset="-120"/>
                <a:ea typeface="微軟正黑體" panose="020B0604030504040204" pitchFamily="34" charset="-120"/>
              </a:rPr>
              <a:t>分析</a:t>
            </a:r>
          </a:p>
        </p:txBody>
      </p:sp>
      <p:pic>
        <p:nvPicPr>
          <p:cNvPr id="3" name="圖片 2">
            <a:extLst>
              <a:ext uri="{FF2B5EF4-FFF2-40B4-BE49-F238E27FC236}">
                <a16:creationId xmlns:a16="http://schemas.microsoft.com/office/drawing/2014/main" id="{4ECC021F-0000-64BD-55D7-9A5F50154C5A}"/>
              </a:ext>
            </a:extLst>
          </p:cNvPr>
          <p:cNvPicPr>
            <a:picLocks noChangeAspect="1"/>
          </p:cNvPicPr>
          <p:nvPr/>
        </p:nvPicPr>
        <p:blipFill rotWithShape="1">
          <a:blip r:embed="rId3"/>
          <a:srcRect l="51460" t="-604" r="26337" b="604"/>
          <a:stretch/>
        </p:blipFill>
        <p:spPr>
          <a:xfrm>
            <a:off x="832624" y="1725707"/>
            <a:ext cx="1712456" cy="2554445"/>
          </a:xfrm>
          <a:prstGeom prst="rect">
            <a:avLst/>
          </a:prstGeom>
        </p:spPr>
      </p:pic>
      <p:sp>
        <p:nvSpPr>
          <p:cNvPr id="2" name="Google Shape;103;p16">
            <a:extLst>
              <a:ext uri="{FF2B5EF4-FFF2-40B4-BE49-F238E27FC236}">
                <a16:creationId xmlns:a16="http://schemas.microsoft.com/office/drawing/2014/main" id="{D008ADF3-65DA-D6F4-9DD9-7ADB2E202A14}"/>
              </a:ext>
            </a:extLst>
          </p:cNvPr>
          <p:cNvSpPr txBox="1">
            <a:spLocks/>
          </p:cNvSpPr>
          <p:nvPr/>
        </p:nvSpPr>
        <p:spPr>
          <a:xfrm>
            <a:off x="2743200" y="1725707"/>
            <a:ext cx="5680800" cy="24704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rPr>
              <a:t>可以透過</a:t>
            </a:r>
            <a:r>
              <a:rPr lang="zh-TW" altLang="en-US" sz="1600" b="1">
                <a:solidFill>
                  <a:srgbClr val="FFC000"/>
                </a:solidFill>
              </a:rPr>
              <a:t>不斷更新</a:t>
            </a:r>
            <a:r>
              <a:rPr lang="zh-TW" altLang="en-US" sz="1600">
                <a:solidFill>
                  <a:schemeClr val="tx1"/>
                </a:solidFill>
              </a:rPr>
              <a:t>，以此來精進平台的精準度和性能。</a:t>
            </a:r>
          </a:p>
          <a:p>
            <a:pPr marL="495300" indent="-342900" algn="just">
              <a:lnSpc>
                <a:spcPct val="150000"/>
              </a:lnSpc>
              <a:spcAft>
                <a:spcPts val="1800"/>
              </a:spcAft>
              <a:buClr>
                <a:schemeClr val="tx1"/>
              </a:buClr>
              <a:buSzPct val="100000"/>
              <a:buFont typeface="+mj-lt"/>
              <a:buAutoNum type="arabicPeriod"/>
            </a:pPr>
            <a:r>
              <a:rPr lang="zh-TW" altLang="en-US" sz="1600" b="1">
                <a:solidFill>
                  <a:srgbClr val="FFC000"/>
                </a:solidFill>
              </a:rPr>
              <a:t>與教育機構合作</a:t>
            </a:r>
            <a:r>
              <a:rPr lang="zh-TW" altLang="en-US" sz="1600">
                <a:solidFill>
                  <a:schemeClr val="tx1"/>
                </a:solidFill>
              </a:rPr>
              <a:t>，創建新的教育機會。</a:t>
            </a:r>
          </a:p>
        </p:txBody>
      </p:sp>
      <p:sp>
        <p:nvSpPr>
          <p:cNvPr id="5" name="文字方塊 4">
            <a:extLst>
              <a:ext uri="{FF2B5EF4-FFF2-40B4-BE49-F238E27FC236}">
                <a16:creationId xmlns:a16="http://schemas.microsoft.com/office/drawing/2014/main" id="{0CE47802-AFFE-0C6D-426D-4B11BDDEC6E3}"/>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14</a:t>
            </a:fld>
            <a:endParaRPr lang="zh-TW" altLang="en-US">
              <a:solidFill>
                <a:schemeClr val="tx1"/>
              </a:solidFill>
            </a:endParaRPr>
          </a:p>
        </p:txBody>
      </p:sp>
      <p:sp>
        <p:nvSpPr>
          <p:cNvPr id="4" name="文字方塊 3">
            <a:extLst>
              <a:ext uri="{FF2B5EF4-FFF2-40B4-BE49-F238E27FC236}">
                <a16:creationId xmlns:a16="http://schemas.microsoft.com/office/drawing/2014/main" id="{93E9AF21-C00C-033C-C716-553F2967B47F}"/>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10956030 </a:t>
            </a:r>
            <a:r>
              <a:rPr lang="zh-TW" altLang="en-US">
                <a:solidFill>
                  <a:schemeClr val="tx1"/>
                </a:solidFill>
              </a:rPr>
              <a:t>林妤玟</a:t>
            </a:r>
            <a:endParaRPr lang="en-US" altLang="zh-TW">
              <a:solidFill>
                <a:schemeClr val="tx1"/>
              </a:solidFill>
            </a:endParaRPr>
          </a:p>
        </p:txBody>
      </p:sp>
    </p:spTree>
    <p:extLst>
      <p:ext uri="{BB962C8B-B14F-4D97-AF65-F5344CB8AC3E}">
        <p14:creationId xmlns:p14="http://schemas.microsoft.com/office/powerpoint/2010/main" val="16006509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en-US" altLang="zh-TW" b="1"/>
              <a:t>SWOT</a:t>
            </a:r>
            <a:r>
              <a:rPr lang="zh-TW" altLang="en-US" b="1">
                <a:latin typeface="微軟正黑體" panose="020B0604030504040204" pitchFamily="34" charset="-120"/>
                <a:ea typeface="微軟正黑體" panose="020B0604030504040204" pitchFamily="34" charset="-120"/>
              </a:rPr>
              <a:t>分析</a:t>
            </a:r>
          </a:p>
        </p:txBody>
      </p:sp>
      <p:pic>
        <p:nvPicPr>
          <p:cNvPr id="3" name="圖片 2">
            <a:extLst>
              <a:ext uri="{FF2B5EF4-FFF2-40B4-BE49-F238E27FC236}">
                <a16:creationId xmlns:a16="http://schemas.microsoft.com/office/drawing/2014/main" id="{4ECC021F-0000-64BD-55D7-9A5F50154C5A}"/>
              </a:ext>
            </a:extLst>
          </p:cNvPr>
          <p:cNvPicPr>
            <a:picLocks noChangeAspect="1"/>
          </p:cNvPicPr>
          <p:nvPr/>
        </p:nvPicPr>
        <p:blipFill rotWithShape="1">
          <a:blip r:embed="rId3"/>
          <a:srcRect l="77898" t="-291" r="2342" b="291"/>
          <a:stretch/>
        </p:blipFill>
        <p:spPr>
          <a:xfrm>
            <a:off x="832624" y="1725707"/>
            <a:ext cx="1524000" cy="2554445"/>
          </a:xfrm>
          <a:prstGeom prst="rect">
            <a:avLst/>
          </a:prstGeom>
        </p:spPr>
      </p:pic>
      <p:sp>
        <p:nvSpPr>
          <p:cNvPr id="2" name="Google Shape;103;p16">
            <a:extLst>
              <a:ext uri="{FF2B5EF4-FFF2-40B4-BE49-F238E27FC236}">
                <a16:creationId xmlns:a16="http://schemas.microsoft.com/office/drawing/2014/main" id="{22E8AED3-BA1E-D718-F05E-5DDE8EAFAB06}"/>
              </a:ext>
            </a:extLst>
          </p:cNvPr>
          <p:cNvSpPr txBox="1">
            <a:spLocks/>
          </p:cNvSpPr>
          <p:nvPr/>
        </p:nvSpPr>
        <p:spPr>
          <a:xfrm>
            <a:off x="2743200" y="1725707"/>
            <a:ext cx="5680800" cy="24704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95300" indent="-342900" algn="just">
              <a:lnSpc>
                <a:spcPct val="150000"/>
              </a:lnSpc>
              <a:spcAft>
                <a:spcPts val="1800"/>
              </a:spcAft>
              <a:buClr>
                <a:schemeClr val="tx1"/>
              </a:buClr>
              <a:buSzPct val="100000"/>
              <a:buFont typeface="+mj-lt"/>
              <a:buAutoNum type="arabicPeriod"/>
            </a:pPr>
            <a:r>
              <a:rPr lang="zh-TW" altLang="en-US" sz="1600" b="1">
                <a:solidFill>
                  <a:srgbClr val="FFC000"/>
                </a:solidFill>
              </a:rPr>
              <a:t>外部平台的新技術出現和變化</a:t>
            </a:r>
            <a:r>
              <a:rPr lang="zh-TW" altLang="en-US" sz="1600">
                <a:solidFill>
                  <a:schemeClr val="tx1"/>
                </a:solidFill>
              </a:rPr>
              <a:t>可能對平台的技術架構和功能產生影響。</a:t>
            </a:r>
          </a:p>
          <a:p>
            <a:pPr marL="495300" indent="-342900" algn="just">
              <a:lnSpc>
                <a:spcPct val="150000"/>
              </a:lnSpc>
              <a:spcAft>
                <a:spcPts val="1800"/>
              </a:spcAft>
              <a:buClr>
                <a:schemeClr val="tx1"/>
              </a:buClr>
              <a:buSzPct val="100000"/>
              <a:buFont typeface="+mj-lt"/>
              <a:buAutoNum type="arabicPeriod"/>
            </a:pPr>
            <a:r>
              <a:rPr lang="zh-TW" altLang="en-US" sz="1600">
                <a:solidFill>
                  <a:schemeClr val="tx1"/>
                </a:solidFill>
                <a:latin typeface="微軟正黑體"/>
                <a:ea typeface="微軟正黑體"/>
              </a:rPr>
              <a:t>程式設計</a:t>
            </a:r>
            <a:r>
              <a:rPr lang="zh-TW" altLang="en-US" sz="1600">
                <a:solidFill>
                  <a:schemeClr val="tx1"/>
                </a:solidFill>
              </a:rPr>
              <a:t>教育</a:t>
            </a:r>
            <a:r>
              <a:rPr lang="zh-TW" altLang="en-US" sz="1600" b="1">
                <a:solidFill>
                  <a:srgbClr val="FFC000"/>
                </a:solidFill>
              </a:rPr>
              <a:t>市場可能已經飽和</a:t>
            </a:r>
            <a:r>
              <a:rPr lang="zh-TW" altLang="en-US" sz="1600">
                <a:solidFill>
                  <a:schemeClr val="tx1"/>
                </a:solidFill>
              </a:rPr>
              <a:t>。</a:t>
            </a:r>
          </a:p>
          <a:p>
            <a:pPr marL="495300" indent="-342900" algn="just">
              <a:lnSpc>
                <a:spcPct val="150000"/>
              </a:lnSpc>
              <a:spcAft>
                <a:spcPts val="1800"/>
              </a:spcAft>
              <a:buClr>
                <a:schemeClr val="tx1"/>
              </a:buClr>
              <a:buSzPct val="100000"/>
              <a:buAutoNum type="arabicPeriod"/>
            </a:pPr>
            <a:r>
              <a:rPr lang="zh-TW" altLang="en-US" sz="1600">
                <a:solidFill>
                  <a:schemeClr val="tx1"/>
                </a:solidFill>
              </a:rPr>
              <a:t>連接的平台若發生</a:t>
            </a:r>
            <a:r>
              <a:rPr lang="zh-TW" altLang="en-US" sz="1600">
                <a:solidFill>
                  <a:schemeClr val="tx2">
                    <a:lumMod val="76000"/>
                  </a:schemeClr>
                </a:solidFill>
              </a:rPr>
              <a:t>更新</a:t>
            </a:r>
            <a:r>
              <a:rPr lang="zh-TW" altLang="en-US" sz="1600">
                <a:solidFill>
                  <a:schemeClr val="tx1"/>
                </a:solidFill>
              </a:rPr>
              <a:t>或改版爬蟲失效</a:t>
            </a:r>
          </a:p>
        </p:txBody>
      </p:sp>
      <p:sp>
        <p:nvSpPr>
          <p:cNvPr id="5" name="文字方塊 4">
            <a:extLst>
              <a:ext uri="{FF2B5EF4-FFF2-40B4-BE49-F238E27FC236}">
                <a16:creationId xmlns:a16="http://schemas.microsoft.com/office/drawing/2014/main" id="{41FBDFEF-B791-41CC-8EC7-0FCC9F37C3C2}"/>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15</a:t>
            </a:fld>
            <a:endParaRPr lang="zh-TW" altLang="en-US">
              <a:solidFill>
                <a:schemeClr val="tx1"/>
              </a:solidFill>
            </a:endParaRPr>
          </a:p>
        </p:txBody>
      </p:sp>
      <p:sp>
        <p:nvSpPr>
          <p:cNvPr id="6" name="文字方塊 5">
            <a:extLst>
              <a:ext uri="{FF2B5EF4-FFF2-40B4-BE49-F238E27FC236}">
                <a16:creationId xmlns:a16="http://schemas.microsoft.com/office/drawing/2014/main" id="{5E8E32B4-2711-FE5B-B3DB-807B6B6C6C7C}"/>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10956030 </a:t>
            </a:r>
            <a:r>
              <a:rPr lang="zh-TW" altLang="en-US">
                <a:solidFill>
                  <a:schemeClr val="tx1"/>
                </a:solidFill>
              </a:rPr>
              <a:t>林妤玟</a:t>
            </a:r>
            <a:endParaRPr lang="en-US" altLang="zh-TW">
              <a:solidFill>
                <a:schemeClr val="tx1"/>
              </a:solidFill>
            </a:endParaRPr>
          </a:p>
        </p:txBody>
      </p:sp>
    </p:spTree>
    <p:extLst>
      <p:ext uri="{BB962C8B-B14F-4D97-AF65-F5344CB8AC3E}">
        <p14:creationId xmlns:p14="http://schemas.microsoft.com/office/powerpoint/2010/main" val="6747848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8" name="Google Shape;487;p24">
            <a:extLst>
              <a:ext uri="{FF2B5EF4-FFF2-40B4-BE49-F238E27FC236}">
                <a16:creationId xmlns:a16="http://schemas.microsoft.com/office/drawing/2014/main" id="{A17D0743-20EB-4699-83E9-6636A0FA9D13}"/>
              </a:ext>
            </a:extLst>
          </p:cNvPr>
          <p:cNvSpPr txBox="1"/>
          <p:nvPr/>
        </p:nvSpPr>
        <p:spPr>
          <a:xfrm>
            <a:off x="392430" y="2484150"/>
            <a:ext cx="3488678"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6000">
                <a:solidFill>
                  <a:schemeClr val="dk1"/>
                </a:solidFill>
                <a:latin typeface="Quantico"/>
                <a:ea typeface="Quantico"/>
                <a:cs typeface="Quantico"/>
                <a:sym typeface="Quantico"/>
              </a:rPr>
              <a:t>{0</a:t>
            </a:r>
            <a:r>
              <a:rPr lang="en-US" altLang="zh-TW" sz="6000">
                <a:solidFill>
                  <a:schemeClr val="dk1"/>
                </a:solidFill>
                <a:latin typeface="Quantico"/>
                <a:ea typeface="Quantico"/>
                <a:cs typeface="Quantico"/>
                <a:sym typeface="Quantico"/>
              </a:rPr>
              <a:t>4</a:t>
            </a:r>
            <a:r>
              <a:rPr lang="en" sz="6000">
                <a:solidFill>
                  <a:schemeClr val="tx2"/>
                </a:solidFill>
                <a:latin typeface="Quantico"/>
                <a:ea typeface="Quantico"/>
                <a:cs typeface="Quantico"/>
                <a:sym typeface="Quantico"/>
              </a:rPr>
              <a:t>}</a:t>
            </a:r>
            <a:endParaRPr sz="6000">
              <a:solidFill>
                <a:schemeClr val="tx2"/>
              </a:solidFill>
              <a:latin typeface="Quantico"/>
              <a:ea typeface="Quantico"/>
              <a:cs typeface="Quantico"/>
              <a:sym typeface="Quantico"/>
            </a:endParaRPr>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2146028" y="2580919"/>
            <a:ext cx="5897400" cy="50125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gn="r">
              <a:buNone/>
              <a:defRPr sz="5400" b="1">
                <a:solidFill>
                  <a:schemeClr val="dk1"/>
                </a:solidFill>
                <a:latin typeface="微軟正黑體" panose="020B0604030504040204" pitchFamily="34" charset="-120"/>
                <a:ea typeface="微軟正黑體" panose="020B0604030504040204" pitchFamily="34" charset="-120"/>
                <a:cs typeface="Quantico"/>
              </a:defRPr>
            </a:lvl1pPr>
          </a:lstStyle>
          <a:p>
            <a:r>
              <a:rPr lang="zh-TW" altLang="en-US">
                <a:sym typeface="Quantico"/>
              </a:rPr>
              <a:t>系統比較與特色</a:t>
            </a:r>
          </a:p>
        </p:txBody>
      </p:sp>
      <p:sp>
        <p:nvSpPr>
          <p:cNvPr id="3" name="文字方塊 2">
            <a:extLst>
              <a:ext uri="{FF2B5EF4-FFF2-40B4-BE49-F238E27FC236}">
                <a16:creationId xmlns:a16="http://schemas.microsoft.com/office/drawing/2014/main" id="{D35247E2-9A22-FA49-E233-B59F7B99110F}"/>
              </a:ext>
            </a:extLst>
          </p:cNvPr>
          <p:cNvSpPr txBox="1"/>
          <p:nvPr/>
        </p:nvSpPr>
        <p:spPr>
          <a:xfrm>
            <a:off x="7603958" y="198981"/>
            <a:ext cx="1654341"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rPr>
              <a:t>10956010</a:t>
            </a:r>
            <a:r>
              <a:rPr lang="zh-TW" altLang="en-US">
                <a:solidFill>
                  <a:schemeClr val="tx1"/>
                </a:solidFill>
              </a:rPr>
              <a:t>童柏祐</a:t>
            </a:r>
          </a:p>
        </p:txBody>
      </p:sp>
      <p:sp>
        <p:nvSpPr>
          <p:cNvPr id="2" name="文字方塊 1">
            <a:extLst>
              <a:ext uri="{FF2B5EF4-FFF2-40B4-BE49-F238E27FC236}">
                <a16:creationId xmlns:a16="http://schemas.microsoft.com/office/drawing/2014/main" id="{783FE69B-24F2-E5D4-CA92-B2A2DCF46C16}"/>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10956010 </a:t>
            </a:r>
            <a:r>
              <a:rPr lang="zh-TW" altLang="en-US">
                <a:solidFill>
                  <a:schemeClr val="tx1"/>
                </a:solidFill>
                <a:latin typeface="Quantico" panose="02020500000000000000" charset="0"/>
              </a:rPr>
              <a:t>童柏祐</a:t>
            </a:r>
            <a:endParaRPr lang="en-US" altLang="zh-TW">
              <a:solidFill>
                <a:schemeClr val="tx1"/>
              </a:solidFill>
            </a:endParaRPr>
          </a:p>
        </p:txBody>
      </p:sp>
    </p:spTree>
    <p:extLst>
      <p:ext uri="{BB962C8B-B14F-4D97-AF65-F5344CB8AC3E}">
        <p14:creationId xmlns:p14="http://schemas.microsoft.com/office/powerpoint/2010/main" val="3695835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2D050"/>
                </a:solidFill>
              </a:rPr>
              <a:t>&lt;/</a:t>
            </a:r>
            <a:r>
              <a:rPr lang="zh-TW" altLang="en-US">
                <a:solidFill>
                  <a:srgbClr val="92D050"/>
                </a:solidFill>
              </a:rPr>
              <a:t> </a:t>
            </a:r>
            <a:r>
              <a:rPr lang="zh-TW" altLang="en-US" b="1">
                <a:latin typeface="微軟正黑體" panose="020B0604030504040204" pitchFamily="34" charset="-120"/>
                <a:ea typeface="微軟正黑體" panose="020B0604030504040204" pitchFamily="34" charset="-120"/>
              </a:rPr>
              <a:t>系統特色</a:t>
            </a:r>
          </a:p>
        </p:txBody>
      </p:sp>
      <p:sp>
        <p:nvSpPr>
          <p:cNvPr id="3" name="文字方塊 2">
            <a:extLst>
              <a:ext uri="{FF2B5EF4-FFF2-40B4-BE49-F238E27FC236}">
                <a16:creationId xmlns:a16="http://schemas.microsoft.com/office/drawing/2014/main" id="{767EEB51-D665-7F0F-520F-DDD5093B1BD6}"/>
              </a:ext>
            </a:extLst>
          </p:cNvPr>
          <p:cNvSpPr txBox="1"/>
          <p:nvPr/>
        </p:nvSpPr>
        <p:spPr>
          <a:xfrm>
            <a:off x="2516783" y="2201552"/>
            <a:ext cx="4447542" cy="740395"/>
          </a:xfrm>
          <a:prstGeom prst="rect">
            <a:avLst/>
          </a:prstGeom>
          <a:noFill/>
        </p:spPr>
        <p:txBody>
          <a:bodyPr wrap="square" lIns="91440" tIns="45720" rIns="91440" bIns="45720" rtlCol="0" anchor="t">
            <a:spAutoFit/>
          </a:bodyPr>
          <a:lstStyle/>
          <a:p>
            <a:pPr algn="just">
              <a:lnSpc>
                <a:spcPct val="150000"/>
              </a:lnSpc>
              <a:buClr>
                <a:schemeClr val="tx1"/>
              </a:buClr>
              <a:buSzPct val="100000"/>
            </a:pPr>
            <a:r>
              <a:rPr lang="zh-TW" altLang="en-US" sz="3200">
                <a:solidFill>
                  <a:srgbClr val="F2F2F2"/>
                </a:solidFill>
              </a:rPr>
              <a:t>提供</a:t>
            </a:r>
            <a:r>
              <a:rPr lang="zh-TW" altLang="en-US" sz="3200" b="1">
                <a:solidFill>
                  <a:srgbClr val="FFC000"/>
                </a:solidFill>
              </a:rPr>
              <a:t>線上編輯與提示詞</a:t>
            </a:r>
            <a:endParaRPr lang="zh-TW" altLang="en-US" sz="2400">
              <a:solidFill>
                <a:schemeClr val="tx1"/>
              </a:solidFill>
            </a:endParaRPr>
          </a:p>
        </p:txBody>
      </p:sp>
      <p:sp>
        <p:nvSpPr>
          <p:cNvPr id="5" name="文字方塊 4">
            <a:extLst>
              <a:ext uri="{FF2B5EF4-FFF2-40B4-BE49-F238E27FC236}">
                <a16:creationId xmlns:a16="http://schemas.microsoft.com/office/drawing/2014/main" id="{67C18B69-0B65-7868-51B5-A08098A3BAFE}"/>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10956010</a:t>
            </a:r>
            <a:r>
              <a:rPr lang="zh-TW" altLang="en-US">
                <a:solidFill>
                  <a:schemeClr val="tx1"/>
                </a:solidFill>
                <a:latin typeface="Quantico" panose="02020500000000000000" charset="0"/>
              </a:rPr>
              <a:t> 童柏祐</a:t>
            </a:r>
            <a:endParaRPr lang="en-US" altLang="zh-TW">
              <a:solidFill>
                <a:schemeClr val="tx1"/>
              </a:solidFill>
            </a:endParaRPr>
          </a:p>
        </p:txBody>
      </p:sp>
      <p:sp>
        <p:nvSpPr>
          <p:cNvPr id="6" name="文字方塊 5">
            <a:extLst>
              <a:ext uri="{FF2B5EF4-FFF2-40B4-BE49-F238E27FC236}">
                <a16:creationId xmlns:a16="http://schemas.microsoft.com/office/drawing/2014/main" id="{18997D79-9F3B-CA6A-ACB2-E22875F86880}"/>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17</a:t>
            </a:fld>
            <a:endParaRPr lang="zh-TW" altLang="en-US">
              <a:solidFill>
                <a:schemeClr val="tx1"/>
              </a:solidFill>
            </a:endParaRPr>
          </a:p>
        </p:txBody>
      </p:sp>
    </p:spTree>
    <p:extLst>
      <p:ext uri="{BB962C8B-B14F-4D97-AF65-F5344CB8AC3E}">
        <p14:creationId xmlns:p14="http://schemas.microsoft.com/office/powerpoint/2010/main" val="7904109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標題 1">
            <a:extLst>
              <a:ext uri="{FF2B5EF4-FFF2-40B4-BE49-F238E27FC236}">
                <a16:creationId xmlns:a16="http://schemas.microsoft.com/office/drawing/2014/main" id="{FC189D62-E084-5730-5340-C4B18C68A12E}"/>
              </a:ext>
            </a:extLst>
          </p:cNvPr>
          <p:cNvSpPr>
            <a:spLocks noGrp="1"/>
          </p:cNvSpPr>
          <p:nvPr>
            <p:ph type="subTitle" idx="1"/>
          </p:nvPr>
        </p:nvSpPr>
        <p:spPr>
          <a:xfrm>
            <a:off x="721509" y="1577899"/>
            <a:ext cx="3415800" cy="1490700"/>
          </a:xfrm>
        </p:spPr>
        <p:txBody>
          <a:bodyPr/>
          <a:lstStyle/>
          <a:p>
            <a:endParaRPr lang="zh-TW" altLang="en-US"/>
          </a:p>
        </p:txBody>
      </p:sp>
      <p:sp>
        <p:nvSpPr>
          <p:cNvPr id="4" name="副標題 3">
            <a:extLst>
              <a:ext uri="{FF2B5EF4-FFF2-40B4-BE49-F238E27FC236}">
                <a16:creationId xmlns:a16="http://schemas.microsoft.com/office/drawing/2014/main" id="{C56248D2-5069-364B-BFD7-63662E81F055}"/>
              </a:ext>
            </a:extLst>
          </p:cNvPr>
          <p:cNvSpPr>
            <a:spLocks noGrp="1"/>
          </p:cNvSpPr>
          <p:nvPr>
            <p:ph type="subTitle" idx="3"/>
          </p:nvPr>
        </p:nvSpPr>
        <p:spPr>
          <a:xfrm>
            <a:off x="1512219" y="1283836"/>
            <a:ext cx="3415800" cy="421800"/>
          </a:xfrm>
        </p:spPr>
        <p:txBody>
          <a:bodyPr/>
          <a:lstStyle/>
          <a:p>
            <a:r>
              <a:rPr lang="zh-TW" altLang="en-US"/>
              <a:t>ZeroJudge</a:t>
            </a:r>
          </a:p>
        </p:txBody>
      </p:sp>
      <p:sp>
        <p:nvSpPr>
          <p:cNvPr id="5" name="副標題 4">
            <a:extLst>
              <a:ext uri="{FF2B5EF4-FFF2-40B4-BE49-F238E27FC236}">
                <a16:creationId xmlns:a16="http://schemas.microsoft.com/office/drawing/2014/main" id="{415CF7B6-8021-1BB4-26B7-1377F85DECBD}"/>
              </a:ext>
            </a:extLst>
          </p:cNvPr>
          <p:cNvSpPr>
            <a:spLocks noGrp="1"/>
          </p:cNvSpPr>
          <p:nvPr>
            <p:ph type="subTitle" idx="4"/>
          </p:nvPr>
        </p:nvSpPr>
        <p:spPr>
          <a:xfrm>
            <a:off x="5680970" y="1283836"/>
            <a:ext cx="3415800" cy="421800"/>
          </a:xfrm>
        </p:spPr>
        <p:txBody>
          <a:bodyPr/>
          <a:lstStyle/>
          <a:p>
            <a:r>
              <a:rPr lang="en-US" altLang="zh-TW"/>
              <a:t>Virtual Judge</a:t>
            </a:r>
            <a:endParaRPr lang="zh-TW"/>
          </a:p>
        </p:txBody>
      </p:sp>
      <p:sp>
        <p:nvSpPr>
          <p:cNvPr id="6" name="標題 5">
            <a:extLst>
              <a:ext uri="{FF2B5EF4-FFF2-40B4-BE49-F238E27FC236}">
                <a16:creationId xmlns:a16="http://schemas.microsoft.com/office/drawing/2014/main" id="{70DA3430-A0DD-FFB9-5541-E8AE9A05F38B}"/>
              </a:ext>
            </a:extLst>
          </p:cNvPr>
          <p:cNvSpPr>
            <a:spLocks noGrp="1"/>
          </p:cNvSpPr>
          <p:nvPr>
            <p:ph type="title"/>
          </p:nvPr>
        </p:nvSpPr>
        <p:spPr/>
        <p:txBody>
          <a:bodyPr/>
          <a:lstStyle/>
          <a:p>
            <a:r>
              <a:rPr lang="zh-TW" altLang="en-US" b="1">
                <a:latin typeface="微軟正黑體" panose="020B0604030504040204" pitchFamily="34" charset="-120"/>
                <a:ea typeface="微軟正黑體" panose="020B0604030504040204" pitchFamily="34" charset="-120"/>
              </a:rPr>
              <a:t>文字輸入框</a:t>
            </a:r>
          </a:p>
        </p:txBody>
      </p:sp>
      <p:pic>
        <p:nvPicPr>
          <p:cNvPr id="8" name="圖片 7" descr="一張含有 文字, 螢幕擷取畫面, 軟體, 陳列 的圖片&#10;&#10;自動產生的描述">
            <a:extLst>
              <a:ext uri="{FF2B5EF4-FFF2-40B4-BE49-F238E27FC236}">
                <a16:creationId xmlns:a16="http://schemas.microsoft.com/office/drawing/2014/main" id="{5FF74D21-A0C4-8131-AD9A-3D2BD9078C02}"/>
              </a:ext>
            </a:extLst>
          </p:cNvPr>
          <p:cNvPicPr>
            <a:picLocks noChangeAspect="1"/>
          </p:cNvPicPr>
          <p:nvPr/>
        </p:nvPicPr>
        <p:blipFill>
          <a:blip r:embed="rId2"/>
          <a:stretch>
            <a:fillRect/>
          </a:stretch>
        </p:blipFill>
        <p:spPr>
          <a:xfrm>
            <a:off x="717884" y="1581046"/>
            <a:ext cx="3981739" cy="2990589"/>
          </a:xfrm>
          <a:prstGeom prst="rect">
            <a:avLst/>
          </a:prstGeom>
        </p:spPr>
      </p:pic>
      <p:pic>
        <p:nvPicPr>
          <p:cNvPr id="10" name="圖片 9" descr="一張含有 文字, 螢幕擷取畫面, 軟體, 電腦圖示 的圖片&#10;&#10;自動產生的描述">
            <a:extLst>
              <a:ext uri="{FF2B5EF4-FFF2-40B4-BE49-F238E27FC236}">
                <a16:creationId xmlns:a16="http://schemas.microsoft.com/office/drawing/2014/main" id="{55E316AF-71B9-4FCF-5974-AC0261650B8F}"/>
              </a:ext>
            </a:extLst>
          </p:cNvPr>
          <p:cNvPicPr>
            <a:picLocks noChangeAspect="1"/>
          </p:cNvPicPr>
          <p:nvPr/>
        </p:nvPicPr>
        <p:blipFill>
          <a:blip r:embed="rId3"/>
          <a:stretch>
            <a:fillRect/>
          </a:stretch>
        </p:blipFill>
        <p:spPr>
          <a:xfrm>
            <a:off x="5238644" y="1563536"/>
            <a:ext cx="3109312" cy="2997681"/>
          </a:xfrm>
          <a:prstGeom prst="rect">
            <a:avLst/>
          </a:prstGeom>
        </p:spPr>
      </p:pic>
      <p:sp>
        <p:nvSpPr>
          <p:cNvPr id="7" name="文字方塊 6">
            <a:extLst>
              <a:ext uri="{FF2B5EF4-FFF2-40B4-BE49-F238E27FC236}">
                <a16:creationId xmlns:a16="http://schemas.microsoft.com/office/drawing/2014/main" id="{FF4B11DF-86A9-B975-FE98-5FE546FE6AD7}"/>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10956010 </a:t>
            </a:r>
            <a:r>
              <a:rPr lang="zh-TW" altLang="en-US">
                <a:solidFill>
                  <a:schemeClr val="tx1"/>
                </a:solidFill>
                <a:latin typeface="Quantico" panose="02020500000000000000" charset="0"/>
              </a:rPr>
              <a:t>童柏祐</a:t>
            </a:r>
            <a:endParaRPr lang="en-US" altLang="zh-TW">
              <a:solidFill>
                <a:schemeClr val="tx1"/>
              </a:solidFill>
            </a:endParaRPr>
          </a:p>
        </p:txBody>
      </p:sp>
      <p:sp>
        <p:nvSpPr>
          <p:cNvPr id="9" name="文字方塊 8">
            <a:extLst>
              <a:ext uri="{FF2B5EF4-FFF2-40B4-BE49-F238E27FC236}">
                <a16:creationId xmlns:a16="http://schemas.microsoft.com/office/drawing/2014/main" id="{47FCD7F5-9451-7882-0274-3B3605FC4170}"/>
              </a:ext>
            </a:extLst>
          </p:cNvPr>
          <p:cNvSpPr txBox="1"/>
          <p:nvPr/>
        </p:nvSpPr>
        <p:spPr>
          <a:xfrm>
            <a:off x="0" y="4840227"/>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18</a:t>
            </a:fld>
            <a:endParaRPr lang="zh-TW" altLang="en-US">
              <a:solidFill>
                <a:schemeClr val="tx1"/>
              </a:solidFill>
            </a:endParaRPr>
          </a:p>
        </p:txBody>
      </p:sp>
      <p:sp>
        <p:nvSpPr>
          <p:cNvPr id="12" name="矩形 11">
            <a:extLst>
              <a:ext uri="{FF2B5EF4-FFF2-40B4-BE49-F238E27FC236}">
                <a16:creationId xmlns:a16="http://schemas.microsoft.com/office/drawing/2014/main" id="{51730E14-812A-6A0F-7844-523B98AA59E7}"/>
              </a:ext>
            </a:extLst>
          </p:cNvPr>
          <p:cNvSpPr/>
          <p:nvPr/>
        </p:nvSpPr>
        <p:spPr>
          <a:xfrm>
            <a:off x="377858"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334E4291-BD00-6758-9385-FCA678603C57}"/>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18</a:t>
            </a:fld>
            <a:endParaRPr lang="zh-TW" altLang="en-US">
              <a:solidFill>
                <a:schemeClr val="tx1"/>
              </a:solidFill>
            </a:endParaRPr>
          </a:p>
        </p:txBody>
      </p:sp>
    </p:spTree>
    <p:extLst>
      <p:ext uri="{BB962C8B-B14F-4D97-AF65-F5344CB8AC3E}">
        <p14:creationId xmlns:p14="http://schemas.microsoft.com/office/powerpoint/2010/main" val="32442908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C040ED7-8EC1-B1BD-6553-15CCFE5E9B25}"/>
              </a:ext>
            </a:extLst>
          </p:cNvPr>
          <p:cNvSpPr/>
          <p:nvPr/>
        </p:nvSpPr>
        <p:spPr>
          <a:xfrm>
            <a:off x="377858" y="4604000"/>
            <a:ext cx="8746435" cy="505630"/>
          </a:xfrm>
          <a:prstGeom prst="rect">
            <a:avLst/>
          </a:prstGeom>
          <a:solidFill>
            <a:srgbClr val="2D323C"/>
          </a:solidFill>
          <a:ln>
            <a:solidFill>
              <a:srgbClr val="2D3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F9E8F7CF-DDA3-9A01-9BE9-2854EBDF507E}"/>
              </a:ext>
            </a:extLst>
          </p:cNvPr>
          <p:cNvSpPr>
            <a:spLocks noGrp="1"/>
          </p:cNvSpPr>
          <p:nvPr>
            <p:ph type="title"/>
          </p:nvPr>
        </p:nvSpPr>
        <p:spPr>
          <a:xfrm>
            <a:off x="202421" y="198981"/>
            <a:ext cx="7704000" cy="578882"/>
          </a:xfrm>
        </p:spPr>
        <p:txBody>
          <a:bodyPr/>
          <a:lstStyle/>
          <a:p>
            <a:r>
              <a:rPr lang="zh-TW" altLang="en-US" b="1">
                <a:latin typeface="微軟正黑體" panose="020B0604030504040204" pitchFamily="34" charset="-120"/>
                <a:ea typeface="微軟正黑體" panose="020B0604030504040204" pitchFamily="34" charset="-120"/>
              </a:rPr>
              <a:t>程式碼編輯器</a:t>
            </a:r>
          </a:p>
        </p:txBody>
      </p:sp>
      <p:pic>
        <p:nvPicPr>
          <p:cNvPr id="5" name="圖片 4" descr="一張含有 文字, 螢幕擷取畫面, 軟體, 數字 的圖片&#10;&#10;自動產生的描述">
            <a:extLst>
              <a:ext uri="{FF2B5EF4-FFF2-40B4-BE49-F238E27FC236}">
                <a16:creationId xmlns:a16="http://schemas.microsoft.com/office/drawing/2014/main" id="{7B17ED34-9561-728D-ABDF-95AE940C48E3}"/>
              </a:ext>
            </a:extLst>
          </p:cNvPr>
          <p:cNvPicPr>
            <a:picLocks noChangeAspect="1"/>
          </p:cNvPicPr>
          <p:nvPr/>
        </p:nvPicPr>
        <p:blipFill rotWithShape="1">
          <a:blip r:embed="rId2"/>
          <a:srcRect l="48376" t="35230" r="3858" b="18600"/>
          <a:stretch/>
        </p:blipFill>
        <p:spPr>
          <a:xfrm>
            <a:off x="921826" y="1287597"/>
            <a:ext cx="7300340" cy="3452753"/>
          </a:xfrm>
          <a:prstGeom prst="rect">
            <a:avLst/>
          </a:prstGeom>
        </p:spPr>
      </p:pic>
      <p:sp>
        <p:nvSpPr>
          <p:cNvPr id="3" name="文字方塊 2">
            <a:extLst>
              <a:ext uri="{FF2B5EF4-FFF2-40B4-BE49-F238E27FC236}">
                <a16:creationId xmlns:a16="http://schemas.microsoft.com/office/drawing/2014/main" id="{B4363BA6-0872-BF6A-8436-CE33020E7428}"/>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10956010 </a:t>
            </a:r>
            <a:r>
              <a:rPr lang="zh-TW" altLang="en-US">
                <a:solidFill>
                  <a:schemeClr val="tx1"/>
                </a:solidFill>
                <a:latin typeface="Quantico" panose="02020500000000000000" charset="0"/>
              </a:rPr>
              <a:t>童柏祐</a:t>
            </a:r>
            <a:endParaRPr lang="en-US" altLang="zh-TW">
              <a:solidFill>
                <a:schemeClr val="tx1"/>
              </a:solidFill>
            </a:endParaRPr>
          </a:p>
        </p:txBody>
      </p:sp>
      <p:sp>
        <p:nvSpPr>
          <p:cNvPr id="4" name="文字方塊 3">
            <a:extLst>
              <a:ext uri="{FF2B5EF4-FFF2-40B4-BE49-F238E27FC236}">
                <a16:creationId xmlns:a16="http://schemas.microsoft.com/office/drawing/2014/main" id="{F5763298-AD90-0033-7CF6-ACBAF24D0EF7}"/>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19</a:t>
            </a:fld>
            <a:endParaRPr lang="zh-TW" altLang="en-US">
              <a:solidFill>
                <a:schemeClr val="tx1"/>
              </a:solidFill>
            </a:endParaRPr>
          </a:p>
        </p:txBody>
      </p:sp>
    </p:spTree>
    <p:extLst>
      <p:ext uri="{BB962C8B-B14F-4D97-AF65-F5344CB8AC3E}">
        <p14:creationId xmlns:p14="http://schemas.microsoft.com/office/powerpoint/2010/main" val="28116592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2D050"/>
                </a:solidFill>
              </a:rPr>
              <a:t>&lt;/</a:t>
            </a:r>
            <a:r>
              <a:rPr lang="zh-TW" altLang="en-US">
                <a:solidFill>
                  <a:srgbClr val="92D050"/>
                </a:solidFill>
              </a:rPr>
              <a:t> </a:t>
            </a:r>
            <a:r>
              <a:rPr lang="zh-TW" altLang="en-US" b="1">
                <a:latin typeface="微軟正黑體" panose="020B0604030504040204" pitchFamily="34" charset="-120"/>
                <a:ea typeface="微軟正黑體" panose="020B0604030504040204" pitchFamily="34" charset="-120"/>
              </a:rPr>
              <a:t>系統特色</a:t>
            </a:r>
          </a:p>
        </p:txBody>
      </p:sp>
      <p:sp>
        <p:nvSpPr>
          <p:cNvPr id="3" name="文字方塊 2">
            <a:extLst>
              <a:ext uri="{FF2B5EF4-FFF2-40B4-BE49-F238E27FC236}">
                <a16:creationId xmlns:a16="http://schemas.microsoft.com/office/drawing/2014/main" id="{767EEB51-D665-7F0F-520F-DDD5093B1BD6}"/>
              </a:ext>
            </a:extLst>
          </p:cNvPr>
          <p:cNvSpPr txBox="1"/>
          <p:nvPr/>
        </p:nvSpPr>
        <p:spPr>
          <a:xfrm>
            <a:off x="640977" y="2189273"/>
            <a:ext cx="8226280" cy="764953"/>
          </a:xfrm>
          <a:prstGeom prst="rect">
            <a:avLst/>
          </a:prstGeom>
          <a:noFill/>
        </p:spPr>
        <p:txBody>
          <a:bodyPr wrap="square" rtlCol="0">
            <a:spAutoFit/>
          </a:bodyPr>
          <a:lstStyle/>
          <a:p>
            <a:pPr algn="just">
              <a:lnSpc>
                <a:spcPct val="150000"/>
              </a:lnSpc>
              <a:buClr>
                <a:schemeClr val="tx1"/>
              </a:buClr>
              <a:buSzPct val="100000"/>
            </a:pPr>
            <a:r>
              <a:rPr lang="zh-TW" altLang="en-US" sz="3200" b="1">
                <a:solidFill>
                  <a:srgbClr val="FFC000"/>
                </a:solidFill>
                <a:latin typeface="Quantico" panose="02020500000000000000" charset="0"/>
              </a:rPr>
              <a:t>整合</a:t>
            </a:r>
            <a:r>
              <a:rPr lang="en-US" altLang="zh-TW" sz="3200" b="1">
                <a:solidFill>
                  <a:srgbClr val="FFC000"/>
                </a:solidFill>
                <a:latin typeface="Quantico" panose="02020500000000000000" charset="0"/>
              </a:rPr>
              <a:t>Dolos</a:t>
            </a:r>
            <a:r>
              <a:rPr lang="zh-TW" altLang="en-US" sz="2400">
                <a:solidFill>
                  <a:schemeClr val="tx1"/>
                </a:solidFill>
              </a:rPr>
              <a:t>，提供使用者快速了解不同特色的解題方式</a:t>
            </a:r>
            <a:endParaRPr lang="en-US" altLang="zh-TW" sz="2400">
              <a:solidFill>
                <a:schemeClr val="tx1"/>
              </a:solidFill>
            </a:endParaRPr>
          </a:p>
        </p:txBody>
      </p:sp>
      <p:sp>
        <p:nvSpPr>
          <p:cNvPr id="5" name="文字方塊 4">
            <a:extLst>
              <a:ext uri="{FF2B5EF4-FFF2-40B4-BE49-F238E27FC236}">
                <a16:creationId xmlns:a16="http://schemas.microsoft.com/office/drawing/2014/main" id="{62AA7CCC-4322-2CD8-2A7C-8908955E8B5C}"/>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10956010 </a:t>
            </a:r>
            <a:r>
              <a:rPr lang="zh-TW" altLang="en-US">
                <a:solidFill>
                  <a:schemeClr val="tx1"/>
                </a:solidFill>
                <a:latin typeface="Quantico" panose="02020500000000000000" charset="0"/>
              </a:rPr>
              <a:t>童柏祐</a:t>
            </a:r>
            <a:endParaRPr lang="en-US" altLang="zh-TW">
              <a:solidFill>
                <a:schemeClr val="tx1"/>
              </a:solidFill>
            </a:endParaRPr>
          </a:p>
        </p:txBody>
      </p:sp>
      <p:sp>
        <p:nvSpPr>
          <p:cNvPr id="6" name="文字方塊 5">
            <a:extLst>
              <a:ext uri="{FF2B5EF4-FFF2-40B4-BE49-F238E27FC236}">
                <a16:creationId xmlns:a16="http://schemas.microsoft.com/office/drawing/2014/main" id="{4F2EC91F-DBE3-6C15-F933-589AC703600B}"/>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20</a:t>
            </a:fld>
            <a:endParaRPr lang="zh-TW" altLang="en-US">
              <a:solidFill>
                <a:schemeClr val="tx1"/>
              </a:solidFill>
            </a:endParaRPr>
          </a:p>
        </p:txBody>
      </p:sp>
    </p:spTree>
    <p:extLst>
      <p:ext uri="{BB962C8B-B14F-4D97-AF65-F5344CB8AC3E}">
        <p14:creationId xmlns:p14="http://schemas.microsoft.com/office/powerpoint/2010/main" val="35614400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B87CB714-AE48-99E1-91E4-C0E835C91529}"/>
              </a:ext>
            </a:extLst>
          </p:cNvPr>
          <p:cNvSpPr>
            <a:spLocks noGrp="1"/>
          </p:cNvSpPr>
          <p:nvPr/>
        </p:nvSpPr>
        <p:spPr>
          <a:xfrm>
            <a:off x="439293" y="280089"/>
            <a:ext cx="7704000" cy="57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300"/>
              <a:buFont typeface="Quantico"/>
              <a:buNone/>
              <a:defRPr sz="3300" b="0" i="0" u="none" strike="noStrike" cap="none">
                <a:solidFill>
                  <a:schemeClr val="dk1"/>
                </a:solidFill>
                <a:latin typeface="Quantico"/>
                <a:ea typeface="Quantico"/>
                <a:cs typeface="Quantico"/>
                <a:sym typeface="Quantico"/>
              </a:defRPr>
            </a:lvl1pPr>
            <a:lvl2pPr marR="0" lvl="1"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2pPr>
            <a:lvl3pPr marR="0" lvl="2"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3pPr>
            <a:lvl4pPr marR="0" lvl="3"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4pPr>
            <a:lvl5pPr marR="0" lvl="4"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5pPr>
            <a:lvl6pPr marR="0" lvl="5"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6pPr>
            <a:lvl7pPr marR="0" lvl="6"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7pPr>
            <a:lvl8pPr marR="0" lvl="7"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8pPr>
            <a:lvl9pPr marR="0" lvl="8"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9pPr>
          </a:lstStyle>
          <a:p>
            <a:r>
              <a:rPr lang="en" altLang="zh-TW" b="1">
                <a:solidFill>
                  <a:srgbClr val="92D050"/>
                </a:solidFill>
                <a:latin typeface="微軟正黑體" panose="020B0604030504040204" pitchFamily="34" charset="-120"/>
                <a:ea typeface="微軟正黑體" panose="020B0604030504040204" pitchFamily="34" charset="-120"/>
              </a:rPr>
              <a:t>&lt;/</a:t>
            </a:r>
            <a:r>
              <a:rPr lang="zh-TW" altLang="en-US" b="1">
                <a:latin typeface="微軟正黑體" panose="020B0604030504040204" pitchFamily="34" charset="-120"/>
                <a:ea typeface="微軟正黑體" panose="020B0604030504040204" pitchFamily="34" charset="-120"/>
              </a:rPr>
              <a:t>測試結果</a:t>
            </a:r>
          </a:p>
        </p:txBody>
      </p:sp>
      <p:sp>
        <p:nvSpPr>
          <p:cNvPr id="10" name="文字方塊 9">
            <a:extLst>
              <a:ext uri="{FF2B5EF4-FFF2-40B4-BE49-F238E27FC236}">
                <a16:creationId xmlns:a16="http://schemas.microsoft.com/office/drawing/2014/main" id="{DE4AF5EB-FA5E-8926-0C5B-442B6C842AB2}"/>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10956010 </a:t>
            </a:r>
            <a:r>
              <a:rPr lang="zh-TW" altLang="en-US">
                <a:solidFill>
                  <a:schemeClr val="tx1"/>
                </a:solidFill>
                <a:latin typeface="Quantico" panose="02020500000000000000" charset="0"/>
              </a:rPr>
              <a:t>童柏祐</a:t>
            </a:r>
            <a:endParaRPr lang="en-US" altLang="zh-TW">
              <a:solidFill>
                <a:schemeClr val="tx1"/>
              </a:solidFill>
            </a:endParaRPr>
          </a:p>
        </p:txBody>
      </p:sp>
      <p:sp>
        <p:nvSpPr>
          <p:cNvPr id="3" name="文字方塊 2">
            <a:extLst>
              <a:ext uri="{FF2B5EF4-FFF2-40B4-BE49-F238E27FC236}">
                <a16:creationId xmlns:a16="http://schemas.microsoft.com/office/drawing/2014/main" id="{C904197A-2413-DF1B-59F5-620F737AE2A5}"/>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21</a:t>
            </a:fld>
            <a:endParaRPr lang="zh-TW" altLang="en-US">
              <a:solidFill>
                <a:schemeClr val="tx1"/>
              </a:solidFill>
            </a:endParaRPr>
          </a:p>
        </p:txBody>
      </p:sp>
      <p:pic>
        <p:nvPicPr>
          <p:cNvPr id="4" name="圖片 3">
            <a:extLst>
              <a:ext uri="{FF2B5EF4-FFF2-40B4-BE49-F238E27FC236}">
                <a16:creationId xmlns:a16="http://schemas.microsoft.com/office/drawing/2014/main" id="{DA4EC39A-6E59-5F38-0C01-C21AC95790C9}"/>
              </a:ext>
            </a:extLst>
          </p:cNvPr>
          <p:cNvPicPr>
            <a:picLocks noChangeAspect="1"/>
          </p:cNvPicPr>
          <p:nvPr/>
        </p:nvPicPr>
        <p:blipFill>
          <a:blip r:embed="rId2"/>
          <a:stretch>
            <a:fillRect/>
          </a:stretch>
        </p:blipFill>
        <p:spPr>
          <a:xfrm>
            <a:off x="993648" y="937197"/>
            <a:ext cx="7156704" cy="3871180"/>
          </a:xfrm>
          <a:prstGeom prst="rect">
            <a:avLst/>
          </a:prstGeom>
        </p:spPr>
      </p:pic>
    </p:spTree>
    <p:extLst>
      <p:ext uri="{BB962C8B-B14F-4D97-AF65-F5344CB8AC3E}">
        <p14:creationId xmlns:p14="http://schemas.microsoft.com/office/powerpoint/2010/main" val="5566880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程式碼分群頁面</a:t>
            </a:r>
          </a:p>
        </p:txBody>
      </p:sp>
      <p:sp>
        <p:nvSpPr>
          <p:cNvPr id="7" name="文字方塊 6">
            <a:extLst>
              <a:ext uri="{FF2B5EF4-FFF2-40B4-BE49-F238E27FC236}">
                <a16:creationId xmlns:a16="http://schemas.microsoft.com/office/drawing/2014/main" id="{E5D31F37-8D40-49F2-90FE-E50CD181EC8B}"/>
              </a:ext>
            </a:extLst>
          </p:cNvPr>
          <p:cNvSpPr txBox="1"/>
          <p:nvPr/>
        </p:nvSpPr>
        <p:spPr>
          <a:xfrm>
            <a:off x="0" y="4835723"/>
            <a:ext cx="39756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6AFFF412-DA01-443A-B29B-CA11A56FD20F}" type="slidenum">
              <a:rPr kumimoji="0" lang="zh-TW" altLang="en-US" sz="1400" b="0" i="0" u="none" strike="noStrike" kern="0" cap="none" spc="0" normalizeH="0" baseline="0" noProof="0" smtClean="0">
                <a:ln>
                  <a:noFill/>
                </a:ln>
                <a:solidFill>
                  <a:srgbClr val="FFFFFF"/>
                </a:solidFill>
                <a:effectLst/>
                <a:uLnTx/>
                <a:uFillTx/>
                <a:latin typeface="Arial"/>
                <a:cs typeface="Arial"/>
                <a:sym typeface="Arial"/>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lang="zh-TW" altLang="en-US" sz="1400" b="0" i="0" u="none" strike="noStrike" kern="0" cap="none" spc="0" normalizeH="0" baseline="0" noProof="0">
              <a:ln>
                <a:noFill/>
              </a:ln>
              <a:solidFill>
                <a:srgbClr val="FFFFFF"/>
              </a:solidFill>
              <a:effectLst/>
              <a:uLnTx/>
              <a:uFillTx/>
              <a:latin typeface="Arial"/>
              <a:cs typeface="Arial"/>
              <a:sym typeface="Arial"/>
            </a:endParaRPr>
          </a:p>
        </p:txBody>
      </p:sp>
      <p:sp>
        <p:nvSpPr>
          <p:cNvPr id="10" name="文字方塊 9">
            <a:extLst>
              <a:ext uri="{FF2B5EF4-FFF2-40B4-BE49-F238E27FC236}">
                <a16:creationId xmlns:a16="http://schemas.microsoft.com/office/drawing/2014/main" id="{0F8BB458-54A1-E713-7C89-1AD8BB462F2B}"/>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TW" altLang="en-US" sz="1400" b="0" i="0" u="none" strike="noStrike" kern="0" cap="none" spc="0" normalizeH="0" baseline="0" noProof="0">
                <a:ln>
                  <a:noFill/>
                </a:ln>
                <a:solidFill>
                  <a:srgbClr val="FFFFFF"/>
                </a:solidFill>
                <a:effectLst/>
                <a:uLnTx/>
                <a:uFillTx/>
                <a:latin typeface="Arial"/>
                <a:cs typeface="Arial"/>
                <a:sym typeface="Arial"/>
              </a:rPr>
              <a:t>報告人</a:t>
            </a:r>
            <a:r>
              <a:rPr kumimoji="0" lang="en-US" altLang="zh-TW" sz="1400" b="0" i="0" u="none" strike="noStrike" kern="0" cap="none" spc="0" normalizeH="0" baseline="0" noProof="0">
                <a:ln>
                  <a:noFill/>
                </a:ln>
                <a:solidFill>
                  <a:srgbClr val="FFFFFF"/>
                </a:solidFill>
                <a:effectLst/>
                <a:uLnTx/>
                <a:uFillTx/>
                <a:latin typeface="Aria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400" b="0" i="0" u="none" strike="noStrike" kern="0" cap="none" spc="0" normalizeH="0" baseline="0" noProof="0">
                <a:ln>
                  <a:noFill/>
                </a:ln>
                <a:solidFill>
                  <a:srgbClr val="FFFFFF"/>
                </a:solidFill>
                <a:effectLst/>
                <a:uLnTx/>
                <a:uFillTx/>
                <a:latin typeface="Quantico" panose="02020500000000000000" charset="0"/>
                <a:cs typeface="Arial"/>
                <a:sym typeface="Arial"/>
              </a:rPr>
              <a:t>10956010 </a:t>
            </a:r>
            <a:r>
              <a:rPr kumimoji="0" lang="zh-TW" altLang="en-US" sz="1400" b="0" i="0" u="none" strike="noStrike" kern="0" cap="none" spc="0" normalizeH="0" baseline="0" noProof="0">
                <a:ln>
                  <a:noFill/>
                </a:ln>
                <a:solidFill>
                  <a:srgbClr val="FFFFFF"/>
                </a:solidFill>
                <a:effectLst/>
                <a:uLnTx/>
                <a:uFillTx/>
                <a:latin typeface="Quantico" panose="02020500000000000000" charset="0"/>
                <a:cs typeface="Arial"/>
                <a:sym typeface="Arial"/>
              </a:rPr>
              <a:t>童柏祐</a:t>
            </a:r>
            <a:endParaRPr kumimoji="0" lang="en-US" altLang="zh-TW" sz="1400" b="0" i="0" u="none" strike="noStrike" kern="0" cap="none" spc="0" normalizeH="0" baseline="0" noProof="0">
              <a:ln>
                <a:noFill/>
              </a:ln>
              <a:solidFill>
                <a:srgbClr val="FFFFFF"/>
              </a:solidFill>
              <a:effectLst/>
              <a:uLnTx/>
              <a:uFillTx/>
              <a:latin typeface="Arial"/>
              <a:cs typeface="Arial"/>
              <a:sym typeface="Arial"/>
            </a:endParaRPr>
          </a:p>
        </p:txBody>
      </p:sp>
      <p:pic>
        <p:nvPicPr>
          <p:cNvPr id="2" name="2024-10-13 20-24-16">
            <a:hlinkClick r:id="" action="ppaction://media"/>
            <a:extLst>
              <a:ext uri="{FF2B5EF4-FFF2-40B4-BE49-F238E27FC236}">
                <a16:creationId xmlns:a16="http://schemas.microsoft.com/office/drawing/2014/main" id="{9F9C4770-18AF-F475-E9B8-6319891F567F}"/>
              </a:ext>
            </a:extLst>
          </p:cNvPr>
          <p:cNvPicPr>
            <a:picLocks noChangeAspect="1"/>
          </p:cNvPicPr>
          <p:nvPr>
            <a:videoFile r:link="rId1"/>
            <p:extLst>
              <p:ext uri="{DAA4B4D4-6D71-4841-9C94-3DE7FCFB9230}">
                <p14:media xmlns:p14="http://schemas.microsoft.com/office/powerpoint/2010/main" r:embed="rId2">
                  <p14:trim st="3023" end="1151.3492"/>
                </p14:media>
              </p:ext>
            </p:extLst>
          </p:nvPr>
        </p:nvPicPr>
        <p:blipFill>
          <a:blip r:embed="rId5"/>
          <a:srcRect t="7983" r="1250" b="3868"/>
          <a:stretch/>
        </p:blipFill>
        <p:spPr>
          <a:xfrm>
            <a:off x="720000" y="1075747"/>
            <a:ext cx="7705032" cy="3868772"/>
          </a:xfrm>
          <a:prstGeom prst="rect">
            <a:avLst/>
          </a:prstGeom>
        </p:spPr>
      </p:pic>
    </p:spTree>
    <p:extLst>
      <p:ext uri="{BB962C8B-B14F-4D97-AF65-F5344CB8AC3E}">
        <p14:creationId xmlns:p14="http://schemas.microsoft.com/office/powerpoint/2010/main" val="3361443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3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D8695E83-4D8A-1243-5304-F38737B5EF86}"/>
              </a:ext>
            </a:extLst>
          </p:cNvPr>
          <p:cNvGraphicFramePr>
            <a:graphicFrameLocks noGrp="1"/>
          </p:cNvGraphicFramePr>
          <p:nvPr>
            <p:extLst>
              <p:ext uri="{D42A27DB-BD31-4B8C-83A1-F6EECF244321}">
                <p14:modId xmlns:p14="http://schemas.microsoft.com/office/powerpoint/2010/main" val="1579809618"/>
              </p:ext>
            </p:extLst>
          </p:nvPr>
        </p:nvGraphicFramePr>
        <p:xfrm>
          <a:off x="525781" y="296349"/>
          <a:ext cx="7988784" cy="4512700"/>
        </p:xfrm>
        <a:graphic>
          <a:graphicData uri="http://schemas.openxmlformats.org/drawingml/2006/table">
            <a:tbl>
              <a:tblPr firstRow="1" bandRow="1">
                <a:tableStyleId>{156FFB51-9094-4DAB-B666-DE70557B4261}</a:tableStyleId>
              </a:tblPr>
              <a:tblGrid>
                <a:gridCol w="1997196">
                  <a:extLst>
                    <a:ext uri="{9D8B030D-6E8A-4147-A177-3AD203B41FA5}">
                      <a16:colId xmlns:a16="http://schemas.microsoft.com/office/drawing/2014/main" val="1545364121"/>
                    </a:ext>
                  </a:extLst>
                </a:gridCol>
                <a:gridCol w="1997196">
                  <a:extLst>
                    <a:ext uri="{9D8B030D-6E8A-4147-A177-3AD203B41FA5}">
                      <a16:colId xmlns:a16="http://schemas.microsoft.com/office/drawing/2014/main" val="1211031230"/>
                    </a:ext>
                  </a:extLst>
                </a:gridCol>
                <a:gridCol w="1997196">
                  <a:extLst>
                    <a:ext uri="{9D8B030D-6E8A-4147-A177-3AD203B41FA5}">
                      <a16:colId xmlns:a16="http://schemas.microsoft.com/office/drawing/2014/main" val="3767153693"/>
                    </a:ext>
                  </a:extLst>
                </a:gridCol>
                <a:gridCol w="1997196">
                  <a:extLst>
                    <a:ext uri="{9D8B030D-6E8A-4147-A177-3AD203B41FA5}">
                      <a16:colId xmlns:a16="http://schemas.microsoft.com/office/drawing/2014/main" val="3377771225"/>
                    </a:ext>
                  </a:extLst>
                </a:gridCol>
              </a:tblGrid>
              <a:tr h="499192">
                <a:tc>
                  <a:txBody>
                    <a:bodyPr/>
                    <a:lstStyle/>
                    <a:p>
                      <a:pPr algn="ctr"/>
                      <a:r>
                        <a:rPr lang="zh-TW" altLang="en-US">
                          <a:solidFill>
                            <a:schemeClr val="tx1"/>
                          </a:solidFill>
                        </a:rPr>
                        <a:t>功能/系統</a:t>
                      </a:r>
                    </a:p>
                  </a:txBody>
                  <a:tcPr anchor="ctr"/>
                </a:tc>
                <a:tc>
                  <a:txBody>
                    <a:bodyPr/>
                    <a:lstStyle/>
                    <a:p>
                      <a:pPr lvl="0" algn="ctr">
                        <a:buNone/>
                      </a:pPr>
                      <a:r>
                        <a:rPr lang="zh-TW" sz="1400" b="0" i="0" u="none" strike="noStrike" noProof="0">
                          <a:solidFill>
                            <a:schemeClr val="tx1"/>
                          </a:solidFill>
                          <a:latin typeface="Arial"/>
                        </a:rPr>
                        <a:t>CodeAlchemy</a:t>
                      </a:r>
                      <a:endParaRPr lang="zh-TW">
                        <a:solidFill>
                          <a:schemeClr val="tx1"/>
                        </a:solidFill>
                      </a:endParaRPr>
                    </a:p>
                  </a:txBody>
                  <a:tcPr anchor="ctr">
                    <a:solidFill>
                      <a:srgbClr val="002060"/>
                    </a:solidFill>
                  </a:tcPr>
                </a:tc>
                <a:tc>
                  <a:txBody>
                    <a:bodyPr/>
                    <a:lstStyle/>
                    <a:p>
                      <a:pPr lvl="0" algn="ctr">
                        <a:buNone/>
                      </a:pPr>
                      <a:r>
                        <a:rPr lang="zh-TW" sz="1400" b="0" i="0" u="none" strike="noStrike" noProof="0">
                          <a:solidFill>
                            <a:schemeClr val="tx1"/>
                          </a:solidFill>
                          <a:latin typeface="Arial"/>
                        </a:rPr>
                        <a:t>Virtual Judge</a:t>
                      </a:r>
                      <a:endParaRPr lang="zh-TW"/>
                    </a:p>
                  </a:txBody>
                  <a:tcPr anchor="ctr">
                    <a:solidFill>
                      <a:schemeClr val="bg2">
                        <a:lumMod val="50000"/>
                      </a:schemeClr>
                    </a:solidFill>
                  </a:tcPr>
                </a:tc>
                <a:tc>
                  <a:txBody>
                    <a:bodyPr/>
                    <a:lstStyle/>
                    <a:p>
                      <a:pPr lvl="0" algn="ctr">
                        <a:buNone/>
                      </a:pPr>
                      <a:r>
                        <a:rPr lang="zh-TW" sz="1400" b="0" i="0" u="none" strike="noStrike" noProof="0">
                          <a:solidFill>
                            <a:schemeClr val="tx1"/>
                          </a:solidFill>
                          <a:latin typeface="Arial"/>
                        </a:rPr>
                        <a:t>ZeroJudge</a:t>
                      </a:r>
                      <a:endParaRPr lang="zh-TW"/>
                    </a:p>
                  </a:txBody>
                  <a:tcPr anchor="ctr">
                    <a:solidFill>
                      <a:srgbClr val="7030A0"/>
                    </a:solidFill>
                  </a:tcPr>
                </a:tc>
                <a:extLst>
                  <a:ext uri="{0D108BD9-81ED-4DB2-BD59-A6C34878D82A}">
                    <a16:rowId xmlns:a16="http://schemas.microsoft.com/office/drawing/2014/main" val="3274428946"/>
                  </a:ext>
                </a:extLst>
              </a:tr>
              <a:tr h="768756">
                <a:tc>
                  <a:txBody>
                    <a:bodyPr/>
                    <a:lstStyle/>
                    <a:p>
                      <a:pPr lvl="0" algn="ctr">
                        <a:buNone/>
                      </a:pPr>
                      <a:r>
                        <a:rPr lang="zh-TW" sz="1400" b="0" i="0" u="none" strike="noStrike" noProof="0">
                          <a:solidFill>
                            <a:schemeClr val="tx1"/>
                          </a:solidFill>
                          <a:latin typeface="Arial"/>
                        </a:rPr>
                        <a:t>題庫來源</a:t>
                      </a:r>
                      <a:endParaRPr lang="zh-TW"/>
                    </a:p>
                  </a:txBody>
                  <a:tcPr anchor="ctr"/>
                </a:tc>
                <a:tc>
                  <a:txBody>
                    <a:bodyPr/>
                    <a:lstStyle/>
                    <a:p>
                      <a:pPr lvl="0" algn="ctr">
                        <a:buNone/>
                      </a:pPr>
                      <a:r>
                        <a:rPr lang="zh-TW" sz="1400" b="0" i="0" u="none" strike="noStrike" noProof="0">
                          <a:solidFill>
                            <a:schemeClr val="tx1"/>
                          </a:solidFill>
                          <a:latin typeface="Arial"/>
                        </a:rPr>
                        <a:t>多平台連接</a:t>
                      </a:r>
                      <a:endParaRPr lang="zh-TW"/>
                    </a:p>
                  </a:txBody>
                  <a:tcPr anchor="ctr"/>
                </a:tc>
                <a:tc>
                  <a:txBody>
                    <a:bodyPr/>
                    <a:lstStyle/>
                    <a:p>
                      <a:pPr lvl="0" algn="ctr">
                        <a:buNone/>
                      </a:pPr>
                      <a:r>
                        <a:rPr lang="zh-TW" sz="1400" b="0" i="0" u="none" strike="noStrike" noProof="0">
                          <a:solidFill>
                            <a:schemeClr val="tx1"/>
                          </a:solidFill>
                          <a:latin typeface="Arial"/>
                        </a:rPr>
                        <a:t>多平台、多語言連接</a:t>
                      </a:r>
                      <a:endParaRPr lang="zh-TW"/>
                    </a:p>
                  </a:txBody>
                  <a:tcPr anchor="ctr"/>
                </a:tc>
                <a:tc>
                  <a:txBody>
                    <a:bodyPr/>
                    <a:lstStyle/>
                    <a:p>
                      <a:pPr lvl="0" algn="ctr">
                        <a:buNone/>
                      </a:pPr>
                      <a:r>
                        <a:rPr lang="zh-TW" sz="1400" b="0" i="0" u="none" strike="noStrike" noProof="0">
                          <a:solidFill>
                            <a:schemeClr val="tx1"/>
                          </a:solidFill>
                          <a:latin typeface="Arial"/>
                        </a:rPr>
                        <a:t>單一平台</a:t>
                      </a:r>
                      <a:endParaRPr lang="zh-TW"/>
                    </a:p>
                  </a:txBody>
                  <a:tcPr anchor="ctr"/>
                </a:tc>
                <a:extLst>
                  <a:ext uri="{0D108BD9-81ED-4DB2-BD59-A6C34878D82A}">
                    <a16:rowId xmlns:a16="http://schemas.microsoft.com/office/drawing/2014/main" val="3426958122"/>
                  </a:ext>
                </a:extLst>
              </a:tr>
              <a:tr h="768756">
                <a:tc>
                  <a:txBody>
                    <a:bodyPr/>
                    <a:lstStyle/>
                    <a:p>
                      <a:pPr lvl="0" algn="ctr">
                        <a:buNone/>
                      </a:pPr>
                      <a:r>
                        <a:rPr lang="zh-TW" sz="1400" b="0" i="0" u="none" strike="noStrike" noProof="0">
                          <a:solidFill>
                            <a:schemeClr val="tx1"/>
                          </a:solidFill>
                          <a:latin typeface="Arial"/>
                        </a:rPr>
                        <a:t>題目新增</a:t>
                      </a:r>
                      <a:endParaRPr lang="zh-TW"/>
                    </a:p>
                  </a:txBody>
                  <a:tcPr anchor="ctr"/>
                </a:tc>
                <a:tc>
                  <a:txBody>
                    <a:bodyPr/>
                    <a:lstStyle/>
                    <a:p>
                      <a:pPr lvl="0" algn="ctr">
                        <a:buNone/>
                      </a:pPr>
                      <a:r>
                        <a:rPr lang="zh-TW" altLang="en-US" sz="1400" b="0" i="0" u="none" strike="noStrike" noProof="0">
                          <a:solidFill>
                            <a:schemeClr val="tx1"/>
                          </a:solidFill>
                          <a:latin typeface="Arial"/>
                        </a:rPr>
                        <a:t>管理者</a:t>
                      </a:r>
                      <a:endParaRPr lang="zh-TW"/>
                    </a:p>
                  </a:txBody>
                  <a:tcPr anchor="ctr"/>
                </a:tc>
                <a:tc>
                  <a:txBody>
                    <a:bodyPr/>
                    <a:lstStyle/>
                    <a:p>
                      <a:pPr lvl="0" algn="ctr">
                        <a:buNone/>
                      </a:pPr>
                      <a:r>
                        <a:rPr lang="zh-TW" sz="1400" b="0" i="0" u="none" strike="noStrike" noProof="0">
                          <a:solidFill>
                            <a:schemeClr val="tx1"/>
                          </a:solidFill>
                          <a:latin typeface="Arial"/>
                        </a:rPr>
                        <a:t> </a:t>
                      </a:r>
                      <a:r>
                        <a:rPr lang="zh-TW" altLang="en-US" sz="1400" b="0" i="0" u="none" strike="noStrike" noProof="0">
                          <a:solidFill>
                            <a:schemeClr val="tx1"/>
                          </a:solidFill>
                        </a:rPr>
                        <a:t>❌</a:t>
                      </a:r>
                      <a:r>
                        <a:rPr lang="zh-TW" sz="1400" b="0" i="0" u="none" strike="noStrike" noProof="0">
                          <a:solidFill>
                            <a:schemeClr val="tx1"/>
                          </a:solidFill>
                          <a:latin typeface="Arial"/>
                        </a:rPr>
                        <a:t>無此功能</a:t>
                      </a:r>
                      <a:endParaRPr lang="zh-TW"/>
                    </a:p>
                  </a:txBody>
                  <a:tcPr anchor="ctr"/>
                </a:tc>
                <a:tc>
                  <a:txBody>
                    <a:bodyPr/>
                    <a:lstStyle/>
                    <a:p>
                      <a:pPr lvl="0" algn="ctr">
                        <a:buNone/>
                      </a:pPr>
                      <a:r>
                        <a:rPr lang="zh-TW" altLang="en-US" sz="1400" b="0" i="0" u="none" strike="noStrike" noProof="0">
                          <a:solidFill>
                            <a:schemeClr val="tx1"/>
                          </a:solidFill>
                          <a:latin typeface="Arial"/>
                        </a:rPr>
                        <a:t>需向平台申請</a:t>
                      </a:r>
                      <a:endParaRPr lang="zh-TW"/>
                    </a:p>
                    <a:p>
                      <a:pPr lvl="0" algn="ctr">
                        <a:buNone/>
                      </a:pPr>
                      <a:r>
                        <a:rPr lang="zh-TW" altLang="en-US" sz="1400" b="0" i="0" u="none" strike="noStrike" noProof="0">
                          <a:solidFill>
                            <a:schemeClr val="tx1"/>
                          </a:solidFill>
                          <a:latin typeface="Arial"/>
                        </a:rPr>
                        <a:t>門檻高(</a:t>
                      </a:r>
                      <a:r>
                        <a:rPr lang="en-US" altLang="zh-TW" sz="1400" b="0" i="0" u="none" strike="noStrike" noProof="0">
                          <a:solidFill>
                            <a:schemeClr val="tx1"/>
                          </a:solidFill>
                          <a:latin typeface="Arial"/>
                        </a:rPr>
                        <a:t>3</a:t>
                      </a:r>
                      <a:r>
                        <a:rPr lang="en-US" altLang="en-US" sz="1400" b="0" i="0" u="none" strike="noStrike" noProof="0">
                          <a:solidFill>
                            <a:schemeClr val="tx1"/>
                          </a:solidFill>
                          <a:latin typeface="Arial"/>
                        </a:rPr>
                        <a:t>0%)</a:t>
                      </a:r>
                      <a:r>
                        <a:rPr lang="zh-TW" sz="1400" b="0" i="0" u="none" strike="noStrike" noProof="0">
                          <a:solidFill>
                            <a:schemeClr val="tx1"/>
                          </a:solidFill>
                          <a:latin typeface="Arial"/>
                        </a:rPr>
                        <a:t>✅</a:t>
                      </a:r>
                      <a:endParaRPr lang="zh-TW"/>
                    </a:p>
                  </a:txBody>
                  <a:tcPr anchor="ctr"/>
                </a:tc>
                <a:extLst>
                  <a:ext uri="{0D108BD9-81ED-4DB2-BD59-A6C34878D82A}">
                    <a16:rowId xmlns:a16="http://schemas.microsoft.com/office/drawing/2014/main" val="2341986477"/>
                  </a:ext>
                </a:extLst>
              </a:tr>
              <a:tr h="1078258">
                <a:tc>
                  <a:txBody>
                    <a:bodyPr/>
                    <a:lstStyle/>
                    <a:p>
                      <a:pPr lvl="0" algn="ctr">
                        <a:buNone/>
                      </a:pPr>
                      <a:r>
                        <a:rPr lang="zh-TW" sz="1400" b="0" i="0" u="none" strike="noStrike" noProof="0">
                          <a:solidFill>
                            <a:schemeClr val="tx1"/>
                          </a:solidFill>
                          <a:latin typeface="Arial"/>
                        </a:rPr>
                        <a:t>程式碼相似度檢測 (Dolos)</a:t>
                      </a:r>
                      <a:endParaRPr lang="zh-TW"/>
                    </a:p>
                  </a:txBody>
                  <a:tcPr anchor="ctr"/>
                </a:tc>
                <a:tc>
                  <a:txBody>
                    <a:bodyPr/>
                    <a:lstStyle/>
                    <a:p>
                      <a:pPr lvl="0" algn="ctr">
                        <a:buNone/>
                      </a:pPr>
                      <a:r>
                        <a:rPr lang="zh-TW" altLang="en-US" sz="1400" b="0" i="0" u="none" strike="noStrike" noProof="0">
                          <a:solidFill>
                            <a:schemeClr val="tx1"/>
                          </a:solidFill>
                        </a:rPr>
                        <a:t>✅</a:t>
                      </a:r>
                      <a:r>
                        <a:rPr lang="zh-TW" sz="1400" b="0" i="0" u="none" strike="noStrike" noProof="0">
                          <a:solidFill>
                            <a:schemeClr val="tx1"/>
                          </a:solidFill>
                          <a:latin typeface="Arial"/>
                        </a:rPr>
                        <a:t>有 </a:t>
                      </a:r>
                      <a:endParaRPr lang="en-US" altLang="zh-TW" sz="1400" b="0" i="0" u="none" strike="noStrike" noProof="0">
                        <a:solidFill>
                          <a:schemeClr val="tx1"/>
                        </a:solidFill>
                        <a:latin typeface="Arial"/>
                      </a:endParaRPr>
                    </a:p>
                    <a:p>
                      <a:pPr lvl="0" algn="ctr">
                        <a:buNone/>
                      </a:pPr>
                      <a:r>
                        <a:rPr lang="zh-TW" sz="1400" b="0" i="0" u="none" strike="noStrike" noProof="0">
                          <a:solidFill>
                            <a:schemeClr val="tx1"/>
                          </a:solidFill>
                          <a:latin typeface="Arial"/>
                        </a:rPr>
                        <a:t>(高效檢測重複程式碼)</a:t>
                      </a:r>
                      <a:endParaRPr lang="zh-TW"/>
                    </a:p>
                  </a:txBody>
                  <a:tcPr anchor="ctr"/>
                </a:tc>
                <a:tc>
                  <a:txBody>
                    <a:bodyPr/>
                    <a:lstStyle/>
                    <a:p>
                      <a:pPr lvl="0" algn="ctr">
                        <a:buNone/>
                      </a:pPr>
                      <a:r>
                        <a:rPr lang="zh-TW" altLang="en-US" sz="1400" b="0" i="0" u="none" strike="noStrike" noProof="0">
                          <a:solidFill>
                            <a:schemeClr val="tx1"/>
                          </a:solidFill>
                        </a:rPr>
                        <a:t>❌</a:t>
                      </a:r>
                      <a:r>
                        <a:rPr lang="zh-TW" sz="1400" b="0" i="0" u="none" strike="noStrike" noProof="0">
                          <a:solidFill>
                            <a:schemeClr val="tx1"/>
                          </a:solidFill>
                          <a:latin typeface="Arial"/>
                        </a:rPr>
                        <a:t>無</a:t>
                      </a:r>
                      <a:endParaRPr lang="zh-TW"/>
                    </a:p>
                  </a:txBody>
                  <a:tcPr anchor="ctr"/>
                </a:tc>
                <a:tc>
                  <a:txBody>
                    <a:bodyPr/>
                    <a:lstStyle/>
                    <a:p>
                      <a:pPr lvl="0" algn="ctr">
                        <a:buNone/>
                      </a:pPr>
                      <a:r>
                        <a:rPr lang="zh-TW" altLang="en-US" sz="1400" b="0" i="0" u="none" strike="noStrike" noProof="0">
                          <a:solidFill>
                            <a:schemeClr val="tx1"/>
                          </a:solidFill>
                        </a:rPr>
                        <a:t>❌</a:t>
                      </a:r>
                      <a:r>
                        <a:rPr lang="zh-TW" sz="1400" b="0" i="0" u="none" strike="noStrike" noProof="0">
                          <a:solidFill>
                            <a:schemeClr val="tx1"/>
                          </a:solidFill>
                          <a:latin typeface="Arial"/>
                        </a:rPr>
                        <a:t>無</a:t>
                      </a:r>
                      <a:endParaRPr lang="zh-TW"/>
                    </a:p>
                  </a:txBody>
                  <a:tcPr anchor="ctr"/>
                </a:tc>
                <a:extLst>
                  <a:ext uri="{0D108BD9-81ED-4DB2-BD59-A6C34878D82A}">
                    <a16:rowId xmlns:a16="http://schemas.microsoft.com/office/drawing/2014/main" val="1019414180"/>
                  </a:ext>
                </a:extLst>
              </a:tr>
              <a:tr h="728821">
                <a:tc>
                  <a:txBody>
                    <a:bodyPr/>
                    <a:lstStyle/>
                    <a:p>
                      <a:pPr lvl="0" algn="ctr">
                        <a:buNone/>
                      </a:pPr>
                      <a:r>
                        <a:rPr lang="zh-TW" altLang="en-US" sz="1400" b="0" i="0" u="none" strike="noStrike" noProof="0">
                          <a:solidFill>
                            <a:schemeClr val="tx1"/>
                          </a:solidFill>
                        </a:rPr>
                        <a:t>技術架構</a:t>
                      </a:r>
                      <a:endParaRPr lang="zh-TW"/>
                    </a:p>
                  </a:txBody>
                  <a:tcPr anchor="ctr"/>
                </a:tc>
                <a:tc>
                  <a:txBody>
                    <a:bodyPr/>
                    <a:lstStyle/>
                    <a:p>
                      <a:pPr lvl="0" algn="ctr">
                        <a:buNone/>
                      </a:pPr>
                      <a:r>
                        <a:rPr lang="zh-TW" sz="1400" b="0" i="0" u="none" strike="noStrike" noProof="0">
                          <a:solidFill>
                            <a:schemeClr val="tx1"/>
                          </a:solidFill>
                          <a:latin typeface="Arial"/>
                        </a:rPr>
                        <a:t>Flask</a:t>
                      </a:r>
                      <a:r>
                        <a:rPr lang="en-US" altLang="zh-TW" sz="1400" b="0" i="0" u="none" strike="noStrike" noProof="0">
                          <a:solidFill>
                            <a:schemeClr val="tx1"/>
                          </a:solidFill>
                          <a:latin typeface="Arial"/>
                        </a:rPr>
                        <a:t>,MySQL</a:t>
                      </a:r>
                      <a:r>
                        <a:rPr lang="zh-TW" sz="1400" b="0" i="0" u="none" strike="noStrike" noProof="0">
                          <a:solidFill>
                            <a:schemeClr val="tx1"/>
                          </a:solidFill>
                          <a:latin typeface="Arial"/>
                        </a:rPr>
                        <a:t> </a:t>
                      </a:r>
                      <a:endParaRPr lang="en-US" altLang="zh-TW" sz="1400" b="0" i="0" u="none" strike="noStrike" noProof="0">
                        <a:solidFill>
                          <a:schemeClr val="tx1"/>
                        </a:solidFill>
                        <a:latin typeface="Arial"/>
                      </a:endParaRPr>
                    </a:p>
                    <a:p>
                      <a:pPr lvl="0" algn="ctr">
                        <a:buNone/>
                      </a:pPr>
                      <a:r>
                        <a:rPr lang="zh-TW" sz="1400" b="0" i="0" u="none" strike="noStrike" noProof="0">
                          <a:solidFill>
                            <a:schemeClr val="tx1"/>
                          </a:solidFill>
                          <a:latin typeface="Arial"/>
                        </a:rPr>
                        <a:t>Selenium, Dolos</a:t>
                      </a:r>
                      <a:endParaRPr lang="zh-TW"/>
                    </a:p>
                  </a:txBody>
                  <a:tcPr anchor="ctr"/>
                </a:tc>
                <a:tc>
                  <a:txBody>
                    <a:bodyPr/>
                    <a:lstStyle/>
                    <a:p>
                      <a:pPr lvl="0" algn="ctr">
                        <a:buNone/>
                      </a:pPr>
                      <a:r>
                        <a:rPr lang="zh-TW" sz="1400" b="0" i="0" u="none" strike="noStrike" noProof="0">
                          <a:solidFill>
                            <a:schemeClr val="tx1"/>
                          </a:solidFill>
                          <a:latin typeface="Arial"/>
                        </a:rPr>
                        <a:t>未公開 </a:t>
                      </a:r>
                      <a:endParaRPr lang="en-US" altLang="zh-TW" sz="1400" b="0" i="0" u="none" strike="noStrike" noProof="0">
                        <a:solidFill>
                          <a:schemeClr val="tx1"/>
                        </a:solidFill>
                        <a:latin typeface="Arial"/>
                      </a:endParaRPr>
                    </a:p>
                    <a:p>
                      <a:pPr lvl="0" algn="ctr">
                        <a:buNone/>
                      </a:pPr>
                      <a:r>
                        <a:rPr lang="zh-TW" sz="1400" b="0" i="0" u="none" strike="noStrike" noProof="0">
                          <a:solidFill>
                            <a:schemeClr val="tx1"/>
                          </a:solidFill>
                          <a:latin typeface="Arial"/>
                        </a:rPr>
                        <a:t>(依賴多平台 API)</a:t>
                      </a:r>
                      <a:endParaRPr lang="zh-TW"/>
                    </a:p>
                  </a:txBody>
                  <a:tcPr anchor="ctr"/>
                </a:tc>
                <a:tc>
                  <a:txBody>
                    <a:bodyPr/>
                    <a:lstStyle/>
                    <a:p>
                      <a:pPr lvl="0" algn="ctr">
                        <a:buNone/>
                      </a:pPr>
                      <a:r>
                        <a:rPr lang="zh-TW" sz="1400" b="0" i="0" u="none" strike="noStrike" noProof="0">
                          <a:solidFill>
                            <a:schemeClr val="tx1"/>
                          </a:solidFill>
                          <a:latin typeface="Arial"/>
                        </a:rPr>
                        <a:t>PHP + MySQL</a:t>
                      </a:r>
                      <a:endParaRPr lang="zh-TW"/>
                    </a:p>
                  </a:txBody>
                  <a:tcPr anchor="ctr"/>
                </a:tc>
                <a:extLst>
                  <a:ext uri="{0D108BD9-81ED-4DB2-BD59-A6C34878D82A}">
                    <a16:rowId xmlns:a16="http://schemas.microsoft.com/office/drawing/2014/main" val="2718128268"/>
                  </a:ext>
                </a:extLst>
              </a:tr>
              <a:tr h="668917">
                <a:tc>
                  <a:txBody>
                    <a:bodyPr/>
                    <a:lstStyle/>
                    <a:p>
                      <a:pPr lvl="0" algn="ctr">
                        <a:buNone/>
                      </a:pPr>
                      <a:r>
                        <a:rPr lang="zh-TW" sz="1400" b="0" i="0" u="none" strike="noStrike" noProof="0">
                          <a:solidFill>
                            <a:schemeClr val="tx1"/>
                          </a:solidFill>
                          <a:latin typeface="Arial"/>
                        </a:rPr>
                        <a:t>提交測試時間</a:t>
                      </a:r>
                      <a:endParaRPr lang="zh-TW"/>
                    </a:p>
                  </a:txBody>
                  <a:tcPr anchor="ctr"/>
                </a:tc>
                <a:tc>
                  <a:txBody>
                    <a:bodyPr/>
                    <a:lstStyle/>
                    <a:p>
                      <a:pPr lvl="0" algn="ctr">
                        <a:buNone/>
                      </a:pPr>
                      <a:r>
                        <a:rPr lang="zh-TW" altLang="en-US" sz="1400" b="0" i="0" u="none" strike="noStrike" noProof="0">
                          <a:solidFill>
                            <a:schemeClr val="tx1"/>
                          </a:solidFill>
                        </a:rPr>
                        <a:t>長 </a:t>
                      </a:r>
                      <a:r>
                        <a:rPr lang="zh-TW" sz="1400" b="0" i="0" u="none" strike="noStrike" noProof="0">
                          <a:solidFill>
                            <a:schemeClr val="tx1"/>
                          </a:solidFill>
                          <a:latin typeface="Arial"/>
                        </a:rPr>
                        <a:t>❌</a:t>
                      </a:r>
                      <a:endParaRPr lang="zh-TW" altLang="en-US"/>
                    </a:p>
                    <a:p>
                      <a:pPr lvl="0" algn="ctr">
                        <a:buNone/>
                      </a:pPr>
                      <a:r>
                        <a:rPr lang="en-US" altLang="zh-TW" sz="1400" b="0" i="0" u="none" strike="noStrike" noProof="0">
                          <a:solidFill>
                            <a:schemeClr val="tx1"/>
                          </a:solidFill>
                        </a:rPr>
                        <a:t>(</a:t>
                      </a:r>
                      <a:r>
                        <a:rPr lang="en-US" altLang="zh-TW" sz="1400" b="0" i="0" u="none" strike="noStrike" noProof="0" err="1">
                          <a:solidFill>
                            <a:schemeClr val="tx1"/>
                          </a:solidFill>
                        </a:rPr>
                        <a:t>連接VPN繞過反爬蟲</a:t>
                      </a:r>
                      <a:r>
                        <a:rPr lang="en-US" altLang="zh-TW" sz="1400" b="0" i="0" u="none" strike="noStrike" noProof="0">
                          <a:solidFill>
                            <a:schemeClr val="tx1"/>
                          </a:solidFill>
                        </a:rPr>
                        <a:t>)</a:t>
                      </a:r>
                      <a:endParaRPr lang="zh-TW"/>
                    </a:p>
                  </a:txBody>
                  <a:tcPr anchor="ctr"/>
                </a:tc>
                <a:tc>
                  <a:txBody>
                    <a:bodyPr/>
                    <a:lstStyle/>
                    <a:p>
                      <a:pPr lvl="0" algn="ctr">
                        <a:buNone/>
                      </a:pPr>
                      <a:r>
                        <a:rPr lang="zh-TW" altLang="en-US" sz="1400" b="0" i="0" u="none" strike="noStrike" noProof="0">
                          <a:solidFill>
                            <a:schemeClr val="tx1"/>
                          </a:solidFill>
                        </a:rPr>
                        <a:t>中</a:t>
                      </a:r>
                      <a:endParaRPr lang="zh-TW"/>
                    </a:p>
                    <a:p>
                      <a:pPr lvl="0" algn="ctr">
                        <a:buNone/>
                      </a:pPr>
                      <a:r>
                        <a:rPr lang="zh-TW" altLang="en-US" sz="1400" b="0" i="0" u="none" strike="noStrike" noProof="0">
                          <a:solidFill>
                            <a:schemeClr val="tx1"/>
                          </a:solidFill>
                        </a:rPr>
                        <a:t> </a:t>
                      </a:r>
                      <a:r>
                        <a:rPr lang="en-US" altLang="zh-TW" sz="1400" b="0" i="0" u="none" strike="noStrike" noProof="0">
                          <a:solidFill>
                            <a:schemeClr val="tx1"/>
                          </a:solidFill>
                        </a:rPr>
                        <a:t>(</a:t>
                      </a:r>
                      <a:r>
                        <a:rPr lang="zh-TW" altLang="en-US" sz="1400" b="0" i="0" u="none" strike="noStrike" noProof="0">
                          <a:solidFill>
                            <a:schemeClr val="tx1"/>
                          </a:solidFill>
                        </a:rPr>
                        <a:t>因使用不同外部平台</a:t>
                      </a:r>
                      <a:r>
                        <a:rPr lang="en-US" altLang="zh-TW" sz="1400" b="0" i="0" u="none" strike="noStrike" noProof="0">
                          <a:solidFill>
                            <a:schemeClr val="tx1"/>
                          </a:solidFill>
                        </a:rPr>
                        <a:t>)</a:t>
                      </a:r>
                      <a:endParaRPr lang="zh-TW"/>
                    </a:p>
                  </a:txBody>
                  <a:tcPr anchor="ctr"/>
                </a:tc>
                <a:tc>
                  <a:txBody>
                    <a:bodyPr/>
                    <a:lstStyle/>
                    <a:p>
                      <a:pPr lvl="0" algn="ctr">
                        <a:buNone/>
                      </a:pPr>
                      <a:r>
                        <a:rPr lang="zh-TW" altLang="en-US" sz="1400" b="0" i="0" u="none" strike="noStrike" noProof="0">
                          <a:solidFill>
                            <a:schemeClr val="tx1"/>
                          </a:solidFill>
                        </a:rPr>
                        <a:t>短 </a:t>
                      </a:r>
                      <a:r>
                        <a:rPr lang="zh-TW" sz="1400" b="0" i="0" u="none" strike="noStrike" noProof="0">
                          <a:solidFill>
                            <a:schemeClr val="tx1"/>
                          </a:solidFill>
                          <a:latin typeface="Arial"/>
                        </a:rPr>
                        <a:t>✅</a:t>
                      </a:r>
                      <a:endParaRPr lang="zh-TW" altLang="en-US"/>
                    </a:p>
                    <a:p>
                      <a:pPr lvl="0" algn="ctr">
                        <a:buNone/>
                      </a:pPr>
                      <a:r>
                        <a:rPr lang="en-US" altLang="zh-TW" sz="1400" b="0" i="0" u="none" strike="noStrike" noProof="0">
                          <a:solidFill>
                            <a:schemeClr val="tx1"/>
                          </a:solidFill>
                        </a:rPr>
                        <a:t>(</a:t>
                      </a:r>
                      <a:r>
                        <a:rPr lang="zh-TW" altLang="en-US" sz="1400" b="0" i="0" u="none" strike="noStrike" noProof="0">
                          <a:solidFill>
                            <a:schemeClr val="tx1"/>
                          </a:solidFill>
                        </a:rPr>
                        <a:t>伺服器相對負載低</a:t>
                      </a:r>
                      <a:r>
                        <a:rPr lang="en-US" altLang="zh-TW" sz="1400" b="0" i="0" u="none" strike="noStrike" noProof="0">
                          <a:solidFill>
                            <a:schemeClr val="tx1"/>
                          </a:solidFill>
                        </a:rPr>
                        <a:t>)</a:t>
                      </a:r>
                      <a:endParaRPr lang="zh-TW"/>
                    </a:p>
                  </a:txBody>
                  <a:tcPr anchor="ctr"/>
                </a:tc>
                <a:extLst>
                  <a:ext uri="{0D108BD9-81ED-4DB2-BD59-A6C34878D82A}">
                    <a16:rowId xmlns:a16="http://schemas.microsoft.com/office/drawing/2014/main" val="381251034"/>
                  </a:ext>
                </a:extLst>
              </a:tr>
            </a:tbl>
          </a:graphicData>
        </a:graphic>
      </p:graphicFrame>
    </p:spTree>
    <p:extLst>
      <p:ext uri="{BB962C8B-B14F-4D97-AF65-F5344CB8AC3E}">
        <p14:creationId xmlns:p14="http://schemas.microsoft.com/office/powerpoint/2010/main" val="29079668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8" name="Google Shape;487;p24">
            <a:extLst>
              <a:ext uri="{FF2B5EF4-FFF2-40B4-BE49-F238E27FC236}">
                <a16:creationId xmlns:a16="http://schemas.microsoft.com/office/drawing/2014/main" id="{A17D0743-20EB-4699-83E9-6636A0FA9D13}"/>
              </a:ext>
            </a:extLst>
          </p:cNvPr>
          <p:cNvSpPr txBox="1"/>
          <p:nvPr/>
        </p:nvSpPr>
        <p:spPr>
          <a:xfrm>
            <a:off x="839315" y="2484150"/>
            <a:ext cx="3488678"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6000">
                <a:solidFill>
                  <a:schemeClr val="dk1"/>
                </a:solidFill>
                <a:latin typeface="Quantico"/>
                <a:ea typeface="Quantico"/>
                <a:cs typeface="Quantico"/>
                <a:sym typeface="Quantico"/>
              </a:rPr>
              <a:t>{05</a:t>
            </a:r>
            <a:r>
              <a:rPr lang="en" sz="6000">
                <a:solidFill>
                  <a:schemeClr val="accent1"/>
                </a:solidFill>
                <a:latin typeface="Quantico"/>
                <a:ea typeface="Quantico"/>
                <a:cs typeface="Quantico"/>
                <a:sym typeface="Quantico"/>
              </a:rPr>
              <a:t>}</a:t>
            </a:r>
            <a:endParaRPr sz="6000">
              <a:solidFill>
                <a:schemeClr val="accent1"/>
              </a:solidFill>
              <a:latin typeface="Quantico"/>
              <a:ea typeface="Quantico"/>
              <a:cs typeface="Quantico"/>
              <a:sym typeface="Quantico"/>
            </a:endParaRPr>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2283535" y="2615294"/>
            <a:ext cx="4537801"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zh-TW" altLang="en-US" sz="5400" b="1">
                <a:solidFill>
                  <a:schemeClr val="dk1"/>
                </a:solidFill>
                <a:latin typeface="微軟正黑體" panose="020B0604030504040204" pitchFamily="34" charset="-120"/>
                <a:ea typeface="微軟正黑體" panose="020B0604030504040204" pitchFamily="34" charset="-120"/>
                <a:cs typeface="Quantico"/>
                <a:sym typeface="Quantico"/>
              </a:rPr>
              <a:t>系統展示</a:t>
            </a:r>
          </a:p>
        </p:txBody>
      </p:sp>
      <p:sp>
        <p:nvSpPr>
          <p:cNvPr id="2" name="文字方塊 1">
            <a:extLst>
              <a:ext uri="{FF2B5EF4-FFF2-40B4-BE49-F238E27FC236}">
                <a16:creationId xmlns:a16="http://schemas.microsoft.com/office/drawing/2014/main" id="{0532296E-1556-D938-1A15-92E55DA795B0}"/>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 </a:t>
            </a:r>
            <a:r>
              <a:rPr lang="zh-TW" altLang="en-US">
                <a:solidFill>
                  <a:schemeClr val="tx1"/>
                </a:solidFill>
                <a:latin typeface="Quantico" panose="02020500000000000000" charset="0"/>
              </a:rPr>
              <a:t>周恩宇</a:t>
            </a:r>
            <a:endParaRPr lang="en-US" altLang="zh-TW">
              <a:solidFill>
                <a:schemeClr val="tx1"/>
              </a:solidFill>
            </a:endParaRPr>
          </a:p>
        </p:txBody>
      </p:sp>
    </p:spTree>
    <p:extLst>
      <p:ext uri="{BB962C8B-B14F-4D97-AF65-F5344CB8AC3E}">
        <p14:creationId xmlns:p14="http://schemas.microsoft.com/office/powerpoint/2010/main" val="34465302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pic>
        <p:nvPicPr>
          <p:cNvPr id="9" name="圖片 8">
            <a:extLst>
              <a:ext uri="{FF2B5EF4-FFF2-40B4-BE49-F238E27FC236}">
                <a16:creationId xmlns:a16="http://schemas.microsoft.com/office/drawing/2014/main" id="{60FAE36C-DDE5-5007-5442-C875FDABC3AE}"/>
              </a:ext>
            </a:extLst>
          </p:cNvPr>
          <p:cNvPicPr>
            <a:picLocks noChangeAspect="1"/>
          </p:cNvPicPr>
          <p:nvPr/>
        </p:nvPicPr>
        <p:blipFill>
          <a:blip r:embed="rId3"/>
          <a:stretch>
            <a:fillRect/>
          </a:stretch>
        </p:blipFill>
        <p:spPr>
          <a:xfrm>
            <a:off x="966651" y="1004295"/>
            <a:ext cx="7098730" cy="3940224"/>
          </a:xfrm>
          <a:prstGeom prst="rect">
            <a:avLst/>
          </a:prstGeom>
        </p:spPr>
      </p:pic>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主頁面</a:t>
            </a:r>
          </a:p>
        </p:txBody>
      </p:sp>
      <p:sp>
        <p:nvSpPr>
          <p:cNvPr id="4" name="文字方塊 3">
            <a:extLst>
              <a:ext uri="{FF2B5EF4-FFF2-40B4-BE49-F238E27FC236}">
                <a16:creationId xmlns:a16="http://schemas.microsoft.com/office/drawing/2014/main" id="{615F7922-2570-A9AA-46DA-288B25E2BBCB}"/>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25</a:t>
            </a:fld>
            <a:endParaRPr lang="zh-TW" altLang="en-US">
              <a:solidFill>
                <a:schemeClr val="tx1"/>
              </a:solidFill>
            </a:endParaRPr>
          </a:p>
        </p:txBody>
      </p:sp>
      <p:sp>
        <p:nvSpPr>
          <p:cNvPr id="3" name="文字方塊 2">
            <a:extLst>
              <a:ext uri="{FF2B5EF4-FFF2-40B4-BE49-F238E27FC236}">
                <a16:creationId xmlns:a16="http://schemas.microsoft.com/office/drawing/2014/main" id="{26128BC3-9AD1-0C0C-8DB7-5941DCC9AAFE}"/>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sp>
        <p:nvSpPr>
          <p:cNvPr id="8" name="矩形: 圓角 7">
            <a:extLst>
              <a:ext uri="{FF2B5EF4-FFF2-40B4-BE49-F238E27FC236}">
                <a16:creationId xmlns:a16="http://schemas.microsoft.com/office/drawing/2014/main" id="{3C2C4778-2D81-5464-F81F-40EB930F8333}"/>
              </a:ext>
            </a:extLst>
          </p:cNvPr>
          <p:cNvSpPr/>
          <p:nvPr/>
        </p:nvSpPr>
        <p:spPr>
          <a:xfrm>
            <a:off x="1272696" y="2097007"/>
            <a:ext cx="6613702" cy="22071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391414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pic>
        <p:nvPicPr>
          <p:cNvPr id="11" name="圖片 10">
            <a:extLst>
              <a:ext uri="{FF2B5EF4-FFF2-40B4-BE49-F238E27FC236}">
                <a16:creationId xmlns:a16="http://schemas.microsoft.com/office/drawing/2014/main" id="{EAECCFEB-2BEB-EF50-5E8D-CFD2A2B6A901}"/>
              </a:ext>
            </a:extLst>
          </p:cNvPr>
          <p:cNvPicPr>
            <a:picLocks noChangeAspect="1"/>
          </p:cNvPicPr>
          <p:nvPr/>
        </p:nvPicPr>
        <p:blipFill>
          <a:blip r:embed="rId3"/>
          <a:stretch>
            <a:fillRect/>
          </a:stretch>
        </p:blipFill>
        <p:spPr>
          <a:xfrm>
            <a:off x="954000" y="984377"/>
            <a:ext cx="7236000" cy="4005234"/>
          </a:xfrm>
          <a:prstGeom prst="rect">
            <a:avLst/>
          </a:prstGeom>
        </p:spPr>
      </p:pic>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答題頁面</a:t>
            </a:r>
          </a:p>
        </p:txBody>
      </p:sp>
      <p:sp>
        <p:nvSpPr>
          <p:cNvPr id="4" name="矩形: 圓角 3">
            <a:extLst>
              <a:ext uri="{FF2B5EF4-FFF2-40B4-BE49-F238E27FC236}">
                <a16:creationId xmlns:a16="http://schemas.microsoft.com/office/drawing/2014/main" id="{707B1DDF-5392-67F2-2F4D-5E60AF1E6830}"/>
              </a:ext>
            </a:extLst>
          </p:cNvPr>
          <p:cNvSpPr/>
          <p:nvPr/>
        </p:nvSpPr>
        <p:spPr>
          <a:xfrm>
            <a:off x="5125494" y="1431080"/>
            <a:ext cx="2759982" cy="23292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E2FDF9C5-4B6A-87E1-9336-C4282FCDA84A}"/>
              </a:ext>
            </a:extLst>
          </p:cNvPr>
          <p:cNvSpPr txBox="1"/>
          <p:nvPr/>
        </p:nvSpPr>
        <p:spPr>
          <a:xfrm>
            <a:off x="5061392" y="3313486"/>
            <a:ext cx="2361303" cy="461665"/>
          </a:xfrm>
          <a:prstGeom prst="rect">
            <a:avLst/>
          </a:prstGeom>
          <a:noFill/>
        </p:spPr>
        <p:txBody>
          <a:bodyPr wrap="square" rtlCol="0">
            <a:spAutoFit/>
          </a:bodyPr>
          <a:lstStyle/>
          <a:p>
            <a:pPr algn="dist"/>
            <a:r>
              <a:rPr lang="zh-TW" altLang="en-US" sz="2400" b="1">
                <a:solidFill>
                  <a:srgbClr val="FF0000"/>
                </a:solidFill>
              </a:rPr>
              <a:t>程式撰寫區</a:t>
            </a:r>
          </a:p>
        </p:txBody>
      </p:sp>
      <p:sp>
        <p:nvSpPr>
          <p:cNvPr id="6" name="矩形: 圓角 5">
            <a:extLst>
              <a:ext uri="{FF2B5EF4-FFF2-40B4-BE49-F238E27FC236}">
                <a16:creationId xmlns:a16="http://schemas.microsoft.com/office/drawing/2014/main" id="{36AAEC76-6075-6645-3C87-D957DE87FE57}"/>
              </a:ext>
            </a:extLst>
          </p:cNvPr>
          <p:cNvSpPr/>
          <p:nvPr/>
        </p:nvSpPr>
        <p:spPr>
          <a:xfrm>
            <a:off x="4535164" y="2339479"/>
            <a:ext cx="3413760" cy="1625302"/>
          </a:xfrm>
          <a:prstGeom prst="roundRect">
            <a:avLst>
              <a:gd name="adj" fmla="val 6265"/>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E5D31F37-8D40-49F2-90FE-E50CD181EC8B}"/>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26</a:t>
            </a:fld>
            <a:endParaRPr lang="zh-TW" altLang="en-US">
              <a:solidFill>
                <a:schemeClr val="tx1"/>
              </a:solidFill>
            </a:endParaRPr>
          </a:p>
        </p:txBody>
      </p:sp>
      <p:sp>
        <p:nvSpPr>
          <p:cNvPr id="2" name="文字方塊 1">
            <a:extLst>
              <a:ext uri="{FF2B5EF4-FFF2-40B4-BE49-F238E27FC236}">
                <a16:creationId xmlns:a16="http://schemas.microsoft.com/office/drawing/2014/main" id="{9E8024DD-CA43-5C77-1AEF-3ED1F77B279F}"/>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spTree>
    <p:extLst>
      <p:ext uri="{BB962C8B-B14F-4D97-AF65-F5344CB8AC3E}">
        <p14:creationId xmlns:p14="http://schemas.microsoft.com/office/powerpoint/2010/main" val="40717075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5D4DCBA9-B9E9-537B-0265-791D20E4CA62}"/>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0B078F91-576C-4671-7ADB-A2B60C3FBD41}"/>
              </a:ext>
            </a:extLst>
          </p:cNvPr>
          <p:cNvPicPr>
            <a:picLocks noChangeAspect="1"/>
          </p:cNvPicPr>
          <p:nvPr/>
        </p:nvPicPr>
        <p:blipFill>
          <a:blip r:embed="rId3"/>
          <a:stretch>
            <a:fillRect/>
          </a:stretch>
        </p:blipFill>
        <p:spPr>
          <a:xfrm>
            <a:off x="964566" y="1032779"/>
            <a:ext cx="7236000" cy="3956832"/>
          </a:xfrm>
          <a:prstGeom prst="rect">
            <a:avLst/>
          </a:prstGeom>
        </p:spPr>
      </p:pic>
      <p:sp>
        <p:nvSpPr>
          <p:cNvPr id="937" name="Google Shape;937;p34">
            <a:extLst>
              <a:ext uri="{FF2B5EF4-FFF2-40B4-BE49-F238E27FC236}">
                <a16:creationId xmlns:a16="http://schemas.microsoft.com/office/drawing/2014/main" id="{73BF67FB-DD33-54DA-EB2F-8B5B511C47A0}"/>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答題頁面</a:t>
            </a:r>
          </a:p>
        </p:txBody>
      </p:sp>
      <p:sp>
        <p:nvSpPr>
          <p:cNvPr id="7" name="文字方塊 6">
            <a:extLst>
              <a:ext uri="{FF2B5EF4-FFF2-40B4-BE49-F238E27FC236}">
                <a16:creationId xmlns:a16="http://schemas.microsoft.com/office/drawing/2014/main" id="{C10DD187-1310-5807-F63E-EB5379E47A2C}"/>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27</a:t>
            </a:fld>
            <a:endParaRPr lang="zh-TW" altLang="en-US">
              <a:solidFill>
                <a:schemeClr val="tx1"/>
              </a:solidFill>
            </a:endParaRPr>
          </a:p>
        </p:txBody>
      </p:sp>
      <p:sp>
        <p:nvSpPr>
          <p:cNvPr id="2" name="文字方塊 1">
            <a:extLst>
              <a:ext uri="{FF2B5EF4-FFF2-40B4-BE49-F238E27FC236}">
                <a16:creationId xmlns:a16="http://schemas.microsoft.com/office/drawing/2014/main" id="{CC99D925-24C8-7404-B9C6-3CE4CA271D22}"/>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spTree>
    <p:extLst>
      <p:ext uri="{BB962C8B-B14F-4D97-AF65-F5344CB8AC3E}">
        <p14:creationId xmlns:p14="http://schemas.microsoft.com/office/powerpoint/2010/main" val="28757971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04616490-4734-B445-D146-123B0AE00DC7}"/>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C80BD60A-9399-D5F1-AE42-6D1F11C1E9AF}"/>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答題頁面</a:t>
            </a:r>
          </a:p>
        </p:txBody>
      </p:sp>
      <p:sp>
        <p:nvSpPr>
          <p:cNvPr id="7" name="文字方塊 6">
            <a:extLst>
              <a:ext uri="{FF2B5EF4-FFF2-40B4-BE49-F238E27FC236}">
                <a16:creationId xmlns:a16="http://schemas.microsoft.com/office/drawing/2014/main" id="{10FD9C94-F39B-A4F0-8517-610043531B66}"/>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28</a:t>
            </a:fld>
            <a:endParaRPr lang="zh-TW" altLang="en-US">
              <a:solidFill>
                <a:schemeClr val="tx1"/>
              </a:solidFill>
            </a:endParaRPr>
          </a:p>
        </p:txBody>
      </p:sp>
      <p:sp>
        <p:nvSpPr>
          <p:cNvPr id="2" name="文字方塊 1">
            <a:extLst>
              <a:ext uri="{FF2B5EF4-FFF2-40B4-BE49-F238E27FC236}">
                <a16:creationId xmlns:a16="http://schemas.microsoft.com/office/drawing/2014/main" id="{C4AE3A47-819D-B59E-09DD-DCAFDEBA642E}"/>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pic>
        <p:nvPicPr>
          <p:cNvPr id="4" name="圖片 3">
            <a:extLst>
              <a:ext uri="{FF2B5EF4-FFF2-40B4-BE49-F238E27FC236}">
                <a16:creationId xmlns:a16="http://schemas.microsoft.com/office/drawing/2014/main" id="{7D997A29-F4A0-D422-E359-7E02F3FF23C8}"/>
              </a:ext>
            </a:extLst>
          </p:cNvPr>
          <p:cNvPicPr>
            <a:picLocks noChangeAspect="1"/>
          </p:cNvPicPr>
          <p:nvPr/>
        </p:nvPicPr>
        <p:blipFill>
          <a:blip r:embed="rId3"/>
          <a:stretch>
            <a:fillRect/>
          </a:stretch>
        </p:blipFill>
        <p:spPr>
          <a:xfrm>
            <a:off x="954000" y="972668"/>
            <a:ext cx="7236000" cy="4016943"/>
          </a:xfrm>
          <a:prstGeom prst="rect">
            <a:avLst/>
          </a:prstGeom>
        </p:spPr>
      </p:pic>
      <p:sp>
        <p:nvSpPr>
          <p:cNvPr id="5" name="矩形: 圓角 4">
            <a:extLst>
              <a:ext uri="{FF2B5EF4-FFF2-40B4-BE49-F238E27FC236}">
                <a16:creationId xmlns:a16="http://schemas.microsoft.com/office/drawing/2014/main" id="{EEF1B7B8-FF3F-DC27-C7E7-5BD8782CFF07}"/>
              </a:ext>
            </a:extLst>
          </p:cNvPr>
          <p:cNvSpPr/>
          <p:nvPr/>
        </p:nvSpPr>
        <p:spPr>
          <a:xfrm>
            <a:off x="4572000" y="4023072"/>
            <a:ext cx="3344091" cy="858704"/>
          </a:xfrm>
          <a:prstGeom prst="roundRect">
            <a:avLst>
              <a:gd name="adj" fmla="val 6265"/>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6432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617DD885-F2FE-4D73-A6C7-7AA456A6D408}"/>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9BF05945-C498-0A51-EB54-A179BED63D82}"/>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答題頁面</a:t>
            </a:r>
          </a:p>
        </p:txBody>
      </p:sp>
      <p:sp>
        <p:nvSpPr>
          <p:cNvPr id="7" name="文字方塊 6">
            <a:extLst>
              <a:ext uri="{FF2B5EF4-FFF2-40B4-BE49-F238E27FC236}">
                <a16:creationId xmlns:a16="http://schemas.microsoft.com/office/drawing/2014/main" id="{15FCB6B9-59D3-EF68-030C-454DB619431F}"/>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29</a:t>
            </a:fld>
            <a:endParaRPr lang="zh-TW" altLang="en-US">
              <a:solidFill>
                <a:schemeClr val="tx1"/>
              </a:solidFill>
            </a:endParaRPr>
          </a:p>
        </p:txBody>
      </p:sp>
      <p:pic>
        <p:nvPicPr>
          <p:cNvPr id="6" name="圖片 5">
            <a:extLst>
              <a:ext uri="{FF2B5EF4-FFF2-40B4-BE49-F238E27FC236}">
                <a16:creationId xmlns:a16="http://schemas.microsoft.com/office/drawing/2014/main" id="{223A6AD4-758E-F1D2-3227-EFFBA9058D90}"/>
              </a:ext>
            </a:extLst>
          </p:cNvPr>
          <p:cNvPicPr>
            <a:picLocks noChangeAspect="1"/>
          </p:cNvPicPr>
          <p:nvPr/>
        </p:nvPicPr>
        <p:blipFill>
          <a:blip r:embed="rId3"/>
          <a:stretch>
            <a:fillRect/>
          </a:stretch>
        </p:blipFill>
        <p:spPr>
          <a:xfrm>
            <a:off x="954000" y="959383"/>
            <a:ext cx="7236000" cy="3980484"/>
          </a:xfrm>
          <a:prstGeom prst="rect">
            <a:avLst/>
          </a:prstGeom>
        </p:spPr>
      </p:pic>
      <p:sp>
        <p:nvSpPr>
          <p:cNvPr id="2" name="文字方塊 1">
            <a:extLst>
              <a:ext uri="{FF2B5EF4-FFF2-40B4-BE49-F238E27FC236}">
                <a16:creationId xmlns:a16="http://schemas.microsoft.com/office/drawing/2014/main" id="{43A545E2-F53E-EB0D-1C41-3DB68B4BBFCC}"/>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sp>
        <p:nvSpPr>
          <p:cNvPr id="5" name="矩形: 圓角 4">
            <a:extLst>
              <a:ext uri="{FF2B5EF4-FFF2-40B4-BE49-F238E27FC236}">
                <a16:creationId xmlns:a16="http://schemas.microsoft.com/office/drawing/2014/main" id="{19D03400-38F0-305F-BF0C-4C3B5395FE08}"/>
              </a:ext>
            </a:extLst>
          </p:cNvPr>
          <p:cNvSpPr/>
          <p:nvPr/>
        </p:nvSpPr>
        <p:spPr>
          <a:xfrm>
            <a:off x="1242838" y="1899424"/>
            <a:ext cx="2978332" cy="1907466"/>
          </a:xfrm>
          <a:prstGeom prst="roundRect">
            <a:avLst>
              <a:gd name="adj" fmla="val 6265"/>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圓角 8">
            <a:extLst>
              <a:ext uri="{FF2B5EF4-FFF2-40B4-BE49-F238E27FC236}">
                <a16:creationId xmlns:a16="http://schemas.microsoft.com/office/drawing/2014/main" id="{EF152DB2-F2DA-9303-19B2-AB053B11532B}"/>
              </a:ext>
            </a:extLst>
          </p:cNvPr>
          <p:cNvSpPr/>
          <p:nvPr/>
        </p:nvSpPr>
        <p:spPr>
          <a:xfrm>
            <a:off x="4575426" y="1688255"/>
            <a:ext cx="3310050" cy="24721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0984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6B07B635-2768-557C-6EB5-D0742AAB6FBB}"/>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73E8A6F2-1AED-2D11-2347-0A35E4D33722}"/>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ea typeface="微軟正黑體" panose="020B0604030504040204" pitchFamily="34" charset="-120"/>
              </a:rPr>
              <a:t>&lt;/</a:t>
            </a:r>
            <a:r>
              <a:rPr lang="zh-TW" altLang="en-US">
                <a:solidFill>
                  <a:schemeClr val="accent2"/>
                </a:solidFill>
                <a:ea typeface="微軟正黑體" panose="020B0604030504040204" pitchFamily="34" charset="-120"/>
              </a:rPr>
              <a:t> </a:t>
            </a:r>
            <a:r>
              <a:rPr lang="en-US" altLang="zh-TW" b="1">
                <a:ea typeface="微軟正黑體" panose="020B0604030504040204" pitchFamily="34" charset="-120"/>
              </a:rPr>
              <a:t>Dolos</a:t>
            </a:r>
            <a:r>
              <a:rPr lang="zh-TW" altLang="en-US" b="1">
                <a:ea typeface="微軟正黑體" panose="020B0604030504040204" pitchFamily="34" charset="-120"/>
              </a:rPr>
              <a:t>分析程式碼</a:t>
            </a:r>
            <a:endParaRPr b="1">
              <a:ea typeface="微軟正黑體" panose="020B0604030504040204" pitchFamily="34" charset="-120"/>
            </a:endParaRPr>
          </a:p>
        </p:txBody>
      </p:sp>
      <p:sp>
        <p:nvSpPr>
          <p:cNvPr id="7" name="文字方塊 6">
            <a:extLst>
              <a:ext uri="{FF2B5EF4-FFF2-40B4-BE49-F238E27FC236}">
                <a16:creationId xmlns:a16="http://schemas.microsoft.com/office/drawing/2014/main" id="{4D671169-E0BB-1A27-996D-B99D40C233C0}"/>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30</a:t>
            </a:fld>
            <a:endParaRPr lang="zh-TW" altLang="en-US">
              <a:solidFill>
                <a:schemeClr val="tx1"/>
              </a:solidFill>
            </a:endParaRPr>
          </a:p>
        </p:txBody>
      </p:sp>
      <p:sp>
        <p:nvSpPr>
          <p:cNvPr id="2" name="文字方塊 1">
            <a:extLst>
              <a:ext uri="{FF2B5EF4-FFF2-40B4-BE49-F238E27FC236}">
                <a16:creationId xmlns:a16="http://schemas.microsoft.com/office/drawing/2014/main" id="{AFDBDB7A-DD03-3A0F-39E1-D73DB2A80A21}"/>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pic>
        <p:nvPicPr>
          <p:cNvPr id="4" name="圖片 3">
            <a:extLst>
              <a:ext uri="{FF2B5EF4-FFF2-40B4-BE49-F238E27FC236}">
                <a16:creationId xmlns:a16="http://schemas.microsoft.com/office/drawing/2014/main" id="{D23938AB-493C-065D-A064-D3DE8E70AD08}"/>
              </a:ext>
            </a:extLst>
          </p:cNvPr>
          <p:cNvPicPr>
            <a:picLocks noChangeAspect="1"/>
          </p:cNvPicPr>
          <p:nvPr/>
        </p:nvPicPr>
        <p:blipFill>
          <a:blip r:embed="rId3"/>
          <a:stretch>
            <a:fillRect/>
          </a:stretch>
        </p:blipFill>
        <p:spPr>
          <a:xfrm>
            <a:off x="954000" y="1105681"/>
            <a:ext cx="7236000" cy="3659390"/>
          </a:xfrm>
          <a:prstGeom prst="rect">
            <a:avLst/>
          </a:prstGeom>
        </p:spPr>
      </p:pic>
    </p:spTree>
    <p:extLst>
      <p:ext uri="{BB962C8B-B14F-4D97-AF65-F5344CB8AC3E}">
        <p14:creationId xmlns:p14="http://schemas.microsoft.com/office/powerpoint/2010/main" val="39454462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創建比賽頁面</a:t>
            </a:r>
          </a:p>
        </p:txBody>
      </p:sp>
      <p:pic>
        <p:nvPicPr>
          <p:cNvPr id="9" name="圖片 8">
            <a:extLst>
              <a:ext uri="{FF2B5EF4-FFF2-40B4-BE49-F238E27FC236}">
                <a16:creationId xmlns:a16="http://schemas.microsoft.com/office/drawing/2014/main" id="{8A7E2FDE-3D79-8C54-5836-DD12BF11766F}"/>
              </a:ext>
            </a:extLst>
          </p:cNvPr>
          <p:cNvPicPr>
            <a:picLocks noChangeAspect="1"/>
          </p:cNvPicPr>
          <p:nvPr/>
        </p:nvPicPr>
        <p:blipFill>
          <a:blip r:embed="rId3"/>
          <a:srcRect t="1211"/>
          <a:stretch/>
        </p:blipFill>
        <p:spPr>
          <a:xfrm>
            <a:off x="954000" y="1094910"/>
            <a:ext cx="7236000" cy="3629165"/>
          </a:xfrm>
          <a:prstGeom prst="rect">
            <a:avLst/>
          </a:prstGeom>
        </p:spPr>
      </p:pic>
      <p:sp>
        <p:nvSpPr>
          <p:cNvPr id="3" name="文字方塊 2">
            <a:extLst>
              <a:ext uri="{FF2B5EF4-FFF2-40B4-BE49-F238E27FC236}">
                <a16:creationId xmlns:a16="http://schemas.microsoft.com/office/drawing/2014/main" id="{FB335B28-DF20-32FC-6345-D5F706C537D1}"/>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31</a:t>
            </a:fld>
            <a:endParaRPr lang="zh-TW" altLang="en-US">
              <a:solidFill>
                <a:schemeClr val="tx1"/>
              </a:solidFill>
            </a:endParaRPr>
          </a:p>
        </p:txBody>
      </p:sp>
      <p:sp>
        <p:nvSpPr>
          <p:cNvPr id="6" name="矩形: 圓角 5">
            <a:extLst>
              <a:ext uri="{FF2B5EF4-FFF2-40B4-BE49-F238E27FC236}">
                <a16:creationId xmlns:a16="http://schemas.microsoft.com/office/drawing/2014/main" id="{42EB9B36-0C27-770D-0DAF-B094CD088EEC}"/>
              </a:ext>
            </a:extLst>
          </p:cNvPr>
          <p:cNvSpPr/>
          <p:nvPr/>
        </p:nvSpPr>
        <p:spPr>
          <a:xfrm>
            <a:off x="2706290" y="1378587"/>
            <a:ext cx="828559" cy="17344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579C23E-FDA3-0153-5CCA-B8F3991E58D8}"/>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Tree>
    <p:extLst>
      <p:ext uri="{BB962C8B-B14F-4D97-AF65-F5344CB8AC3E}">
        <p14:creationId xmlns:p14="http://schemas.microsoft.com/office/powerpoint/2010/main" val="37945776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B884E09E-1860-F168-F854-60D42F6E58EB}"/>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A2DDEC3B-C051-3984-0300-A6CA86020456}"/>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創建比賽頁面</a:t>
            </a:r>
          </a:p>
        </p:txBody>
      </p:sp>
      <p:sp>
        <p:nvSpPr>
          <p:cNvPr id="3" name="文字方塊 2">
            <a:extLst>
              <a:ext uri="{FF2B5EF4-FFF2-40B4-BE49-F238E27FC236}">
                <a16:creationId xmlns:a16="http://schemas.microsoft.com/office/drawing/2014/main" id="{F942A5C6-C9F8-0F25-379E-97C78CF2FD11}"/>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32</a:t>
            </a:fld>
            <a:endParaRPr lang="zh-TW" altLang="en-US">
              <a:solidFill>
                <a:schemeClr val="tx1"/>
              </a:solidFill>
            </a:endParaRPr>
          </a:p>
        </p:txBody>
      </p:sp>
      <p:pic>
        <p:nvPicPr>
          <p:cNvPr id="9" name="圖片 8">
            <a:extLst>
              <a:ext uri="{FF2B5EF4-FFF2-40B4-BE49-F238E27FC236}">
                <a16:creationId xmlns:a16="http://schemas.microsoft.com/office/drawing/2014/main" id="{E99C2504-1AD7-EE0D-6BA7-921BCDF6D6F2}"/>
              </a:ext>
            </a:extLst>
          </p:cNvPr>
          <p:cNvPicPr>
            <a:picLocks noChangeAspect="1"/>
          </p:cNvPicPr>
          <p:nvPr/>
        </p:nvPicPr>
        <p:blipFill>
          <a:blip r:embed="rId3"/>
          <a:stretch>
            <a:fillRect/>
          </a:stretch>
        </p:blipFill>
        <p:spPr>
          <a:xfrm>
            <a:off x="954000" y="959383"/>
            <a:ext cx="7236000" cy="3988203"/>
          </a:xfrm>
          <a:prstGeom prst="rect">
            <a:avLst/>
          </a:prstGeom>
        </p:spPr>
      </p:pic>
      <p:sp>
        <p:nvSpPr>
          <p:cNvPr id="6" name="矩形: 圓角 5">
            <a:extLst>
              <a:ext uri="{FF2B5EF4-FFF2-40B4-BE49-F238E27FC236}">
                <a16:creationId xmlns:a16="http://schemas.microsoft.com/office/drawing/2014/main" id="{D93EF213-B399-2F14-B21F-16B48C5443A5}"/>
              </a:ext>
            </a:extLst>
          </p:cNvPr>
          <p:cNvSpPr/>
          <p:nvPr/>
        </p:nvSpPr>
        <p:spPr>
          <a:xfrm>
            <a:off x="3326308" y="3885368"/>
            <a:ext cx="2499182" cy="29131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6BC42AFB-2CD2-83C6-6138-CD30E46FDD68}"/>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Tree>
    <p:extLst>
      <p:ext uri="{BB962C8B-B14F-4D97-AF65-F5344CB8AC3E}">
        <p14:creationId xmlns:p14="http://schemas.microsoft.com/office/powerpoint/2010/main" val="40002002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D5DDD7CD-C053-4E30-C7DE-C4CAACFDC180}"/>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20E4B8C8-4BF5-E2C6-A55A-DEC1D064C30D}"/>
              </a:ext>
            </a:extLst>
          </p:cNvPr>
          <p:cNvPicPr>
            <a:picLocks noChangeAspect="1"/>
          </p:cNvPicPr>
          <p:nvPr/>
        </p:nvPicPr>
        <p:blipFill>
          <a:blip r:embed="rId3"/>
          <a:stretch>
            <a:fillRect/>
          </a:stretch>
        </p:blipFill>
        <p:spPr>
          <a:xfrm>
            <a:off x="1113552" y="949498"/>
            <a:ext cx="7236000" cy="4021538"/>
          </a:xfrm>
          <a:prstGeom prst="rect">
            <a:avLst/>
          </a:prstGeom>
        </p:spPr>
      </p:pic>
      <p:sp>
        <p:nvSpPr>
          <p:cNvPr id="937" name="Google Shape;937;p34">
            <a:extLst>
              <a:ext uri="{FF2B5EF4-FFF2-40B4-BE49-F238E27FC236}">
                <a16:creationId xmlns:a16="http://schemas.microsoft.com/office/drawing/2014/main" id="{1BBAF5FF-A542-8610-8634-F2C4907464DF}"/>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創建比賽頁面</a:t>
            </a:r>
          </a:p>
        </p:txBody>
      </p:sp>
      <p:sp>
        <p:nvSpPr>
          <p:cNvPr id="3" name="文字方塊 2">
            <a:extLst>
              <a:ext uri="{FF2B5EF4-FFF2-40B4-BE49-F238E27FC236}">
                <a16:creationId xmlns:a16="http://schemas.microsoft.com/office/drawing/2014/main" id="{5DB40320-56A0-E20F-DD3E-80F6F177D0BC}"/>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33</a:t>
            </a:fld>
            <a:endParaRPr lang="zh-TW" altLang="en-US">
              <a:solidFill>
                <a:schemeClr val="tx1"/>
              </a:solidFill>
            </a:endParaRPr>
          </a:p>
        </p:txBody>
      </p:sp>
      <p:sp>
        <p:nvSpPr>
          <p:cNvPr id="6" name="矩形: 圓角 5">
            <a:extLst>
              <a:ext uri="{FF2B5EF4-FFF2-40B4-BE49-F238E27FC236}">
                <a16:creationId xmlns:a16="http://schemas.microsoft.com/office/drawing/2014/main" id="{0BBEEFEE-6CD2-849C-0B58-7A65D11367DC}"/>
              </a:ext>
            </a:extLst>
          </p:cNvPr>
          <p:cNvSpPr/>
          <p:nvPr/>
        </p:nvSpPr>
        <p:spPr>
          <a:xfrm>
            <a:off x="6943490" y="2418496"/>
            <a:ext cx="270272" cy="25193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CE2853A7-372B-C941-D25E-77136D81BB36}"/>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8" name="矩形: 圓角 7">
            <a:extLst>
              <a:ext uri="{FF2B5EF4-FFF2-40B4-BE49-F238E27FC236}">
                <a16:creationId xmlns:a16="http://schemas.microsoft.com/office/drawing/2014/main" id="{2225723A-FE70-2D35-5D25-7862D5EF3823}"/>
              </a:ext>
            </a:extLst>
          </p:cNvPr>
          <p:cNvSpPr/>
          <p:nvPr/>
        </p:nvSpPr>
        <p:spPr>
          <a:xfrm>
            <a:off x="6943490" y="2720463"/>
            <a:ext cx="270272" cy="25193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圓角 9">
            <a:extLst>
              <a:ext uri="{FF2B5EF4-FFF2-40B4-BE49-F238E27FC236}">
                <a16:creationId xmlns:a16="http://schemas.microsoft.com/office/drawing/2014/main" id="{E636FA3E-8BE7-7114-94D5-452A3A5DA239}"/>
              </a:ext>
            </a:extLst>
          </p:cNvPr>
          <p:cNvSpPr/>
          <p:nvPr/>
        </p:nvSpPr>
        <p:spPr>
          <a:xfrm>
            <a:off x="6943490" y="3023881"/>
            <a:ext cx="270272" cy="25193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E3B043D1-5833-3410-4776-0550AC27AF39}"/>
              </a:ext>
            </a:extLst>
          </p:cNvPr>
          <p:cNvSpPr/>
          <p:nvPr/>
        </p:nvSpPr>
        <p:spPr>
          <a:xfrm>
            <a:off x="6943490" y="3463666"/>
            <a:ext cx="270272" cy="25193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823E4A0E-36F8-F58D-6873-6FC85C0510D2}"/>
              </a:ext>
            </a:extLst>
          </p:cNvPr>
          <p:cNvSpPr/>
          <p:nvPr/>
        </p:nvSpPr>
        <p:spPr>
          <a:xfrm>
            <a:off x="6943490" y="3946260"/>
            <a:ext cx="270272" cy="25193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477890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加入比賽頁面</a:t>
            </a:r>
          </a:p>
        </p:txBody>
      </p:sp>
      <p:sp>
        <p:nvSpPr>
          <p:cNvPr id="4" name="文字方塊 3">
            <a:extLst>
              <a:ext uri="{FF2B5EF4-FFF2-40B4-BE49-F238E27FC236}">
                <a16:creationId xmlns:a16="http://schemas.microsoft.com/office/drawing/2014/main" id="{E79E5448-87BB-5288-4B82-572C3C6564F7}"/>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34</a:t>
            </a:fld>
            <a:endParaRPr lang="zh-TW" altLang="en-US">
              <a:solidFill>
                <a:schemeClr val="tx1"/>
              </a:solidFill>
            </a:endParaRPr>
          </a:p>
        </p:txBody>
      </p:sp>
      <p:sp>
        <p:nvSpPr>
          <p:cNvPr id="3" name="文字方塊 2">
            <a:extLst>
              <a:ext uri="{FF2B5EF4-FFF2-40B4-BE49-F238E27FC236}">
                <a16:creationId xmlns:a16="http://schemas.microsoft.com/office/drawing/2014/main" id="{FA6C4271-A114-EFF5-875B-FF04AF3D0E3A}"/>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pic>
        <p:nvPicPr>
          <p:cNvPr id="11" name="圖片 10">
            <a:extLst>
              <a:ext uri="{FF2B5EF4-FFF2-40B4-BE49-F238E27FC236}">
                <a16:creationId xmlns:a16="http://schemas.microsoft.com/office/drawing/2014/main" id="{FEC5D7A7-0FD7-2C9C-BB29-45DAB7D78352}"/>
              </a:ext>
            </a:extLst>
          </p:cNvPr>
          <p:cNvPicPr>
            <a:picLocks noChangeAspect="1"/>
          </p:cNvPicPr>
          <p:nvPr/>
        </p:nvPicPr>
        <p:blipFill>
          <a:blip r:embed="rId3"/>
          <a:stretch>
            <a:fillRect/>
          </a:stretch>
        </p:blipFill>
        <p:spPr>
          <a:xfrm>
            <a:off x="954000" y="1143785"/>
            <a:ext cx="7236000" cy="3663725"/>
          </a:xfrm>
          <a:prstGeom prst="rect">
            <a:avLst/>
          </a:prstGeom>
        </p:spPr>
      </p:pic>
      <p:sp>
        <p:nvSpPr>
          <p:cNvPr id="10" name="矩形: 圓角 9">
            <a:extLst>
              <a:ext uri="{FF2B5EF4-FFF2-40B4-BE49-F238E27FC236}">
                <a16:creationId xmlns:a16="http://schemas.microsoft.com/office/drawing/2014/main" id="{5DD421F5-DB27-4D7A-5502-1446A1282052}"/>
              </a:ext>
            </a:extLst>
          </p:cNvPr>
          <p:cNvSpPr/>
          <p:nvPr/>
        </p:nvSpPr>
        <p:spPr>
          <a:xfrm>
            <a:off x="2396754" y="1539226"/>
            <a:ext cx="722366" cy="174224"/>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948842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55FEFED0-F5B0-138E-87A0-C7DDCC16CB47}"/>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0452A0A4-3AF4-C002-46B0-2EDD170B0B21}"/>
              </a:ext>
            </a:extLst>
          </p:cNvPr>
          <p:cNvPicPr>
            <a:picLocks noChangeAspect="1"/>
          </p:cNvPicPr>
          <p:nvPr/>
        </p:nvPicPr>
        <p:blipFill>
          <a:blip r:embed="rId3"/>
          <a:stretch>
            <a:fillRect/>
          </a:stretch>
        </p:blipFill>
        <p:spPr>
          <a:xfrm>
            <a:off x="893040" y="1160567"/>
            <a:ext cx="7236000" cy="3675156"/>
          </a:xfrm>
          <a:prstGeom prst="rect">
            <a:avLst/>
          </a:prstGeom>
        </p:spPr>
      </p:pic>
      <p:sp>
        <p:nvSpPr>
          <p:cNvPr id="937" name="Google Shape;937;p34">
            <a:extLst>
              <a:ext uri="{FF2B5EF4-FFF2-40B4-BE49-F238E27FC236}">
                <a16:creationId xmlns:a16="http://schemas.microsoft.com/office/drawing/2014/main" id="{E87BA421-BBFE-435E-3127-A9D7B4845719}"/>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加入比賽頁面</a:t>
            </a:r>
          </a:p>
        </p:txBody>
      </p:sp>
      <p:sp>
        <p:nvSpPr>
          <p:cNvPr id="4" name="文字方塊 3">
            <a:extLst>
              <a:ext uri="{FF2B5EF4-FFF2-40B4-BE49-F238E27FC236}">
                <a16:creationId xmlns:a16="http://schemas.microsoft.com/office/drawing/2014/main" id="{AFD088D4-B7B3-B8B8-6E92-AC53EC77B7D8}"/>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35</a:t>
            </a:fld>
            <a:endParaRPr lang="zh-TW" altLang="en-US">
              <a:solidFill>
                <a:schemeClr val="tx1"/>
              </a:solidFill>
            </a:endParaRPr>
          </a:p>
        </p:txBody>
      </p:sp>
      <p:sp>
        <p:nvSpPr>
          <p:cNvPr id="3" name="文字方塊 2">
            <a:extLst>
              <a:ext uri="{FF2B5EF4-FFF2-40B4-BE49-F238E27FC236}">
                <a16:creationId xmlns:a16="http://schemas.microsoft.com/office/drawing/2014/main" id="{F6B41A72-4620-A5D4-2317-226658CE900C}"/>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10" name="矩形: 圓角 9">
            <a:extLst>
              <a:ext uri="{FF2B5EF4-FFF2-40B4-BE49-F238E27FC236}">
                <a16:creationId xmlns:a16="http://schemas.microsoft.com/office/drawing/2014/main" id="{4594DB24-5696-A48B-9341-2E88FDD95E34}"/>
              </a:ext>
            </a:extLst>
          </p:cNvPr>
          <p:cNvSpPr/>
          <p:nvPr/>
        </p:nvSpPr>
        <p:spPr>
          <a:xfrm>
            <a:off x="3443476" y="1603887"/>
            <a:ext cx="2175004" cy="25031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4297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55FEFED0-F5B0-138E-87A0-C7DDCC16CB47}"/>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1D37975E-7B7A-A382-1E99-0FAFF81A8588}"/>
              </a:ext>
            </a:extLst>
          </p:cNvPr>
          <p:cNvPicPr>
            <a:picLocks noChangeAspect="1"/>
          </p:cNvPicPr>
          <p:nvPr/>
        </p:nvPicPr>
        <p:blipFill>
          <a:blip r:embed="rId3"/>
          <a:stretch>
            <a:fillRect/>
          </a:stretch>
        </p:blipFill>
        <p:spPr>
          <a:xfrm>
            <a:off x="954000" y="1292630"/>
            <a:ext cx="7236000" cy="3467487"/>
          </a:xfrm>
          <a:prstGeom prst="rect">
            <a:avLst/>
          </a:prstGeom>
        </p:spPr>
      </p:pic>
      <p:sp>
        <p:nvSpPr>
          <p:cNvPr id="937" name="Google Shape;937;p34">
            <a:extLst>
              <a:ext uri="{FF2B5EF4-FFF2-40B4-BE49-F238E27FC236}">
                <a16:creationId xmlns:a16="http://schemas.microsoft.com/office/drawing/2014/main" id="{E87BA421-BBFE-435E-3127-A9D7B4845719}"/>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比賽頁面</a:t>
            </a:r>
            <a:endParaRPr b="1">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AFD088D4-B7B3-B8B8-6E92-AC53EC77B7D8}"/>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36</a:t>
            </a:fld>
            <a:endParaRPr lang="zh-TW" altLang="en-US">
              <a:solidFill>
                <a:schemeClr val="tx1"/>
              </a:solidFill>
            </a:endParaRPr>
          </a:p>
        </p:txBody>
      </p:sp>
      <p:sp>
        <p:nvSpPr>
          <p:cNvPr id="3" name="文字方塊 2">
            <a:extLst>
              <a:ext uri="{FF2B5EF4-FFF2-40B4-BE49-F238E27FC236}">
                <a16:creationId xmlns:a16="http://schemas.microsoft.com/office/drawing/2014/main" id="{F6B41A72-4620-A5D4-2317-226658CE900C}"/>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10" name="矩形: 圓角 9">
            <a:extLst>
              <a:ext uri="{FF2B5EF4-FFF2-40B4-BE49-F238E27FC236}">
                <a16:creationId xmlns:a16="http://schemas.microsoft.com/office/drawing/2014/main" id="{4594DB24-5696-A48B-9341-2E88FDD95E34}"/>
              </a:ext>
            </a:extLst>
          </p:cNvPr>
          <p:cNvSpPr/>
          <p:nvPr/>
        </p:nvSpPr>
        <p:spPr>
          <a:xfrm>
            <a:off x="1309513" y="2976939"/>
            <a:ext cx="6495543" cy="2506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46778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pic>
        <p:nvPicPr>
          <p:cNvPr id="12" name="圖片 11">
            <a:extLst>
              <a:ext uri="{FF2B5EF4-FFF2-40B4-BE49-F238E27FC236}">
                <a16:creationId xmlns:a16="http://schemas.microsoft.com/office/drawing/2014/main" id="{3D825CD8-F2A4-EB8E-0F99-82E3AD6B2795}"/>
              </a:ext>
            </a:extLst>
          </p:cNvPr>
          <p:cNvPicPr>
            <a:picLocks noChangeAspect="1"/>
          </p:cNvPicPr>
          <p:nvPr/>
        </p:nvPicPr>
        <p:blipFill>
          <a:blip r:embed="rId3"/>
          <a:srcRect/>
          <a:stretch/>
        </p:blipFill>
        <p:spPr>
          <a:xfrm>
            <a:off x="1202920" y="1086466"/>
            <a:ext cx="7044946" cy="3858053"/>
          </a:xfrm>
          <a:prstGeom prst="rect">
            <a:avLst/>
          </a:prstGeom>
        </p:spPr>
      </p:pic>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個人資料頁面</a:t>
            </a:r>
          </a:p>
        </p:txBody>
      </p:sp>
      <p:sp>
        <p:nvSpPr>
          <p:cNvPr id="3" name="文字方塊 2">
            <a:extLst>
              <a:ext uri="{FF2B5EF4-FFF2-40B4-BE49-F238E27FC236}">
                <a16:creationId xmlns:a16="http://schemas.microsoft.com/office/drawing/2014/main" id="{B1322105-E7C0-8562-9B6B-63E2548905F1}"/>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6" name="矩形: 圓角 5">
            <a:extLst>
              <a:ext uri="{FF2B5EF4-FFF2-40B4-BE49-F238E27FC236}">
                <a16:creationId xmlns:a16="http://schemas.microsoft.com/office/drawing/2014/main" id="{573A2357-56FF-A8DC-058D-5E740EF7C894}"/>
              </a:ext>
            </a:extLst>
          </p:cNvPr>
          <p:cNvSpPr/>
          <p:nvPr/>
        </p:nvSpPr>
        <p:spPr>
          <a:xfrm>
            <a:off x="7426994" y="1329392"/>
            <a:ext cx="820872" cy="2419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圓角 6">
            <a:extLst>
              <a:ext uri="{FF2B5EF4-FFF2-40B4-BE49-F238E27FC236}">
                <a16:creationId xmlns:a16="http://schemas.microsoft.com/office/drawing/2014/main" id="{7055D337-06C4-FFFE-D4BC-E4C8D678F666}"/>
              </a:ext>
            </a:extLst>
          </p:cNvPr>
          <p:cNvSpPr/>
          <p:nvPr/>
        </p:nvSpPr>
        <p:spPr>
          <a:xfrm>
            <a:off x="2305710" y="3661364"/>
            <a:ext cx="411640" cy="34372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927820DB-7661-636E-DD91-CB6B514BC259}"/>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37</a:t>
            </a:fld>
            <a:endParaRPr lang="zh-TW" altLang="en-US">
              <a:solidFill>
                <a:schemeClr val="tx1"/>
              </a:solidFill>
            </a:endParaRPr>
          </a:p>
        </p:txBody>
      </p:sp>
    </p:spTree>
    <p:extLst>
      <p:ext uri="{BB962C8B-B14F-4D97-AF65-F5344CB8AC3E}">
        <p14:creationId xmlns:p14="http://schemas.microsoft.com/office/powerpoint/2010/main" val="25525354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pic>
        <p:nvPicPr>
          <p:cNvPr id="5" name="圖片 4">
            <a:extLst>
              <a:ext uri="{FF2B5EF4-FFF2-40B4-BE49-F238E27FC236}">
                <a16:creationId xmlns:a16="http://schemas.microsoft.com/office/drawing/2014/main" id="{B9F0C4CA-36C3-76C5-2F8F-616B9D392936}"/>
              </a:ext>
            </a:extLst>
          </p:cNvPr>
          <p:cNvPicPr>
            <a:picLocks noChangeAspect="1"/>
          </p:cNvPicPr>
          <p:nvPr/>
        </p:nvPicPr>
        <p:blipFill>
          <a:blip r:embed="rId3"/>
          <a:stretch>
            <a:fillRect/>
          </a:stretch>
        </p:blipFill>
        <p:spPr>
          <a:xfrm>
            <a:off x="954000" y="1143785"/>
            <a:ext cx="7236000" cy="3500177"/>
          </a:xfrm>
          <a:prstGeom prst="rect">
            <a:avLst/>
          </a:prstGeom>
        </p:spPr>
      </p:pic>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個人資料頁面</a:t>
            </a:r>
            <a:endParaRPr b="1">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B1322105-E7C0-8562-9B6B-63E2548905F1}"/>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7" name="矩形: 圓角 6">
            <a:extLst>
              <a:ext uri="{FF2B5EF4-FFF2-40B4-BE49-F238E27FC236}">
                <a16:creationId xmlns:a16="http://schemas.microsoft.com/office/drawing/2014/main" id="{7055D337-06C4-FFFE-D4BC-E4C8D678F666}"/>
              </a:ext>
            </a:extLst>
          </p:cNvPr>
          <p:cNvSpPr/>
          <p:nvPr/>
        </p:nvSpPr>
        <p:spPr>
          <a:xfrm>
            <a:off x="3523041" y="1436562"/>
            <a:ext cx="2185639" cy="22868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B55957A8-B5C9-3509-D8AA-391E424BA396}"/>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38</a:t>
            </a:fld>
            <a:endParaRPr lang="zh-TW" altLang="en-US">
              <a:solidFill>
                <a:schemeClr val="tx1"/>
              </a:solidFill>
            </a:endParaRPr>
          </a:p>
        </p:txBody>
      </p:sp>
    </p:spTree>
    <p:extLst>
      <p:ext uri="{BB962C8B-B14F-4D97-AF65-F5344CB8AC3E}">
        <p14:creationId xmlns:p14="http://schemas.microsoft.com/office/powerpoint/2010/main" val="12058729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pic>
        <p:nvPicPr>
          <p:cNvPr id="4" name="圖片 3">
            <a:extLst>
              <a:ext uri="{FF2B5EF4-FFF2-40B4-BE49-F238E27FC236}">
                <a16:creationId xmlns:a16="http://schemas.microsoft.com/office/drawing/2014/main" id="{D14910C3-4BDF-DC6B-AD44-1D4A1146C326}"/>
              </a:ext>
            </a:extLst>
          </p:cNvPr>
          <p:cNvPicPr>
            <a:picLocks noChangeAspect="1"/>
          </p:cNvPicPr>
          <p:nvPr/>
        </p:nvPicPr>
        <p:blipFill>
          <a:blip r:embed="rId3"/>
          <a:stretch>
            <a:fillRect/>
          </a:stretch>
        </p:blipFill>
        <p:spPr>
          <a:xfrm>
            <a:off x="954000" y="1143785"/>
            <a:ext cx="7236000" cy="3480320"/>
          </a:xfrm>
          <a:prstGeom prst="rect">
            <a:avLst/>
          </a:prstGeom>
        </p:spPr>
      </p:pic>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個人資料頁面</a:t>
            </a:r>
            <a:endParaRPr b="1">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B1322105-E7C0-8562-9B6B-63E2548905F1}"/>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7" name="矩形: 圓角 6">
            <a:extLst>
              <a:ext uri="{FF2B5EF4-FFF2-40B4-BE49-F238E27FC236}">
                <a16:creationId xmlns:a16="http://schemas.microsoft.com/office/drawing/2014/main" id="{7055D337-06C4-FFFE-D4BC-E4C8D678F666}"/>
              </a:ext>
            </a:extLst>
          </p:cNvPr>
          <p:cNvSpPr/>
          <p:nvPr/>
        </p:nvSpPr>
        <p:spPr>
          <a:xfrm>
            <a:off x="5672607" y="1451076"/>
            <a:ext cx="2185639" cy="22868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1F877F3E-353B-F7AC-E458-994D47479076}"/>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39</a:t>
            </a:fld>
            <a:endParaRPr lang="zh-TW" altLang="en-US">
              <a:solidFill>
                <a:schemeClr val="tx1"/>
              </a:solidFill>
            </a:endParaRPr>
          </a:p>
        </p:txBody>
      </p:sp>
    </p:spTree>
    <p:extLst>
      <p:ext uri="{BB962C8B-B14F-4D97-AF65-F5344CB8AC3E}">
        <p14:creationId xmlns:p14="http://schemas.microsoft.com/office/powerpoint/2010/main" val="17498986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pic>
        <p:nvPicPr>
          <p:cNvPr id="13" name="圖片 12">
            <a:extLst>
              <a:ext uri="{FF2B5EF4-FFF2-40B4-BE49-F238E27FC236}">
                <a16:creationId xmlns:a16="http://schemas.microsoft.com/office/drawing/2014/main" id="{744453B2-72E5-BB3C-9817-32B65F22EFF4}"/>
              </a:ext>
            </a:extLst>
          </p:cNvPr>
          <p:cNvPicPr>
            <a:picLocks noChangeAspect="1"/>
          </p:cNvPicPr>
          <p:nvPr/>
        </p:nvPicPr>
        <p:blipFill>
          <a:blip r:embed="rId3"/>
          <a:srcRect/>
          <a:stretch/>
        </p:blipFill>
        <p:spPr>
          <a:xfrm>
            <a:off x="1250270" y="1265705"/>
            <a:ext cx="6576784" cy="3235271"/>
          </a:xfrm>
          <a:prstGeom prst="rect">
            <a:avLst/>
          </a:prstGeom>
        </p:spPr>
      </p:pic>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回饋頁面</a:t>
            </a:r>
          </a:p>
        </p:txBody>
      </p:sp>
      <p:pic>
        <p:nvPicPr>
          <p:cNvPr id="5" name="圖片 4" descr="一張含有 文字, 螢幕擷取畫面, Rectangle, 字型 的圖片&#10;&#10;自動產生的描述">
            <a:extLst>
              <a:ext uri="{FF2B5EF4-FFF2-40B4-BE49-F238E27FC236}">
                <a16:creationId xmlns:a16="http://schemas.microsoft.com/office/drawing/2014/main" id="{0072DAE8-4E09-523A-DC3C-47F4F697D028}"/>
              </a:ext>
            </a:extLst>
          </p:cNvPr>
          <p:cNvPicPr>
            <a:picLocks noChangeAspect="1"/>
          </p:cNvPicPr>
          <p:nvPr/>
        </p:nvPicPr>
        <p:blipFill>
          <a:blip r:embed="rId4"/>
          <a:stretch>
            <a:fillRect/>
          </a:stretch>
        </p:blipFill>
        <p:spPr>
          <a:xfrm>
            <a:off x="2800350" y="1504561"/>
            <a:ext cx="3476625" cy="1162829"/>
          </a:xfrm>
          <a:prstGeom prst="rect">
            <a:avLst/>
          </a:prstGeom>
        </p:spPr>
      </p:pic>
      <p:pic>
        <p:nvPicPr>
          <p:cNvPr id="6" name="圖片 5" descr="一張含有 螢幕擷取畫面, 圖形, Rectangle, 設計 的圖片&#10;&#10;自動產生的描述">
            <a:extLst>
              <a:ext uri="{FF2B5EF4-FFF2-40B4-BE49-F238E27FC236}">
                <a16:creationId xmlns:a16="http://schemas.microsoft.com/office/drawing/2014/main" id="{0D1C3558-DCA6-3D92-F472-F07F2F21547F}"/>
              </a:ext>
            </a:extLst>
          </p:cNvPr>
          <p:cNvPicPr>
            <a:picLocks noChangeAspect="1"/>
          </p:cNvPicPr>
          <p:nvPr/>
        </p:nvPicPr>
        <p:blipFill>
          <a:blip r:embed="rId5"/>
          <a:stretch>
            <a:fillRect/>
          </a:stretch>
        </p:blipFill>
        <p:spPr>
          <a:xfrm>
            <a:off x="3919972" y="3218617"/>
            <a:ext cx="629283" cy="322921"/>
          </a:xfrm>
          <a:prstGeom prst="rect">
            <a:avLst/>
          </a:prstGeom>
        </p:spPr>
      </p:pic>
      <p:pic>
        <p:nvPicPr>
          <p:cNvPr id="7" name="圖片 6" descr="一張含有 螢幕擷取畫面, 圖形, Rectangle, 設計 的圖片&#10;&#10;自動產生的描述">
            <a:extLst>
              <a:ext uri="{FF2B5EF4-FFF2-40B4-BE49-F238E27FC236}">
                <a16:creationId xmlns:a16="http://schemas.microsoft.com/office/drawing/2014/main" id="{3CFE4AC0-1762-E615-B4CB-5C32668B2D49}"/>
              </a:ext>
            </a:extLst>
          </p:cNvPr>
          <p:cNvPicPr>
            <a:picLocks noChangeAspect="1"/>
          </p:cNvPicPr>
          <p:nvPr/>
        </p:nvPicPr>
        <p:blipFill>
          <a:blip r:embed="rId5"/>
          <a:stretch>
            <a:fillRect/>
          </a:stretch>
        </p:blipFill>
        <p:spPr>
          <a:xfrm>
            <a:off x="4572001" y="3215374"/>
            <a:ext cx="629284" cy="327228"/>
          </a:xfrm>
          <a:prstGeom prst="rect">
            <a:avLst/>
          </a:prstGeom>
        </p:spPr>
      </p:pic>
      <p:sp>
        <p:nvSpPr>
          <p:cNvPr id="3" name="文字方塊 2">
            <a:extLst>
              <a:ext uri="{FF2B5EF4-FFF2-40B4-BE49-F238E27FC236}">
                <a16:creationId xmlns:a16="http://schemas.microsoft.com/office/drawing/2014/main" id="{6F2C0CFC-B964-0D96-17FC-A5EA34115BE5}"/>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40</a:t>
            </a:fld>
            <a:endParaRPr lang="zh-TW" altLang="en-US">
              <a:solidFill>
                <a:schemeClr val="tx1"/>
              </a:solidFill>
            </a:endParaRPr>
          </a:p>
        </p:txBody>
      </p:sp>
      <p:sp>
        <p:nvSpPr>
          <p:cNvPr id="2" name="文字方塊 1">
            <a:extLst>
              <a:ext uri="{FF2B5EF4-FFF2-40B4-BE49-F238E27FC236}">
                <a16:creationId xmlns:a16="http://schemas.microsoft.com/office/drawing/2014/main" id="{59496257-B500-29D4-F4F6-3158C560F109}"/>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pic>
        <p:nvPicPr>
          <p:cNvPr id="10" name="圖片 9" descr="一張含有 螢幕擷取畫面, 圖形, Rectangle, 設計 的圖片&#10;&#10;自動產生的描述">
            <a:extLst>
              <a:ext uri="{FF2B5EF4-FFF2-40B4-BE49-F238E27FC236}">
                <a16:creationId xmlns:a16="http://schemas.microsoft.com/office/drawing/2014/main" id="{AB58BC8C-5A6F-27E1-6919-BA5D88070E85}"/>
              </a:ext>
            </a:extLst>
          </p:cNvPr>
          <p:cNvPicPr>
            <a:picLocks noChangeAspect="1"/>
          </p:cNvPicPr>
          <p:nvPr/>
        </p:nvPicPr>
        <p:blipFill>
          <a:blip r:embed="rId5"/>
          <a:stretch>
            <a:fillRect/>
          </a:stretch>
        </p:blipFill>
        <p:spPr>
          <a:xfrm>
            <a:off x="6897492" y="1730092"/>
            <a:ext cx="878382" cy="329939"/>
          </a:xfrm>
          <a:prstGeom prst="rect">
            <a:avLst/>
          </a:prstGeom>
        </p:spPr>
      </p:pic>
      <p:sp>
        <p:nvSpPr>
          <p:cNvPr id="12" name="矩形: 圓角 11">
            <a:extLst>
              <a:ext uri="{FF2B5EF4-FFF2-40B4-BE49-F238E27FC236}">
                <a16:creationId xmlns:a16="http://schemas.microsoft.com/office/drawing/2014/main" id="{B41391FB-314F-9ADC-51B1-79C65C593046}"/>
              </a:ext>
            </a:extLst>
          </p:cNvPr>
          <p:cNvSpPr/>
          <p:nvPr/>
        </p:nvSpPr>
        <p:spPr>
          <a:xfrm>
            <a:off x="2516319" y="2448000"/>
            <a:ext cx="4074470" cy="67333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003660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latin typeface="微軟正黑體" panose="020B0604030504040204" pitchFamily="34" charset="-120"/>
                <a:ea typeface="微軟正黑體" panose="020B0604030504040204" pitchFamily="34" charset="-120"/>
              </a:rPr>
              <a:t>回饋紀錄頁面</a:t>
            </a:r>
          </a:p>
        </p:txBody>
      </p:sp>
      <p:pic>
        <p:nvPicPr>
          <p:cNvPr id="5" name="圖片 4">
            <a:extLst>
              <a:ext uri="{FF2B5EF4-FFF2-40B4-BE49-F238E27FC236}">
                <a16:creationId xmlns:a16="http://schemas.microsoft.com/office/drawing/2014/main" id="{2188823C-E139-4E57-38CA-79A1C5F1D19C}"/>
              </a:ext>
            </a:extLst>
          </p:cNvPr>
          <p:cNvPicPr>
            <a:picLocks noChangeAspect="1"/>
          </p:cNvPicPr>
          <p:nvPr/>
        </p:nvPicPr>
        <p:blipFill>
          <a:blip r:embed="rId3"/>
          <a:stretch>
            <a:fillRect/>
          </a:stretch>
        </p:blipFill>
        <p:spPr>
          <a:xfrm>
            <a:off x="954000" y="959383"/>
            <a:ext cx="7236000" cy="3972974"/>
          </a:xfrm>
          <a:prstGeom prst="rect">
            <a:avLst/>
          </a:prstGeom>
        </p:spPr>
      </p:pic>
      <p:sp>
        <p:nvSpPr>
          <p:cNvPr id="4" name="文字方塊 3">
            <a:extLst>
              <a:ext uri="{FF2B5EF4-FFF2-40B4-BE49-F238E27FC236}">
                <a16:creationId xmlns:a16="http://schemas.microsoft.com/office/drawing/2014/main" id="{D49DAD9D-5EB4-A4BF-7598-EFCFE8914A9F}"/>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41</a:t>
            </a:fld>
            <a:endParaRPr lang="zh-TW" altLang="en-US">
              <a:solidFill>
                <a:schemeClr val="tx1"/>
              </a:solidFill>
            </a:endParaRPr>
          </a:p>
        </p:txBody>
      </p:sp>
      <p:sp>
        <p:nvSpPr>
          <p:cNvPr id="3" name="文字方塊 2">
            <a:extLst>
              <a:ext uri="{FF2B5EF4-FFF2-40B4-BE49-F238E27FC236}">
                <a16:creationId xmlns:a16="http://schemas.microsoft.com/office/drawing/2014/main" id="{5D61E7AE-590F-227B-B48B-CD20E0810081}"/>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10956051</a:t>
            </a:r>
            <a:r>
              <a:rPr lang="zh-TW" altLang="en-US">
                <a:solidFill>
                  <a:schemeClr val="tx1"/>
                </a:solidFill>
                <a:latin typeface="Quantico" panose="02020500000000000000" charset="0"/>
              </a:rPr>
              <a:t> </a:t>
            </a:r>
            <a:r>
              <a:rPr lang="zh-TW" altLang="en-US">
                <a:solidFill>
                  <a:schemeClr val="tx1"/>
                </a:solidFill>
              </a:rPr>
              <a:t>范雨茜</a:t>
            </a:r>
            <a:endParaRPr lang="en-US" altLang="zh-TW">
              <a:solidFill>
                <a:schemeClr val="tx1"/>
              </a:solidFill>
            </a:endParaRPr>
          </a:p>
        </p:txBody>
      </p:sp>
      <p:sp>
        <p:nvSpPr>
          <p:cNvPr id="9" name="矩形: 圓角 8">
            <a:extLst>
              <a:ext uri="{FF2B5EF4-FFF2-40B4-BE49-F238E27FC236}">
                <a16:creationId xmlns:a16="http://schemas.microsoft.com/office/drawing/2014/main" id="{93025A8B-9515-1C6F-2C31-3671ED723F80}"/>
              </a:ext>
            </a:extLst>
          </p:cNvPr>
          <p:cNvSpPr/>
          <p:nvPr/>
        </p:nvSpPr>
        <p:spPr>
          <a:xfrm>
            <a:off x="2019081" y="3128223"/>
            <a:ext cx="5109507" cy="26438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a:extLst>
              <a:ext uri="{FF2B5EF4-FFF2-40B4-BE49-F238E27FC236}">
                <a16:creationId xmlns:a16="http://schemas.microsoft.com/office/drawing/2014/main" id="{EDE29FDF-67CA-1880-268D-48A509402ABD}"/>
              </a:ext>
            </a:extLst>
          </p:cNvPr>
          <p:cNvPicPr>
            <a:picLocks noChangeAspect="1"/>
          </p:cNvPicPr>
          <p:nvPr/>
        </p:nvPicPr>
        <p:blipFill>
          <a:blip r:embed="rId4"/>
          <a:srcRect/>
          <a:stretch/>
        </p:blipFill>
        <p:spPr>
          <a:xfrm>
            <a:off x="954000" y="972217"/>
            <a:ext cx="7236000" cy="3967982"/>
          </a:xfrm>
          <a:prstGeom prst="rect">
            <a:avLst/>
          </a:prstGeom>
        </p:spPr>
      </p:pic>
    </p:spTree>
    <p:extLst>
      <p:ext uri="{BB962C8B-B14F-4D97-AF65-F5344CB8AC3E}">
        <p14:creationId xmlns:p14="http://schemas.microsoft.com/office/powerpoint/2010/main" val="35060181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8" name="Google Shape;487;p24">
            <a:extLst>
              <a:ext uri="{FF2B5EF4-FFF2-40B4-BE49-F238E27FC236}">
                <a16:creationId xmlns:a16="http://schemas.microsoft.com/office/drawing/2014/main" id="{A17D0743-20EB-4699-83E9-6636A0FA9D13}"/>
              </a:ext>
            </a:extLst>
          </p:cNvPr>
          <p:cNvSpPr txBox="1"/>
          <p:nvPr/>
        </p:nvSpPr>
        <p:spPr>
          <a:xfrm>
            <a:off x="839315" y="2484150"/>
            <a:ext cx="3488678"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6000">
                <a:solidFill>
                  <a:schemeClr val="dk1"/>
                </a:solidFill>
                <a:latin typeface="Quantico"/>
                <a:ea typeface="Quantico"/>
                <a:cs typeface="Quantico"/>
                <a:sym typeface="Quantico"/>
              </a:rPr>
              <a:t>{0</a:t>
            </a:r>
            <a:r>
              <a:rPr lang="en-US" altLang="zh-TW" sz="6000">
                <a:solidFill>
                  <a:schemeClr val="dk1"/>
                </a:solidFill>
                <a:latin typeface="Quantico"/>
                <a:ea typeface="Quantico"/>
                <a:cs typeface="Quantico"/>
                <a:sym typeface="Quantico"/>
              </a:rPr>
              <a:t>6</a:t>
            </a:r>
            <a:r>
              <a:rPr lang="en" sz="6000">
                <a:solidFill>
                  <a:schemeClr val="accent2"/>
                </a:solidFill>
                <a:latin typeface="Quantico"/>
                <a:ea typeface="Quantico"/>
                <a:cs typeface="Quantico"/>
                <a:sym typeface="Quantico"/>
              </a:rPr>
              <a:t>}</a:t>
            </a:r>
            <a:endParaRPr sz="6000">
              <a:solidFill>
                <a:schemeClr val="accent2"/>
              </a:solidFill>
              <a:latin typeface="Quantico"/>
              <a:ea typeface="Quantico"/>
              <a:cs typeface="Quantico"/>
              <a:sym typeface="Quantico"/>
            </a:endParaRPr>
          </a:p>
        </p:txBody>
      </p:sp>
      <p:sp>
        <p:nvSpPr>
          <p:cNvPr id="9" name="Google Shape;489;p24">
            <a:extLst>
              <a:ext uri="{FF2B5EF4-FFF2-40B4-BE49-F238E27FC236}">
                <a16:creationId xmlns:a16="http://schemas.microsoft.com/office/drawing/2014/main" id="{407CC693-D0B1-470E-8056-2DFCA1E6A139}"/>
              </a:ext>
            </a:extLst>
          </p:cNvPr>
          <p:cNvSpPr txBox="1"/>
          <p:nvPr/>
        </p:nvSpPr>
        <p:spPr>
          <a:xfrm>
            <a:off x="2304160" y="2615294"/>
            <a:ext cx="4537801"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gn="r">
              <a:buNone/>
              <a:defRPr sz="5400" b="1">
                <a:solidFill>
                  <a:schemeClr val="dk1"/>
                </a:solidFill>
                <a:latin typeface="微軟正黑體" panose="020B0604030504040204" pitchFamily="34" charset="-120"/>
                <a:ea typeface="微軟正黑體" panose="020B0604030504040204" pitchFamily="34" charset="-120"/>
                <a:cs typeface="Quantico"/>
              </a:defRPr>
            </a:lvl1pPr>
          </a:lstStyle>
          <a:p>
            <a:r>
              <a:rPr lang="zh-TW" altLang="en-US">
                <a:sym typeface="Quantico"/>
              </a:rPr>
              <a:t>未來展望</a:t>
            </a:r>
          </a:p>
        </p:txBody>
      </p:sp>
      <p:sp>
        <p:nvSpPr>
          <p:cNvPr id="2" name="文字方塊 1">
            <a:extLst>
              <a:ext uri="{FF2B5EF4-FFF2-40B4-BE49-F238E27FC236}">
                <a16:creationId xmlns:a16="http://schemas.microsoft.com/office/drawing/2014/main" id="{2246401F-F4E3-D754-51B6-C6C1BDC3EB80}"/>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spTree>
    <p:extLst>
      <p:ext uri="{BB962C8B-B14F-4D97-AF65-F5344CB8AC3E}">
        <p14:creationId xmlns:p14="http://schemas.microsoft.com/office/powerpoint/2010/main" val="34728786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zh-TW" altLang="en-US">
                <a:solidFill>
                  <a:schemeClr val="accent2"/>
                </a:solidFill>
              </a:rPr>
              <a:t> </a:t>
            </a:r>
            <a:r>
              <a:rPr lang="zh-TW" altLang="en-US" b="1">
                <a:solidFill>
                  <a:schemeClr val="tx1"/>
                </a:solidFill>
                <a:latin typeface="微軟正黑體" panose="020B0604030504040204" pitchFamily="34" charset="-120"/>
                <a:ea typeface="微軟正黑體" panose="020B0604030504040204" pitchFamily="34" charset="-120"/>
              </a:rPr>
              <a:t>未來展望</a:t>
            </a:r>
            <a:endParaRPr lang="zh-TW" altLang="en-US" b="1">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8041D481-5793-8EA0-6746-56DAA1D39278}"/>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43</a:t>
            </a:fld>
            <a:endParaRPr lang="zh-TW" altLang="en-US">
              <a:solidFill>
                <a:schemeClr val="tx1"/>
              </a:solidFill>
            </a:endParaRPr>
          </a:p>
        </p:txBody>
      </p:sp>
      <p:sp>
        <p:nvSpPr>
          <p:cNvPr id="2" name="文字方塊 1">
            <a:extLst>
              <a:ext uri="{FF2B5EF4-FFF2-40B4-BE49-F238E27FC236}">
                <a16:creationId xmlns:a16="http://schemas.microsoft.com/office/drawing/2014/main" id="{F1508B5C-5B3D-5F82-F6D9-13B1B36CEE03}"/>
              </a:ext>
            </a:extLst>
          </p:cNvPr>
          <p:cNvSpPr txBox="1"/>
          <p:nvPr/>
        </p:nvSpPr>
        <p:spPr>
          <a:xfrm>
            <a:off x="7440804" y="198981"/>
            <a:ext cx="1817496" cy="578882"/>
          </a:xfrm>
          <a:prstGeom prst="roundRect">
            <a:avLst>
              <a:gd name="adj" fmla="val 16667"/>
            </a:avLst>
          </a:prstGeom>
          <a:solidFill>
            <a:schemeClr val="bg2">
              <a:lumMod val="75000"/>
              <a:lumOff val="25000"/>
            </a:schemeClr>
          </a:solidFill>
          <a:ln>
            <a:noFill/>
          </a:ln>
        </p:spPr>
        <p:txBody>
          <a:bodyPr wrap="square" rtlCol="0">
            <a:spAutoFit/>
          </a:bodyPr>
          <a:lstStyle/>
          <a:p>
            <a:r>
              <a:rPr lang="zh-TW" altLang="en-US">
                <a:solidFill>
                  <a:schemeClr val="tx1"/>
                </a:solidFill>
              </a:rPr>
              <a:t>報告人</a:t>
            </a:r>
            <a:r>
              <a:rPr lang="en-US" altLang="zh-TW">
                <a:solidFill>
                  <a:schemeClr val="tx1"/>
                </a:solidFill>
              </a:rPr>
              <a:t>:</a:t>
            </a:r>
          </a:p>
          <a:p>
            <a:r>
              <a:rPr lang="en-US" altLang="zh-TW">
                <a:solidFill>
                  <a:schemeClr val="tx1"/>
                </a:solidFill>
                <a:latin typeface="Quantico" panose="02020500000000000000" charset="0"/>
              </a:rPr>
              <a:t>10956011</a:t>
            </a:r>
            <a:r>
              <a:rPr lang="zh-TW" altLang="en-US">
                <a:solidFill>
                  <a:schemeClr val="tx1"/>
                </a:solidFill>
                <a:latin typeface="Quantico" panose="02020500000000000000" charset="0"/>
              </a:rPr>
              <a:t> 周恩宇</a:t>
            </a:r>
            <a:endParaRPr lang="en-US" altLang="zh-TW">
              <a:solidFill>
                <a:schemeClr val="tx1"/>
              </a:solidFill>
            </a:endParaRPr>
          </a:p>
        </p:txBody>
      </p:sp>
      <p:sp>
        <p:nvSpPr>
          <p:cNvPr id="6" name="文字方塊 5">
            <a:extLst>
              <a:ext uri="{FF2B5EF4-FFF2-40B4-BE49-F238E27FC236}">
                <a16:creationId xmlns:a16="http://schemas.microsoft.com/office/drawing/2014/main" id="{F264A90F-B37B-C786-F448-AA7AB51A25BD}"/>
              </a:ext>
            </a:extLst>
          </p:cNvPr>
          <p:cNvSpPr txBox="1"/>
          <p:nvPr/>
        </p:nvSpPr>
        <p:spPr>
          <a:xfrm>
            <a:off x="1775460" y="1910031"/>
            <a:ext cx="5593080" cy="1323439"/>
          </a:xfrm>
          <a:prstGeom prst="rect">
            <a:avLst/>
          </a:prstGeom>
          <a:noFill/>
        </p:spPr>
        <p:txBody>
          <a:bodyPr wrap="square" rtlCol="0">
            <a:spAutoFit/>
          </a:bodyPr>
          <a:lstStyle/>
          <a:p>
            <a:r>
              <a:rPr lang="zh-TW" altLang="en-US" sz="2400" b="0" i="0" u="none" strike="noStrike" baseline="0">
                <a:solidFill>
                  <a:schemeClr val="tx1"/>
                </a:solidFill>
                <a:latin typeface="微軟正黑體" panose="020B0604030504040204" pitchFamily="34" charset="-120"/>
                <a:ea typeface="微軟正黑體" panose="020B0604030504040204" pitchFamily="34" charset="-120"/>
              </a:rPr>
              <a:t>新增</a:t>
            </a:r>
            <a:r>
              <a:rPr lang="zh-TW" altLang="en-US" sz="3200" b="1" i="0" u="none" strike="noStrike" baseline="0">
                <a:solidFill>
                  <a:schemeClr val="tx2">
                    <a:lumMod val="75000"/>
                  </a:schemeClr>
                </a:solidFill>
                <a:latin typeface="微軟正黑體" panose="020B0604030504040204" pitchFamily="34" charset="-120"/>
                <a:ea typeface="微軟正黑體" panose="020B0604030504040204" pitchFamily="34" charset="-120"/>
              </a:rPr>
              <a:t>人工智慧</a:t>
            </a:r>
            <a:r>
              <a:rPr lang="zh-TW" altLang="en-US" sz="2400" b="0" i="0" u="none" strike="noStrike" baseline="0">
                <a:solidFill>
                  <a:schemeClr val="tx1"/>
                </a:solidFill>
                <a:latin typeface="微軟正黑體" panose="020B0604030504040204" pitchFamily="34" charset="-120"/>
                <a:ea typeface="微軟正黑體" panose="020B0604030504040204" pitchFamily="34" charset="-120"/>
              </a:rPr>
              <a:t>輔助教學功能，透過聊天機器人進行即時問答，獲得</a:t>
            </a:r>
            <a:r>
              <a:rPr lang="zh-TW" altLang="en-US" sz="2400">
                <a:solidFill>
                  <a:schemeClr val="tx1"/>
                </a:solidFill>
                <a:latin typeface="微軟正黑體" panose="020B0604030504040204" pitchFamily="34" charset="-120"/>
                <a:ea typeface="微軟正黑體" panose="020B0604030504040204" pitchFamily="34" charset="-120"/>
              </a:rPr>
              <a:t>個人</a:t>
            </a:r>
            <a:r>
              <a:rPr lang="zh-TW" altLang="en-US" sz="2400" b="0" i="0" u="none" strike="noStrike" baseline="0">
                <a:solidFill>
                  <a:schemeClr val="tx1"/>
                </a:solidFill>
                <a:latin typeface="微軟正黑體" panose="020B0604030504040204" pitchFamily="34" charset="-120"/>
                <a:ea typeface="微軟正黑體" panose="020B0604030504040204" pitchFamily="34" charset="-120"/>
              </a:rPr>
              <a:t>化學習建議。 </a:t>
            </a:r>
          </a:p>
        </p:txBody>
      </p:sp>
      <p:sp>
        <p:nvSpPr>
          <p:cNvPr id="8" name="文字方塊 7">
            <a:extLst>
              <a:ext uri="{FF2B5EF4-FFF2-40B4-BE49-F238E27FC236}">
                <a16:creationId xmlns:a16="http://schemas.microsoft.com/office/drawing/2014/main" id="{2C6C7637-9A83-AFAD-0E0C-4F4FEA2572D7}"/>
              </a:ext>
            </a:extLst>
          </p:cNvPr>
          <p:cNvSpPr txBox="1"/>
          <p:nvPr/>
        </p:nvSpPr>
        <p:spPr>
          <a:xfrm>
            <a:off x="1775460" y="1910031"/>
            <a:ext cx="5593080" cy="1323439"/>
          </a:xfrm>
          <a:prstGeom prst="rect">
            <a:avLst/>
          </a:prstGeom>
          <a:noFill/>
        </p:spPr>
        <p:txBody>
          <a:bodyPr wrap="square" rtlCol="0">
            <a:spAutoFit/>
          </a:bodyPr>
          <a:lstStyle/>
          <a:p>
            <a:pPr algn="just"/>
            <a:r>
              <a:rPr lang="zh-TW" altLang="en-US" sz="2400" b="0" i="0" u="none" strike="noStrike" baseline="0">
                <a:solidFill>
                  <a:schemeClr val="tx1"/>
                </a:solidFill>
                <a:latin typeface="微軟正黑體" panose="020B0604030504040204" pitchFamily="34" charset="-120"/>
                <a:ea typeface="微軟正黑體" panose="020B0604030504040204" pitchFamily="34" charset="-120"/>
              </a:rPr>
              <a:t>與公司合作，</a:t>
            </a:r>
            <a:r>
              <a:rPr lang="zh-TW" altLang="en-US" sz="3200" b="1" i="0" u="none" strike="noStrike" baseline="0">
                <a:solidFill>
                  <a:schemeClr val="tx2">
                    <a:lumMod val="75000"/>
                  </a:schemeClr>
                </a:solidFill>
                <a:latin typeface="微軟正黑體" panose="020B0604030504040204" pitchFamily="34" charset="-120"/>
                <a:ea typeface="微軟正黑體" panose="020B0604030504040204" pitchFamily="34" charset="-120"/>
              </a:rPr>
              <a:t>提供企業版平台</a:t>
            </a:r>
            <a:r>
              <a:rPr lang="zh-TW" altLang="en-US" sz="2400" b="0" i="0" u="none" strike="noStrike" baseline="0">
                <a:solidFill>
                  <a:schemeClr val="tx1"/>
                </a:solidFill>
                <a:latin typeface="微軟正黑體" panose="020B0604030504040204" pitchFamily="34" charset="-120"/>
                <a:ea typeface="微軟正黑體" panose="020B0604030504040204" pitchFamily="34" charset="-120"/>
              </a:rPr>
              <a:t>，幫助企業內部進行員工的程式設計培訓及考核。</a:t>
            </a:r>
          </a:p>
        </p:txBody>
      </p:sp>
    </p:spTree>
    <p:extLst>
      <p:ext uri="{BB962C8B-B14F-4D97-AF65-F5344CB8AC3E}">
        <p14:creationId xmlns:p14="http://schemas.microsoft.com/office/powerpoint/2010/main" val="2092342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3222776" y="1999348"/>
            <a:ext cx="2540794" cy="576000"/>
          </a:xfrm>
          <a:prstGeom prst="rect">
            <a:avLst/>
          </a:prstGeom>
        </p:spPr>
        <p:txBody>
          <a:bodyPr spcFirstLastPara="1" wrap="square" lIns="91425" tIns="91425" rIns="91425" bIns="91425" anchor="t" anchorCtr="0">
            <a:noAutofit/>
          </a:bodyPr>
          <a:lstStyle/>
          <a:p>
            <a:r>
              <a:rPr lang="en" sz="5400">
                <a:solidFill>
                  <a:srgbClr val="FFFF00"/>
                </a:solidFill>
              </a:rPr>
              <a:t>&lt;/ </a:t>
            </a:r>
            <a:r>
              <a:rPr lang="en" sz="5400">
                <a:solidFill>
                  <a:schemeClr val="tx1"/>
                </a:solidFill>
              </a:rPr>
              <a:t>END</a:t>
            </a:r>
            <a:endParaRPr lang="zh-TW" altLang="en-US" sz="5400">
              <a:solidFill>
                <a:schemeClr val="tx1"/>
              </a:solidFill>
            </a:endParaRPr>
          </a:p>
        </p:txBody>
      </p:sp>
    </p:spTree>
    <p:extLst>
      <p:ext uri="{BB962C8B-B14F-4D97-AF65-F5344CB8AC3E}">
        <p14:creationId xmlns:p14="http://schemas.microsoft.com/office/powerpoint/2010/main" val="6127101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2793801" y="1506442"/>
            <a:ext cx="3556397" cy="576000"/>
          </a:xfrm>
          <a:prstGeom prst="rect">
            <a:avLst/>
          </a:prstGeom>
        </p:spPr>
        <p:txBody>
          <a:bodyPr spcFirstLastPara="1" wrap="square" lIns="91425" tIns="91425" rIns="91425" bIns="91425" anchor="t" anchorCtr="0">
            <a:noAutofit/>
          </a:bodyPr>
          <a:lstStyle/>
          <a:p>
            <a:r>
              <a:rPr lang="en" sz="6600">
                <a:solidFill>
                  <a:srgbClr val="FFC000"/>
                </a:solidFill>
              </a:rPr>
              <a:t>&lt;/</a:t>
            </a:r>
            <a:r>
              <a:rPr lang="en" sz="6600">
                <a:solidFill>
                  <a:srgbClr val="FFFF00"/>
                </a:solidFill>
              </a:rPr>
              <a:t> </a:t>
            </a:r>
            <a:r>
              <a:rPr lang="en-US" altLang="zh-TW" sz="6600">
                <a:solidFill>
                  <a:schemeClr val="tx1"/>
                </a:solidFill>
              </a:rPr>
              <a:t>Q</a:t>
            </a:r>
            <a:r>
              <a:rPr lang="en-US" altLang="zh-TW" sz="6600">
                <a:solidFill>
                  <a:schemeClr val="tx1"/>
                </a:solidFill>
                <a:latin typeface="Abadi" panose="02000000000000000000" pitchFamily="2" charset="0"/>
                <a:ea typeface="Abadi" panose="02000000000000000000" pitchFamily="2" charset="0"/>
              </a:rPr>
              <a:t>&amp;</a:t>
            </a:r>
            <a:r>
              <a:rPr lang="en-US" altLang="zh-TW" sz="6600">
                <a:solidFill>
                  <a:schemeClr val="tx1"/>
                </a:solidFill>
              </a:rPr>
              <a:t>A</a:t>
            </a:r>
            <a:endParaRPr lang="zh-TW" altLang="en-US" sz="6600">
              <a:solidFill>
                <a:schemeClr val="tx1"/>
              </a:solidFill>
            </a:endParaRPr>
          </a:p>
        </p:txBody>
      </p:sp>
      <p:sp>
        <p:nvSpPr>
          <p:cNvPr id="2" name="文字方塊 1">
            <a:extLst>
              <a:ext uri="{FF2B5EF4-FFF2-40B4-BE49-F238E27FC236}">
                <a16:creationId xmlns:a16="http://schemas.microsoft.com/office/drawing/2014/main" id="{CB4B5D2A-AABB-A315-A50D-A6547ACC1B61}"/>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45</a:t>
            </a:fld>
            <a:endParaRPr lang="zh-TW" altLang="en-US">
              <a:solidFill>
                <a:schemeClr val="tx1"/>
              </a:solidFill>
            </a:endParaRPr>
          </a:p>
        </p:txBody>
      </p:sp>
      <p:sp>
        <p:nvSpPr>
          <p:cNvPr id="3" name="Google Shape;84;p15">
            <a:extLst>
              <a:ext uri="{FF2B5EF4-FFF2-40B4-BE49-F238E27FC236}">
                <a16:creationId xmlns:a16="http://schemas.microsoft.com/office/drawing/2014/main" id="{0F4E3650-B808-39B1-E5C1-1E15CF5E745D}"/>
              </a:ext>
            </a:extLst>
          </p:cNvPr>
          <p:cNvSpPr txBox="1">
            <a:spLocks/>
          </p:cNvSpPr>
          <p:nvPr/>
        </p:nvSpPr>
        <p:spPr>
          <a:xfrm>
            <a:off x="2073609" y="3017299"/>
            <a:ext cx="6831429" cy="95761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300"/>
              <a:buFont typeface="Quantico"/>
              <a:buNone/>
              <a:defRPr sz="3300" b="0" i="0" u="none" strike="noStrike" cap="none">
                <a:solidFill>
                  <a:schemeClr val="dk1"/>
                </a:solidFill>
                <a:latin typeface="Quantico"/>
                <a:ea typeface="Quantico"/>
                <a:cs typeface="Quantico"/>
                <a:sym typeface="Quantico"/>
              </a:defRPr>
            </a:lvl1pPr>
            <a:lvl2pPr marR="0" lvl="1"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2pPr>
            <a:lvl3pPr marR="0" lvl="2"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3pPr>
            <a:lvl4pPr marR="0" lvl="3"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4pPr>
            <a:lvl5pPr marR="0" lvl="4"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5pPr>
            <a:lvl6pPr marR="0" lvl="5"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6pPr>
            <a:lvl7pPr marR="0" lvl="6"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7pPr>
            <a:lvl8pPr marR="0" lvl="7"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8pPr>
            <a:lvl9pPr marR="0" lvl="8" algn="l" rtl="0">
              <a:lnSpc>
                <a:spcPct val="100000"/>
              </a:lnSpc>
              <a:spcBef>
                <a:spcPts val="0"/>
              </a:spcBef>
              <a:spcAft>
                <a:spcPts val="0"/>
              </a:spcAft>
              <a:buClr>
                <a:schemeClr val="dk1"/>
              </a:buClr>
              <a:buSzPts val="3300"/>
              <a:buFont typeface="Quantico"/>
              <a:buNone/>
              <a:defRPr sz="3300" b="1" i="0" u="none" strike="noStrike" cap="none">
                <a:solidFill>
                  <a:schemeClr val="dk1"/>
                </a:solidFill>
                <a:latin typeface="Quantico"/>
                <a:ea typeface="Quantico"/>
                <a:cs typeface="Quantico"/>
                <a:sym typeface="Quantico"/>
              </a:defRPr>
            </a:lvl9pPr>
          </a:lstStyle>
          <a:p>
            <a:pPr algn="ctr"/>
            <a:r>
              <a:rPr lang="en-US" sz="5400" b="1" err="1"/>
              <a:t>CodeAlchemy</a:t>
            </a:r>
            <a:endParaRPr lang="en-US" sz="5400" b="1">
              <a:solidFill>
                <a:schemeClr val="accent2"/>
              </a:solidFill>
            </a:endParaRPr>
          </a:p>
        </p:txBody>
      </p:sp>
      <p:pic>
        <p:nvPicPr>
          <p:cNvPr id="4" name="圖片 3">
            <a:extLst>
              <a:ext uri="{FF2B5EF4-FFF2-40B4-BE49-F238E27FC236}">
                <a16:creationId xmlns:a16="http://schemas.microsoft.com/office/drawing/2014/main" id="{270363BD-DE6A-663F-ADB6-B5ADAFCFA403}"/>
              </a:ext>
            </a:extLst>
          </p:cNvPr>
          <p:cNvPicPr>
            <a:picLocks noChangeAspect="1"/>
          </p:cNvPicPr>
          <p:nvPr/>
        </p:nvPicPr>
        <p:blipFill>
          <a:blip r:embed="rId3"/>
          <a:stretch>
            <a:fillRect/>
          </a:stretch>
        </p:blipFill>
        <p:spPr>
          <a:xfrm>
            <a:off x="1331838" y="2571750"/>
            <a:ext cx="1602490" cy="1462636"/>
          </a:xfrm>
          <a:prstGeom prst="rect">
            <a:avLst/>
          </a:prstGeom>
        </p:spPr>
      </p:pic>
    </p:spTree>
    <p:extLst>
      <p:ext uri="{BB962C8B-B14F-4D97-AF65-F5344CB8AC3E}">
        <p14:creationId xmlns:p14="http://schemas.microsoft.com/office/powerpoint/2010/main" val="40972553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latin typeface="微軟正黑體" panose="020B0604030504040204" pitchFamily="34" charset="-120"/>
                <a:ea typeface="微軟正黑體" panose="020B0604030504040204" pitchFamily="34" charset="-120"/>
              </a:rPr>
              <a:t>&lt;/</a:t>
            </a:r>
            <a:r>
              <a:rPr lang="zh-TW" altLang="en-US" b="1">
                <a:solidFill>
                  <a:schemeClr val="accent6"/>
                </a:solidFill>
                <a:latin typeface="微軟正黑體" panose="020B0604030504040204" pitchFamily="34" charset="-120"/>
                <a:ea typeface="微軟正黑體" panose="020B0604030504040204" pitchFamily="34" charset="-120"/>
              </a:rPr>
              <a:t>附錄</a:t>
            </a:r>
          </a:p>
        </p:txBody>
      </p:sp>
      <p:sp>
        <p:nvSpPr>
          <p:cNvPr id="4" name="文字方塊 3">
            <a:extLst>
              <a:ext uri="{FF2B5EF4-FFF2-40B4-BE49-F238E27FC236}">
                <a16:creationId xmlns:a16="http://schemas.microsoft.com/office/drawing/2014/main" id="{28793DF4-00D2-4B30-BAD9-7B6C673877A3}"/>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46</a:t>
            </a:fld>
            <a:endParaRPr lang="zh-TW" altLang="en-US">
              <a:solidFill>
                <a:schemeClr val="tx1"/>
              </a:solidFill>
            </a:endParaRPr>
          </a:p>
        </p:txBody>
      </p:sp>
      <p:sp>
        <p:nvSpPr>
          <p:cNvPr id="2" name="矩形: 圓角 1">
            <a:hlinkClick r:id="rId3" action="ppaction://hlinkfile"/>
            <a:extLst>
              <a:ext uri="{FF2B5EF4-FFF2-40B4-BE49-F238E27FC236}">
                <a16:creationId xmlns:a16="http://schemas.microsoft.com/office/drawing/2014/main" id="{186B01AB-3694-E56F-8BCB-E0C55FFFCA68}"/>
              </a:ext>
            </a:extLst>
          </p:cNvPr>
          <p:cNvSpPr/>
          <p:nvPr/>
        </p:nvSpPr>
        <p:spPr>
          <a:xfrm>
            <a:off x="3322020" y="2024884"/>
            <a:ext cx="2499961" cy="109373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200">
                <a:latin typeface="微軟正黑體" panose="020B0604030504040204" pitchFamily="34" charset="-120"/>
                <a:ea typeface="微軟正黑體" panose="020B0604030504040204" pitchFamily="34" charset="-120"/>
              </a:rPr>
              <a:t>系統</a:t>
            </a:r>
            <a:r>
              <a:rPr lang="en-US" altLang="zh-TW" sz="3200">
                <a:latin typeface="微軟正黑體" panose="020B0604030504040204" pitchFamily="34" charset="-120"/>
                <a:ea typeface="微軟正黑體" panose="020B0604030504040204" pitchFamily="34" charset="-120"/>
              </a:rPr>
              <a:t>DEMO</a:t>
            </a:r>
            <a:endParaRPr lang="zh-TW" altLang="en-US" sz="320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7039582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latin typeface="微軟正黑體" panose="020B0604030504040204" pitchFamily="34" charset="-120"/>
                <a:ea typeface="微軟正黑體" panose="020B0604030504040204" pitchFamily="34" charset="-120"/>
              </a:rPr>
              <a:t>&lt;/</a:t>
            </a:r>
            <a:r>
              <a:rPr lang="zh-TW" altLang="en-US" b="1">
                <a:solidFill>
                  <a:schemeClr val="accent6"/>
                </a:solidFill>
                <a:latin typeface="微軟正黑體" panose="020B0604030504040204" pitchFamily="34" charset="-120"/>
                <a:ea typeface="微軟正黑體" panose="020B0604030504040204" pitchFamily="34" charset="-120"/>
              </a:rPr>
              <a:t>附錄</a:t>
            </a:r>
          </a:p>
        </p:txBody>
      </p:sp>
      <p:sp>
        <p:nvSpPr>
          <p:cNvPr id="4" name="文字方塊 3">
            <a:extLst>
              <a:ext uri="{FF2B5EF4-FFF2-40B4-BE49-F238E27FC236}">
                <a16:creationId xmlns:a16="http://schemas.microsoft.com/office/drawing/2014/main" id="{28793DF4-00D2-4B30-BAD9-7B6C673877A3}"/>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47</a:t>
            </a:fld>
            <a:endParaRPr lang="zh-TW" altLang="en-US">
              <a:solidFill>
                <a:schemeClr val="tx1"/>
              </a:solidFill>
            </a:endParaRPr>
          </a:p>
        </p:txBody>
      </p:sp>
      <p:sp>
        <p:nvSpPr>
          <p:cNvPr id="7" name="文字方塊 6">
            <a:extLst>
              <a:ext uri="{FF2B5EF4-FFF2-40B4-BE49-F238E27FC236}">
                <a16:creationId xmlns:a16="http://schemas.microsoft.com/office/drawing/2014/main" id="{A549630F-0784-49A9-CBC4-2B4DD85F9320}"/>
              </a:ext>
            </a:extLst>
          </p:cNvPr>
          <p:cNvSpPr txBox="1"/>
          <p:nvPr/>
        </p:nvSpPr>
        <p:spPr>
          <a:xfrm>
            <a:off x="2546050" y="2279362"/>
            <a:ext cx="40518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3200">
                <a:hlinkClick r:id="rId3"/>
              </a:rPr>
              <a:t>Dolos </a:t>
            </a:r>
            <a:r>
              <a:rPr lang="en-US" altLang="zh-TW" sz="3200" err="1">
                <a:hlinkClick r:id="rId3"/>
              </a:rPr>
              <a:t>簡報範例連結</a:t>
            </a:r>
            <a:endParaRPr lang="en-US" altLang="zh-TW" sz="3200"/>
          </a:p>
        </p:txBody>
      </p:sp>
    </p:spTree>
    <p:extLst>
      <p:ext uri="{BB962C8B-B14F-4D97-AF65-F5344CB8AC3E}">
        <p14:creationId xmlns:p14="http://schemas.microsoft.com/office/powerpoint/2010/main" val="30079049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B9421F36-E14C-17BF-55C9-92012C32E3E1}"/>
              </a:ext>
            </a:extLst>
          </p:cNvPr>
          <p:cNvGraphicFramePr>
            <a:graphicFrameLocks noGrp="1"/>
          </p:cNvGraphicFramePr>
          <p:nvPr>
            <p:extLst>
              <p:ext uri="{D42A27DB-BD31-4B8C-83A1-F6EECF244321}">
                <p14:modId xmlns:p14="http://schemas.microsoft.com/office/powerpoint/2010/main" val="3866419623"/>
              </p:ext>
            </p:extLst>
          </p:nvPr>
        </p:nvGraphicFramePr>
        <p:xfrm>
          <a:off x="651600" y="1077951"/>
          <a:ext cx="7875366" cy="3597415"/>
        </p:xfrm>
        <a:graphic>
          <a:graphicData uri="http://schemas.openxmlformats.org/drawingml/2006/table">
            <a:tbl>
              <a:tblPr firstRow="1" firstCol="1" bandRow="1">
                <a:tableStyleId>{156FFB51-9094-4DAB-B666-DE70557B4261}</a:tableStyleId>
              </a:tblPr>
              <a:tblGrid>
                <a:gridCol w="5158534">
                  <a:extLst>
                    <a:ext uri="{9D8B030D-6E8A-4147-A177-3AD203B41FA5}">
                      <a16:colId xmlns:a16="http://schemas.microsoft.com/office/drawing/2014/main" val="2222035984"/>
                    </a:ext>
                  </a:extLst>
                </a:gridCol>
                <a:gridCol w="2716832">
                  <a:extLst>
                    <a:ext uri="{9D8B030D-6E8A-4147-A177-3AD203B41FA5}">
                      <a16:colId xmlns:a16="http://schemas.microsoft.com/office/drawing/2014/main" val="1926197266"/>
                    </a:ext>
                  </a:extLst>
                </a:gridCol>
              </a:tblGrid>
              <a:tr h="252718">
                <a:tc>
                  <a:txBody>
                    <a:bodyPr/>
                    <a:lstStyle/>
                    <a:p>
                      <a:pPr algn="ctr">
                        <a:spcBef>
                          <a:spcPts val="0"/>
                        </a:spcBef>
                        <a:spcAft>
                          <a:spcPts val="600"/>
                        </a:spcAft>
                      </a:pPr>
                      <a:r>
                        <a:rPr lang="zh-TW" sz="1400" b="1" kern="100">
                          <a:solidFill>
                            <a:schemeClr val="tx1"/>
                          </a:solidFill>
                          <a:effectLst/>
                        </a:rPr>
                        <a:t>評審建議事項</a:t>
                      </a:r>
                      <a:endParaRPr lang="zh-TW" sz="1400" b="1"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zh-TW" sz="1400" b="1" kern="100">
                          <a:solidFill>
                            <a:schemeClr val="tx1"/>
                          </a:solidFill>
                          <a:effectLst/>
                        </a:rPr>
                        <a:t>修改情形</a:t>
                      </a:r>
                      <a:endParaRPr lang="zh-TW" sz="1400" b="1"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0272594"/>
                  </a:ext>
                </a:extLst>
              </a:tr>
              <a:tr h="1816772">
                <a:tc>
                  <a:txBody>
                    <a:bodyPr/>
                    <a:lstStyle/>
                    <a:p>
                      <a:pPr>
                        <a:spcBef>
                          <a:spcPts val="0"/>
                        </a:spcBef>
                        <a:spcAft>
                          <a:spcPts val="600"/>
                        </a:spcAft>
                      </a:pPr>
                      <a:r>
                        <a:rPr lang="zh-TW" sz="1400" kern="100">
                          <a:solidFill>
                            <a:schemeClr val="tx1"/>
                          </a:solidFill>
                          <a:effectLst/>
                        </a:rPr>
                        <a:t>強調系統可透過</a:t>
                      </a:r>
                      <a:r>
                        <a:rPr lang="en-US" sz="1400" kern="100">
                          <a:solidFill>
                            <a:schemeClr val="tx1"/>
                          </a:solidFill>
                          <a:effectLst/>
                        </a:rPr>
                        <a:t>Dolos</a:t>
                      </a:r>
                      <a:r>
                        <a:rPr lang="zh-TW" sz="1400" kern="100">
                          <a:solidFill>
                            <a:schemeClr val="tx1"/>
                          </a:solidFill>
                          <a:effectLst/>
                        </a:rPr>
                        <a:t>分析上傳程式是否抄襲，是否具有意義（若為作業抄襲問題偵測，可行，但於競賽時解題查核，則意義不大），解題程式寫作受限於程式語法，相似性極高。建議可強調</a:t>
                      </a:r>
                      <a:r>
                        <a:rPr lang="en-US" sz="1400" kern="100">
                          <a:solidFill>
                            <a:schemeClr val="tx1"/>
                          </a:solidFill>
                          <a:effectLst/>
                        </a:rPr>
                        <a:t>Dolos </a:t>
                      </a:r>
                      <a:r>
                        <a:rPr lang="zh-TW" sz="1400" kern="100">
                          <a:solidFill>
                            <a:schemeClr val="tx1"/>
                          </a:solidFill>
                          <a:effectLst/>
                        </a:rPr>
                        <a:t>其他功能整合到系統的功能，或將使用時機談清楚。 </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sz="1400" kern="100">
                          <a:solidFill>
                            <a:schemeClr val="tx1"/>
                          </a:solidFill>
                          <a:effectLst/>
                        </a:rPr>
                        <a:t>由於解題程式的寫作受限於語法規範和題目設計，相似度較高的情況時常發生。因此，我們在賽後檢討時，強調的是</a:t>
                      </a:r>
                      <a:r>
                        <a:rPr lang="en-US" sz="1400" kern="100">
                          <a:solidFill>
                            <a:schemeClr val="tx1"/>
                          </a:solidFill>
                          <a:effectLst/>
                        </a:rPr>
                        <a:t>Dolos</a:t>
                      </a:r>
                      <a:r>
                        <a:rPr lang="zh-TW" sz="1400" kern="100">
                          <a:solidFill>
                            <a:schemeClr val="tx1"/>
                          </a:solidFill>
                          <a:effectLst/>
                        </a:rPr>
                        <a:t>的程式碼分群功能，幫助參賽者快速了解同一題目的多種解法，深入分析各種解題策略的優缺點。</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2538709"/>
                  </a:ext>
                </a:extLst>
              </a:tr>
              <a:tr h="697283">
                <a:tc>
                  <a:txBody>
                    <a:bodyPr/>
                    <a:lstStyle/>
                    <a:p>
                      <a:pPr>
                        <a:spcBef>
                          <a:spcPts val="0"/>
                        </a:spcBef>
                        <a:spcAft>
                          <a:spcPts val="600"/>
                        </a:spcAft>
                      </a:pPr>
                      <a:r>
                        <a:rPr lang="zh-TW" sz="1400" kern="100">
                          <a:solidFill>
                            <a:schemeClr val="tx1"/>
                          </a:solidFill>
                          <a:effectLst/>
                        </a:rPr>
                        <a:t>解題程式語言是透過什麼核心服務執行程式分析、結果驗證及整合外部哪些系統服務，未見於系統架構圖表示，請補上。</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sz="1400" kern="100">
                          <a:solidFill>
                            <a:schemeClr val="tx1"/>
                          </a:solidFill>
                          <a:effectLst/>
                        </a:rPr>
                        <a:t>已修正</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6235029"/>
                  </a:ext>
                </a:extLst>
              </a:tr>
              <a:tr h="830642">
                <a:tc>
                  <a:txBody>
                    <a:bodyPr/>
                    <a:lstStyle/>
                    <a:p>
                      <a:pPr>
                        <a:spcBef>
                          <a:spcPts val="0"/>
                        </a:spcBef>
                        <a:spcAft>
                          <a:spcPts val="600"/>
                        </a:spcAft>
                      </a:pPr>
                      <a:r>
                        <a:rPr lang="zh-TW" sz="1400" kern="100">
                          <a:solidFill>
                            <a:schemeClr val="tx1"/>
                          </a:solidFill>
                          <a:effectLst/>
                        </a:rPr>
                        <a:t>系統希望能開設新學習課程功能，但未針對此部份進一步說明內容為何？如何實現於系統中，且於資料表亦未見到此部份規劃，請重新增補或修正。</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sz="1400" kern="100">
                          <a:solidFill>
                            <a:schemeClr val="tx1"/>
                          </a:solidFill>
                          <a:effectLst/>
                        </a:rPr>
                        <a:t>已取消這部分功能</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586155"/>
                  </a:ext>
                </a:extLst>
              </a:tr>
            </a:tbl>
          </a:graphicData>
        </a:graphic>
      </p:graphicFrame>
      <p:sp>
        <p:nvSpPr>
          <p:cNvPr id="4" name="Google Shape;937;p34">
            <a:extLst>
              <a:ext uri="{FF2B5EF4-FFF2-40B4-BE49-F238E27FC236}">
                <a16:creationId xmlns:a16="http://schemas.microsoft.com/office/drawing/2014/main" id="{3C5F5884-FF28-7DF0-E03B-89A4CD175D7C}"/>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zh-TW" altLang="en-US" b="1">
                <a:latin typeface="微軟正黑體" panose="020B0604030504040204" pitchFamily="34" charset="-120"/>
                <a:ea typeface="微軟正黑體" panose="020B0604030504040204" pitchFamily="34" charset="-120"/>
              </a:rPr>
              <a:t>附錄</a:t>
            </a:r>
          </a:p>
        </p:txBody>
      </p:sp>
    </p:spTree>
    <p:extLst>
      <p:ext uri="{BB962C8B-B14F-4D97-AF65-F5344CB8AC3E}">
        <p14:creationId xmlns:p14="http://schemas.microsoft.com/office/powerpoint/2010/main" val="24109233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86184-5FB2-6AA4-2664-7A3F4BE7F629}"/>
            </a:ext>
          </a:extLst>
        </p:cNvPr>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3F595E6E-8EBD-C038-56CE-176782066002}"/>
              </a:ext>
            </a:extLst>
          </p:cNvPr>
          <p:cNvGraphicFramePr>
            <a:graphicFrameLocks noGrp="1"/>
          </p:cNvGraphicFramePr>
          <p:nvPr>
            <p:extLst>
              <p:ext uri="{D42A27DB-BD31-4B8C-83A1-F6EECF244321}">
                <p14:modId xmlns:p14="http://schemas.microsoft.com/office/powerpoint/2010/main" val="3340000580"/>
              </p:ext>
            </p:extLst>
          </p:nvPr>
        </p:nvGraphicFramePr>
        <p:xfrm>
          <a:off x="667214" y="1412488"/>
          <a:ext cx="7809571" cy="2622475"/>
        </p:xfrm>
        <a:graphic>
          <a:graphicData uri="http://schemas.openxmlformats.org/drawingml/2006/table">
            <a:tbl>
              <a:tblPr firstRow="1" firstCol="1" bandRow="1">
                <a:tableStyleId>{156FFB51-9094-4DAB-B666-DE70557B4261}</a:tableStyleId>
              </a:tblPr>
              <a:tblGrid>
                <a:gridCol w="5146698">
                  <a:extLst>
                    <a:ext uri="{9D8B030D-6E8A-4147-A177-3AD203B41FA5}">
                      <a16:colId xmlns:a16="http://schemas.microsoft.com/office/drawing/2014/main" val="2222035984"/>
                    </a:ext>
                  </a:extLst>
                </a:gridCol>
                <a:gridCol w="2662873">
                  <a:extLst>
                    <a:ext uri="{9D8B030D-6E8A-4147-A177-3AD203B41FA5}">
                      <a16:colId xmlns:a16="http://schemas.microsoft.com/office/drawing/2014/main" val="1926197266"/>
                    </a:ext>
                  </a:extLst>
                </a:gridCol>
              </a:tblGrid>
              <a:tr h="319668">
                <a:tc>
                  <a:txBody>
                    <a:bodyPr/>
                    <a:lstStyle/>
                    <a:p>
                      <a:pPr algn="ctr">
                        <a:spcBef>
                          <a:spcPts val="0"/>
                        </a:spcBef>
                        <a:spcAft>
                          <a:spcPts val="600"/>
                        </a:spcAft>
                      </a:pPr>
                      <a:r>
                        <a:rPr lang="zh-TW" sz="1400" b="1" kern="100">
                          <a:solidFill>
                            <a:schemeClr val="tx1"/>
                          </a:solidFill>
                          <a:effectLst/>
                        </a:rPr>
                        <a:t>評審建議事項</a:t>
                      </a:r>
                      <a:endParaRPr lang="zh-TW" sz="1400" b="1"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zh-TW" sz="1400" b="1" kern="100">
                          <a:solidFill>
                            <a:schemeClr val="tx1"/>
                          </a:solidFill>
                          <a:effectLst/>
                        </a:rPr>
                        <a:t>修改情形</a:t>
                      </a:r>
                      <a:endParaRPr lang="zh-TW" sz="1400" b="1"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0272594"/>
                  </a:ext>
                </a:extLst>
              </a:tr>
              <a:tr h="381371">
                <a:tc>
                  <a:txBody>
                    <a:bodyPr/>
                    <a:lstStyle/>
                    <a:p>
                      <a:pPr>
                        <a:spcBef>
                          <a:spcPts val="0"/>
                        </a:spcBef>
                        <a:spcAft>
                          <a:spcPts val="600"/>
                        </a:spcAft>
                      </a:pPr>
                      <a:r>
                        <a:rPr lang="en-US" altLang="zh-TW" sz="1400" b="0" i="0" u="none" strike="noStrike" cap="none">
                          <a:solidFill>
                            <a:schemeClr val="tx1"/>
                          </a:solidFill>
                          <a:effectLst/>
                          <a:latin typeface="Arial"/>
                          <a:ea typeface="Arial"/>
                          <a:cs typeface="Arial"/>
                          <a:sym typeface="Arial"/>
                        </a:rPr>
                        <a:t>T02</a:t>
                      </a:r>
                      <a:r>
                        <a:rPr lang="zh-TW" altLang="zh-TW" sz="1400" b="0" i="0" u="none" strike="noStrike" cap="none">
                          <a:solidFill>
                            <a:schemeClr val="tx1"/>
                          </a:solidFill>
                          <a:effectLst/>
                          <a:latin typeface="Arial"/>
                          <a:ea typeface="Arial"/>
                          <a:cs typeface="Arial"/>
                          <a:sym typeface="Arial"/>
                        </a:rPr>
                        <a:t>資料表欄位有問題，請修正。</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已修正</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2538709"/>
                  </a:ext>
                </a:extLst>
              </a:tr>
              <a:tr h="333292">
                <a:tc>
                  <a:txBody>
                    <a:bodyPr/>
                    <a:lstStyle/>
                    <a:p>
                      <a:pPr>
                        <a:spcBef>
                          <a:spcPts val="0"/>
                        </a:spcBef>
                        <a:spcAft>
                          <a:spcPts val="600"/>
                        </a:spcAft>
                      </a:pPr>
                      <a:r>
                        <a:rPr lang="en-US" altLang="zh-TW" sz="1400" b="0" i="0" u="none" strike="noStrike" cap="none">
                          <a:solidFill>
                            <a:schemeClr val="tx1"/>
                          </a:solidFill>
                          <a:effectLst/>
                          <a:latin typeface="Arial"/>
                          <a:ea typeface="Arial"/>
                          <a:cs typeface="Arial"/>
                          <a:sym typeface="Arial"/>
                        </a:rPr>
                        <a:t>T04 </a:t>
                      </a:r>
                      <a:r>
                        <a:rPr lang="zh-TW" altLang="zh-TW" sz="1400" b="0" i="0" u="none" strike="noStrike" cap="none">
                          <a:solidFill>
                            <a:schemeClr val="tx1"/>
                          </a:solidFill>
                          <a:effectLst/>
                          <a:latin typeface="Arial"/>
                          <a:ea typeface="Arial"/>
                          <a:cs typeface="Arial"/>
                          <a:sym typeface="Arial"/>
                        </a:rPr>
                        <a:t>是否需要為</a:t>
                      </a:r>
                      <a:r>
                        <a:rPr lang="en-US" altLang="zh-TW" sz="1400" b="0" i="0" u="none" strike="noStrike" cap="none">
                          <a:solidFill>
                            <a:schemeClr val="tx1"/>
                          </a:solidFill>
                          <a:effectLst/>
                          <a:latin typeface="Arial"/>
                          <a:ea typeface="Arial"/>
                          <a:cs typeface="Arial"/>
                          <a:sym typeface="Arial"/>
                        </a:rPr>
                        <a:t>Problem </a:t>
                      </a:r>
                      <a:r>
                        <a:rPr lang="zh-TW" altLang="zh-TW" sz="1400" b="0" i="0" u="none" strike="noStrike" cap="none">
                          <a:solidFill>
                            <a:schemeClr val="tx1"/>
                          </a:solidFill>
                          <a:effectLst/>
                          <a:latin typeface="Arial"/>
                          <a:ea typeface="Arial"/>
                          <a:cs typeface="Arial"/>
                          <a:sym typeface="Arial"/>
                        </a:rPr>
                        <a:t>補上類別等欄位，便於分類，請研議。</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已經存在</a:t>
                      </a:r>
                      <a:r>
                        <a:rPr lang="en-US" altLang="zh-TW" sz="1400" b="0" i="0" u="none" strike="noStrike" cap="none">
                          <a:solidFill>
                            <a:schemeClr val="tx1"/>
                          </a:solidFill>
                          <a:effectLst/>
                          <a:latin typeface="Arial"/>
                          <a:ea typeface="Arial"/>
                          <a:cs typeface="Arial"/>
                          <a:sym typeface="Arial"/>
                        </a:rPr>
                        <a:t>tag</a:t>
                      </a:r>
                      <a:r>
                        <a:rPr lang="zh-TW" altLang="zh-TW" sz="1400" b="0" i="0" u="none" strike="noStrike" cap="none">
                          <a:solidFill>
                            <a:schemeClr val="tx1"/>
                          </a:solidFill>
                          <a:effectLst/>
                          <a:latin typeface="Arial"/>
                          <a:ea typeface="Arial"/>
                          <a:cs typeface="Arial"/>
                          <a:sym typeface="Arial"/>
                        </a:rPr>
                        <a:t>欄位用於分類及篩選</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6235029"/>
                  </a:ext>
                </a:extLst>
              </a:tr>
              <a:tr h="397036">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使用現成套件應說明清楚。</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已修正</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586155"/>
                  </a:ext>
                </a:extLst>
              </a:tr>
              <a:tr h="397036">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提供分析實例</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已新增其他範例</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93935025"/>
                  </a:ext>
                </a:extLst>
              </a:tr>
              <a:tr h="397036">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系統目標應更明確聚焦</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已修正</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0285525"/>
                  </a:ext>
                </a:extLst>
              </a:tr>
              <a:tr h="397036">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主題與目標不明確，有點雜</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已修正</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788738"/>
                  </a:ext>
                </a:extLst>
              </a:tr>
            </a:tbl>
          </a:graphicData>
        </a:graphic>
      </p:graphicFrame>
      <p:sp>
        <p:nvSpPr>
          <p:cNvPr id="4" name="Google Shape;937;p34">
            <a:extLst>
              <a:ext uri="{FF2B5EF4-FFF2-40B4-BE49-F238E27FC236}">
                <a16:creationId xmlns:a16="http://schemas.microsoft.com/office/drawing/2014/main" id="{1641E0AF-EC2C-B9E1-2893-9AD9E11CDBC8}"/>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rPr>
              <a:t>&lt;/</a:t>
            </a:r>
            <a:r>
              <a:rPr lang="zh-TW" altLang="en-US" b="1">
                <a:latin typeface="微軟正黑體" panose="020B0604030504040204" pitchFamily="34" charset="-120"/>
                <a:ea typeface="微軟正黑體" panose="020B0604030504040204" pitchFamily="34" charset="-120"/>
              </a:rPr>
              <a:t>附錄</a:t>
            </a:r>
          </a:p>
        </p:txBody>
      </p:sp>
    </p:spTree>
    <p:extLst>
      <p:ext uri="{BB962C8B-B14F-4D97-AF65-F5344CB8AC3E}">
        <p14:creationId xmlns:p14="http://schemas.microsoft.com/office/powerpoint/2010/main" val="13301910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4765E-BE2C-112A-A6D4-A9F10073DB77}"/>
            </a:ext>
          </a:extLst>
        </p:cNvPr>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211E15A9-B3EA-82D3-51CC-43982E3E4070}"/>
              </a:ext>
            </a:extLst>
          </p:cNvPr>
          <p:cNvGraphicFramePr>
            <a:graphicFrameLocks noGrp="1"/>
          </p:cNvGraphicFramePr>
          <p:nvPr>
            <p:extLst>
              <p:ext uri="{D42A27DB-BD31-4B8C-83A1-F6EECF244321}">
                <p14:modId xmlns:p14="http://schemas.microsoft.com/office/powerpoint/2010/main" val="2646425987"/>
              </p:ext>
            </p:extLst>
          </p:nvPr>
        </p:nvGraphicFramePr>
        <p:xfrm>
          <a:off x="720000" y="1315844"/>
          <a:ext cx="7809571" cy="3077736"/>
        </p:xfrm>
        <a:graphic>
          <a:graphicData uri="http://schemas.openxmlformats.org/drawingml/2006/table">
            <a:tbl>
              <a:tblPr firstRow="1" firstCol="1" bandRow="1">
                <a:tableStyleId>{156FFB51-9094-4DAB-B666-DE70557B4261}</a:tableStyleId>
              </a:tblPr>
              <a:tblGrid>
                <a:gridCol w="5146698">
                  <a:extLst>
                    <a:ext uri="{9D8B030D-6E8A-4147-A177-3AD203B41FA5}">
                      <a16:colId xmlns:a16="http://schemas.microsoft.com/office/drawing/2014/main" val="2222035984"/>
                    </a:ext>
                  </a:extLst>
                </a:gridCol>
                <a:gridCol w="2662873">
                  <a:extLst>
                    <a:ext uri="{9D8B030D-6E8A-4147-A177-3AD203B41FA5}">
                      <a16:colId xmlns:a16="http://schemas.microsoft.com/office/drawing/2014/main" val="1926197266"/>
                    </a:ext>
                  </a:extLst>
                </a:gridCol>
              </a:tblGrid>
              <a:tr h="373104">
                <a:tc>
                  <a:txBody>
                    <a:bodyPr/>
                    <a:lstStyle/>
                    <a:p>
                      <a:pPr algn="ctr">
                        <a:spcBef>
                          <a:spcPts val="0"/>
                        </a:spcBef>
                        <a:spcAft>
                          <a:spcPts val="600"/>
                        </a:spcAft>
                      </a:pPr>
                      <a:r>
                        <a:rPr lang="zh-TW" sz="1400" b="1" kern="100">
                          <a:solidFill>
                            <a:schemeClr val="tx1"/>
                          </a:solidFill>
                          <a:effectLst/>
                        </a:rPr>
                        <a:t>評審建議事項</a:t>
                      </a:r>
                      <a:endParaRPr lang="zh-TW" sz="1400" b="1"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zh-TW" sz="1400" b="1" kern="100">
                          <a:solidFill>
                            <a:schemeClr val="tx1"/>
                          </a:solidFill>
                          <a:effectLst/>
                        </a:rPr>
                        <a:t>修改情形</a:t>
                      </a:r>
                      <a:endParaRPr lang="zh-TW" sz="1400" b="1"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0272594"/>
                  </a:ext>
                </a:extLst>
              </a:tr>
              <a:tr h="463405">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商業模式與內容不吻合</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已明確改為免費，不再是收費</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0262207"/>
                  </a:ext>
                </a:extLst>
              </a:tr>
              <a:tr h="996101">
                <a:tc>
                  <a:txBody>
                    <a:bodyPr/>
                    <a:lstStyle/>
                    <a:p>
                      <a:pPr>
                        <a:spcBef>
                          <a:spcPts val="0"/>
                        </a:spcBef>
                        <a:spcAft>
                          <a:spcPts val="0"/>
                        </a:spcAft>
                      </a:pPr>
                      <a:r>
                        <a:rPr lang="zh-TW" altLang="zh-TW" sz="1400" b="0" i="0" u="none" strike="noStrike" cap="none">
                          <a:solidFill>
                            <a:schemeClr val="tx1"/>
                          </a:solidFill>
                          <a:effectLst/>
                          <a:latin typeface="Arial"/>
                          <a:ea typeface="Arial"/>
                          <a:cs typeface="Arial"/>
                          <a:sym typeface="Arial"/>
                        </a:rPr>
                        <a:t>程式碼抄襲方向，與題目目標相關性很低</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我們希望運用</a:t>
                      </a:r>
                      <a:r>
                        <a:rPr lang="en-US" altLang="zh-TW" sz="1400" b="0" i="0" u="none" strike="noStrike" cap="none">
                          <a:solidFill>
                            <a:schemeClr val="tx1"/>
                          </a:solidFill>
                          <a:effectLst/>
                          <a:latin typeface="Arial"/>
                          <a:ea typeface="Arial"/>
                          <a:cs typeface="Arial"/>
                          <a:sym typeface="Arial"/>
                        </a:rPr>
                        <a:t> Dolos </a:t>
                      </a:r>
                      <a:r>
                        <a:rPr lang="zh-TW" altLang="zh-TW" sz="1400" b="0" i="0" u="none" strike="noStrike" cap="none">
                          <a:solidFill>
                            <a:schemeClr val="tx1"/>
                          </a:solidFill>
                          <a:effectLst/>
                          <a:latin typeface="Arial"/>
                          <a:ea typeface="Arial"/>
                          <a:cs typeface="Arial"/>
                          <a:sym typeface="Arial"/>
                        </a:rPr>
                        <a:t>系統去探討程式碼的結構差異，進一步視覺化多種解法，讓學習者提升實戰能力</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1402596"/>
                  </a:ext>
                </a:extLst>
              </a:tr>
              <a:tr h="1245126">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建議重新勾勒題目與內容</a:t>
                      </a:r>
                      <a:endParaRPr 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spcAft>
                          <a:spcPts val="600"/>
                        </a:spcAft>
                      </a:pPr>
                      <a:r>
                        <a:rPr lang="zh-TW" altLang="zh-TW" sz="1400" b="0" i="0" u="none" strike="noStrike" cap="none">
                          <a:solidFill>
                            <a:schemeClr val="tx1"/>
                          </a:solidFill>
                          <a:effectLst/>
                          <a:latin typeface="Arial"/>
                          <a:ea typeface="Arial"/>
                          <a:cs typeface="Arial"/>
                          <a:sym typeface="Arial"/>
                        </a:rPr>
                        <a:t>我們已重新定位系統核心目標為促進程式碼解法的多樣性分析與學習優化，以強化學習者的理解力與創新能力，而非僅限於檢測相似度。</a:t>
                      </a:r>
                      <a:endParaRPr lang="zh-TW" altLang="zh-TW" sz="1400" kern="100">
                        <a:solidFill>
                          <a:schemeClr val="tx1"/>
                        </a:solidFill>
                        <a:effectLst/>
                        <a:latin typeface="Calibri" panose="020F0502020204030204" pitchFamily="34" charset="0"/>
                        <a:ea typeface="新細明體" panose="02020500000000000000" pitchFamily="18" charset="-120"/>
                        <a:cs typeface="Arial" panose="020B0604020202020204" pitchFamily="34" charset="0"/>
                      </a:endParaRPr>
                    </a:p>
                  </a:txBody>
                  <a:tcPr marL="37865" marR="3786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8324688"/>
                  </a:ext>
                </a:extLst>
              </a:tr>
            </a:tbl>
          </a:graphicData>
        </a:graphic>
      </p:graphicFrame>
      <p:sp>
        <p:nvSpPr>
          <p:cNvPr id="4" name="Google Shape;937;p34">
            <a:extLst>
              <a:ext uri="{FF2B5EF4-FFF2-40B4-BE49-F238E27FC236}">
                <a16:creationId xmlns:a16="http://schemas.microsoft.com/office/drawing/2014/main" id="{01977D3B-2E11-5770-8030-559D1F92E7E9}"/>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rPr>
              <a:t>&lt;/</a:t>
            </a:r>
            <a:r>
              <a:rPr lang="zh-TW" altLang="en-US" b="1">
                <a:latin typeface="微軟正黑體" panose="020B0604030504040204" pitchFamily="34" charset="-120"/>
                <a:ea typeface="微軟正黑體" panose="020B0604030504040204" pitchFamily="34" charset="-120"/>
              </a:rPr>
              <a:t>附錄</a:t>
            </a:r>
          </a:p>
        </p:txBody>
      </p:sp>
    </p:spTree>
    <p:extLst>
      <p:ext uri="{BB962C8B-B14F-4D97-AF65-F5344CB8AC3E}">
        <p14:creationId xmlns:p14="http://schemas.microsoft.com/office/powerpoint/2010/main" val="25884055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3BF06FA6-067A-952B-04AE-3CD32B76FFC7}"/>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78B7604C-5161-914E-99EA-08AEFAC3B22F}"/>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zh-TW" altLang="en-US" b="1">
                <a:latin typeface="微軟正黑體" panose="020B0604030504040204" pitchFamily="34" charset="-120"/>
                <a:ea typeface="微軟正黑體" panose="020B0604030504040204" pitchFamily="34" charset="-120"/>
              </a:rPr>
              <a:t>附錄</a:t>
            </a:r>
          </a:p>
        </p:txBody>
      </p:sp>
      <p:sp>
        <p:nvSpPr>
          <p:cNvPr id="4" name="文字方塊 3">
            <a:extLst>
              <a:ext uri="{FF2B5EF4-FFF2-40B4-BE49-F238E27FC236}">
                <a16:creationId xmlns:a16="http://schemas.microsoft.com/office/drawing/2014/main" id="{34AF9A48-E176-533B-6054-91150AABFC65}"/>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51</a:t>
            </a:fld>
            <a:endParaRPr lang="zh-TW" altLang="en-US">
              <a:solidFill>
                <a:schemeClr val="tx1"/>
              </a:solidFill>
            </a:endParaRPr>
          </a:p>
        </p:txBody>
      </p:sp>
      <p:pic>
        <p:nvPicPr>
          <p:cNvPr id="2" name="Picture 71257326">
            <a:extLst>
              <a:ext uri="{FF2B5EF4-FFF2-40B4-BE49-F238E27FC236}">
                <a16:creationId xmlns:a16="http://schemas.microsoft.com/office/drawing/2014/main" id="{29D757BB-19C2-98FF-5AE8-A1F9A688609C}"/>
              </a:ext>
            </a:extLst>
          </p:cNvPr>
          <p:cNvPicPr>
            <a:picLocks noChangeAspect="1"/>
          </p:cNvPicPr>
          <p:nvPr/>
        </p:nvPicPr>
        <p:blipFill>
          <a:blip r:embed="rId3"/>
          <a:srcRect/>
          <a:stretch/>
        </p:blipFill>
        <p:spPr>
          <a:xfrm>
            <a:off x="2051268" y="1129642"/>
            <a:ext cx="5041463" cy="1773734"/>
          </a:xfrm>
          <a:prstGeom prst="rect">
            <a:avLst/>
          </a:prstGeom>
        </p:spPr>
      </p:pic>
      <p:pic>
        <p:nvPicPr>
          <p:cNvPr id="3" name="Picture 1566672031">
            <a:extLst>
              <a:ext uri="{FF2B5EF4-FFF2-40B4-BE49-F238E27FC236}">
                <a16:creationId xmlns:a16="http://schemas.microsoft.com/office/drawing/2014/main" id="{CD6C5C58-93D7-B346-6DA5-2BDFBCBB1F0C}"/>
              </a:ext>
            </a:extLst>
          </p:cNvPr>
          <p:cNvPicPr>
            <a:picLocks noChangeAspect="1"/>
          </p:cNvPicPr>
          <p:nvPr/>
        </p:nvPicPr>
        <p:blipFill>
          <a:blip r:embed="rId4"/>
          <a:srcRect/>
          <a:stretch/>
        </p:blipFill>
        <p:spPr>
          <a:xfrm>
            <a:off x="2091025" y="3073635"/>
            <a:ext cx="4961949" cy="1843355"/>
          </a:xfrm>
          <a:prstGeom prst="rect">
            <a:avLst/>
          </a:prstGeom>
        </p:spPr>
      </p:pic>
    </p:spTree>
    <p:extLst>
      <p:ext uri="{BB962C8B-B14F-4D97-AF65-F5344CB8AC3E}">
        <p14:creationId xmlns:p14="http://schemas.microsoft.com/office/powerpoint/2010/main" val="11905695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145DB25C-04F6-9D7B-961B-8DC19A5BF37D}"/>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42E8882E-347F-0B3E-594C-8F5AFAB27E59}"/>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latin typeface="微軟正黑體" panose="020B0604030504040204" pitchFamily="34" charset="-120"/>
                <a:ea typeface="微軟正黑體" panose="020B0604030504040204" pitchFamily="34" charset="-120"/>
              </a:rPr>
              <a:t>&lt;/</a:t>
            </a:r>
            <a:r>
              <a:rPr lang="zh-TW" altLang="en-US" b="1">
                <a:solidFill>
                  <a:schemeClr val="accent6"/>
                </a:solidFill>
                <a:latin typeface="微軟正黑體" panose="020B0604030504040204" pitchFamily="34" charset="-120"/>
                <a:ea typeface="微軟正黑體" panose="020B0604030504040204" pitchFamily="34" charset="-120"/>
              </a:rPr>
              <a:t>附錄</a:t>
            </a:r>
          </a:p>
        </p:txBody>
      </p:sp>
      <p:sp>
        <p:nvSpPr>
          <p:cNvPr id="4" name="文字方塊 3">
            <a:extLst>
              <a:ext uri="{FF2B5EF4-FFF2-40B4-BE49-F238E27FC236}">
                <a16:creationId xmlns:a16="http://schemas.microsoft.com/office/drawing/2014/main" id="{FAF69C33-738D-A45A-DF2B-E274F6E1749C}"/>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52</a:t>
            </a:fld>
            <a:endParaRPr lang="zh-TW" altLang="en-US">
              <a:solidFill>
                <a:schemeClr val="tx1"/>
              </a:solidFill>
            </a:endParaRPr>
          </a:p>
        </p:txBody>
      </p:sp>
      <p:pic>
        <p:nvPicPr>
          <p:cNvPr id="5" name="圖片 4">
            <a:extLst>
              <a:ext uri="{FF2B5EF4-FFF2-40B4-BE49-F238E27FC236}">
                <a16:creationId xmlns:a16="http://schemas.microsoft.com/office/drawing/2014/main" id="{3490B749-F215-C8C5-FA3A-CDA53D260885}"/>
              </a:ext>
            </a:extLst>
          </p:cNvPr>
          <p:cNvPicPr>
            <a:picLocks noChangeAspect="1"/>
          </p:cNvPicPr>
          <p:nvPr/>
        </p:nvPicPr>
        <p:blipFill>
          <a:blip r:embed="rId3"/>
          <a:srcRect/>
          <a:stretch/>
        </p:blipFill>
        <p:spPr>
          <a:xfrm>
            <a:off x="2085640" y="1122469"/>
            <a:ext cx="5000216" cy="1762069"/>
          </a:xfrm>
          <a:prstGeom prst="rect">
            <a:avLst/>
          </a:prstGeom>
        </p:spPr>
      </p:pic>
      <p:pic>
        <p:nvPicPr>
          <p:cNvPr id="2" name="Picture 1878114102">
            <a:extLst>
              <a:ext uri="{FF2B5EF4-FFF2-40B4-BE49-F238E27FC236}">
                <a16:creationId xmlns:a16="http://schemas.microsoft.com/office/drawing/2014/main" id="{E4291BC2-6B8D-9ED6-404E-D8C81F220562}"/>
              </a:ext>
            </a:extLst>
          </p:cNvPr>
          <p:cNvPicPr>
            <a:picLocks noChangeAspect="1"/>
          </p:cNvPicPr>
          <p:nvPr/>
        </p:nvPicPr>
        <p:blipFill>
          <a:blip r:embed="rId4"/>
          <a:srcRect/>
          <a:stretch/>
        </p:blipFill>
        <p:spPr>
          <a:xfrm>
            <a:off x="2051767" y="2961316"/>
            <a:ext cx="5040964" cy="1895329"/>
          </a:xfrm>
          <a:prstGeom prst="rect">
            <a:avLst/>
          </a:prstGeom>
        </p:spPr>
      </p:pic>
    </p:spTree>
    <p:extLst>
      <p:ext uri="{BB962C8B-B14F-4D97-AF65-F5344CB8AC3E}">
        <p14:creationId xmlns:p14="http://schemas.microsoft.com/office/powerpoint/2010/main" val="39242802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6">
          <a:extLst>
            <a:ext uri="{FF2B5EF4-FFF2-40B4-BE49-F238E27FC236}">
              <a16:creationId xmlns:a16="http://schemas.microsoft.com/office/drawing/2014/main" id="{D0CF3944-ED69-36A9-79B0-8E4EE0ABF764}"/>
            </a:ext>
          </a:extLst>
        </p:cNvPr>
        <p:cNvGrpSpPr/>
        <p:nvPr/>
      </p:nvGrpSpPr>
      <p:grpSpPr>
        <a:xfrm>
          <a:off x="0" y="0"/>
          <a:ext cx="0" cy="0"/>
          <a:chOff x="0" y="0"/>
          <a:chExt cx="0" cy="0"/>
        </a:xfrm>
      </p:grpSpPr>
      <p:sp>
        <p:nvSpPr>
          <p:cNvPr id="937" name="Google Shape;937;p34">
            <a:extLst>
              <a:ext uri="{FF2B5EF4-FFF2-40B4-BE49-F238E27FC236}">
                <a16:creationId xmlns:a16="http://schemas.microsoft.com/office/drawing/2014/main" id="{703D82CF-BBC2-339A-2C52-F06BB4A169C4}"/>
              </a:ext>
            </a:extLst>
          </p:cNvPr>
          <p:cNvSpPr txBox="1">
            <a:spLocks noGrp="1"/>
          </p:cNvSpPr>
          <p:nvPr>
            <p:ph type="title"/>
          </p:nvPr>
        </p:nvSpPr>
        <p:spPr>
          <a:xfrm>
            <a:off x="720000" y="383383"/>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latin typeface="微軟正黑體" panose="020B0604030504040204" pitchFamily="34" charset="-120"/>
                <a:ea typeface="微軟正黑體" panose="020B0604030504040204" pitchFamily="34" charset="-120"/>
              </a:rPr>
              <a:t>&lt;/</a:t>
            </a:r>
            <a:r>
              <a:rPr lang="zh-TW" altLang="en-US" b="1">
                <a:solidFill>
                  <a:schemeClr val="accent6"/>
                </a:solidFill>
                <a:latin typeface="微軟正黑體" panose="020B0604030504040204" pitchFamily="34" charset="-120"/>
                <a:ea typeface="微軟正黑體" panose="020B0604030504040204" pitchFamily="34" charset="-120"/>
              </a:rPr>
              <a:t>附錄</a:t>
            </a:r>
          </a:p>
        </p:txBody>
      </p:sp>
      <p:sp>
        <p:nvSpPr>
          <p:cNvPr id="4" name="文字方塊 3">
            <a:extLst>
              <a:ext uri="{FF2B5EF4-FFF2-40B4-BE49-F238E27FC236}">
                <a16:creationId xmlns:a16="http://schemas.microsoft.com/office/drawing/2014/main" id="{EB9D97C4-B4E0-1398-BB0E-E78CE0DE4E58}"/>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53</a:t>
            </a:fld>
            <a:endParaRPr lang="zh-TW" altLang="en-US">
              <a:solidFill>
                <a:schemeClr val="tx1"/>
              </a:solidFill>
            </a:endParaRPr>
          </a:p>
        </p:txBody>
      </p:sp>
      <p:pic>
        <p:nvPicPr>
          <p:cNvPr id="3" name="Picture 1880373173">
            <a:extLst>
              <a:ext uri="{FF2B5EF4-FFF2-40B4-BE49-F238E27FC236}">
                <a16:creationId xmlns:a16="http://schemas.microsoft.com/office/drawing/2014/main" id="{839CCF8F-0538-71F8-2DDA-8CB1D34E6E15}"/>
              </a:ext>
            </a:extLst>
          </p:cNvPr>
          <p:cNvPicPr>
            <a:picLocks noChangeAspect="1"/>
          </p:cNvPicPr>
          <p:nvPr/>
        </p:nvPicPr>
        <p:blipFill>
          <a:blip r:embed="rId3"/>
          <a:srcRect/>
          <a:stretch/>
        </p:blipFill>
        <p:spPr>
          <a:xfrm>
            <a:off x="2064408" y="1509046"/>
            <a:ext cx="5015183" cy="1791356"/>
          </a:xfrm>
          <a:prstGeom prst="rect">
            <a:avLst/>
          </a:prstGeom>
        </p:spPr>
      </p:pic>
    </p:spTree>
    <p:extLst>
      <p:ext uri="{BB962C8B-B14F-4D97-AF65-F5344CB8AC3E}">
        <p14:creationId xmlns:p14="http://schemas.microsoft.com/office/powerpoint/2010/main" val="12685256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3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b="1">
                <a:solidFill>
                  <a:schemeClr val="accent1"/>
                </a:solidFill>
                <a:latin typeface="Microsoft JhengHei"/>
              </a:rPr>
              <a:t>&lt;/</a:t>
            </a:r>
            <a:r>
              <a:rPr lang="zh-TW" altLang="en-US" b="1">
                <a:solidFill>
                  <a:schemeClr val="accent6"/>
                </a:solidFill>
                <a:latin typeface="Microsoft JhengHei"/>
                <a:ea typeface="Microsoft JhengHei"/>
              </a:rPr>
              <a:t>附錄</a:t>
            </a:r>
            <a:endParaRPr lang="zh-TW"/>
          </a:p>
        </p:txBody>
      </p:sp>
      <p:sp>
        <p:nvSpPr>
          <p:cNvPr id="6" name="文字方塊 5">
            <a:extLst>
              <a:ext uri="{FF2B5EF4-FFF2-40B4-BE49-F238E27FC236}">
                <a16:creationId xmlns:a16="http://schemas.microsoft.com/office/drawing/2014/main" id="{18997D79-9F3B-CA6A-ACB2-E22875F86880}"/>
              </a:ext>
            </a:extLst>
          </p:cNvPr>
          <p:cNvSpPr txBox="1"/>
          <p:nvPr/>
        </p:nvSpPr>
        <p:spPr>
          <a:xfrm>
            <a:off x="0" y="4835723"/>
            <a:ext cx="397565" cy="307777"/>
          </a:xfrm>
          <a:prstGeom prst="rect">
            <a:avLst/>
          </a:prstGeom>
          <a:noFill/>
        </p:spPr>
        <p:txBody>
          <a:bodyPr wrap="square" rtlCol="0">
            <a:spAutoFit/>
          </a:bodyPr>
          <a:lstStyle/>
          <a:p>
            <a:pPr algn="ctr"/>
            <a:fld id="{6AFFF412-DA01-443A-B29B-CA11A56FD20F}" type="slidenum">
              <a:rPr lang="zh-TW" altLang="en-US" smtClean="0">
                <a:solidFill>
                  <a:schemeClr val="tx1"/>
                </a:solidFill>
              </a:rPr>
              <a:pPr algn="ctr"/>
              <a:t>54</a:t>
            </a:fld>
            <a:endParaRPr lang="zh-TW" altLang="en-US">
              <a:solidFill>
                <a:schemeClr val="tx1"/>
              </a:solidFill>
            </a:endParaRPr>
          </a:p>
        </p:txBody>
      </p:sp>
      <p:pic>
        <p:nvPicPr>
          <p:cNvPr id="2" name="圖片 1" descr="一張含有 文字, 螢幕擷取畫面, 數字, 字型 的圖片&#10;&#10;自動產生的描述">
            <a:extLst>
              <a:ext uri="{FF2B5EF4-FFF2-40B4-BE49-F238E27FC236}">
                <a16:creationId xmlns:a16="http://schemas.microsoft.com/office/drawing/2014/main" id="{B179D1E3-0107-A06E-A451-5BC1E240968B}"/>
              </a:ext>
            </a:extLst>
          </p:cNvPr>
          <p:cNvPicPr>
            <a:picLocks noChangeAspect="1"/>
          </p:cNvPicPr>
          <p:nvPr/>
        </p:nvPicPr>
        <p:blipFill>
          <a:blip r:embed="rId3"/>
          <a:stretch>
            <a:fillRect/>
          </a:stretch>
        </p:blipFill>
        <p:spPr>
          <a:xfrm>
            <a:off x="1272396" y="1288210"/>
            <a:ext cx="6588425" cy="3170928"/>
          </a:xfrm>
          <a:prstGeom prst="rect">
            <a:avLst/>
          </a:prstGeom>
        </p:spPr>
      </p:pic>
    </p:spTree>
    <p:extLst>
      <p:ext uri="{BB962C8B-B14F-4D97-AF65-F5344CB8AC3E}">
        <p14:creationId xmlns:p14="http://schemas.microsoft.com/office/powerpoint/2010/main" val="24350316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theme1.xml><?xml version="1.0" encoding="utf-8"?>
<a:theme xmlns:a="http://schemas.openxmlformats.org/drawingml/2006/main" name="New Operating System Design Pitch Deck  Infographics by Slidesgo">
  <a:themeElements>
    <a:clrScheme name="Simple Light">
      <a:dk1>
        <a:srgbClr val="FFFFFF"/>
      </a:dk1>
      <a:lt1>
        <a:srgbClr val="2D323C"/>
      </a:lt1>
      <a:dk2>
        <a:srgbClr val="242830"/>
      </a:dk2>
      <a:lt2>
        <a:srgbClr val="FFDB5D"/>
      </a:lt2>
      <a:accent1>
        <a:srgbClr val="94EE6B"/>
      </a:accent1>
      <a:accent2>
        <a:srgbClr val="E81981"/>
      </a:accent2>
      <a:accent3>
        <a:srgbClr val="BD64B5"/>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件" ma:contentTypeID="0x01010094BB35117EF0F941BF6786AE1B5A0117" ma:contentTypeVersion="15" ma:contentTypeDescription="建立新的文件。" ma:contentTypeScope="" ma:versionID="9d8c8d155228138b50d776d0117d6a9d">
  <xsd:schema xmlns:xsd="http://www.w3.org/2001/XMLSchema" xmlns:xs="http://www.w3.org/2001/XMLSchema" xmlns:p="http://schemas.microsoft.com/office/2006/metadata/properties" xmlns:ns3="1d2ff8e9-6e60-4383-8538-e2f5e43b41cc" xmlns:ns4="945c9f36-4ca5-453e-98a8-c738a16c2fbb" targetNamespace="http://schemas.microsoft.com/office/2006/metadata/properties" ma:root="true" ma:fieldsID="359c513208ba5c6f7bf1cf09f04ea3c5" ns3:_="" ns4:_="">
    <xsd:import namespace="1d2ff8e9-6e60-4383-8538-e2f5e43b41cc"/>
    <xsd:import namespace="945c9f36-4ca5-453e-98a8-c738a16c2fb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AutoKeyPoints" minOccurs="0"/>
                <xsd:element ref="ns3:MediaServiceKeyPoints"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ff8e9-6e60-4383-8538-e2f5e43b41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5c9f36-4ca5-453e-98a8-c738a16c2fbb" elementFormDefault="qualified">
    <xsd:import namespace="http://schemas.microsoft.com/office/2006/documentManagement/types"/>
    <xsd:import namespace="http://schemas.microsoft.com/office/infopath/2007/PartnerControls"/>
    <xsd:element name="SharedWithUsers" ma:index="10"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用詳細資料" ma:internalName="SharedWithDetails" ma:readOnly="true">
      <xsd:simpleType>
        <xsd:restriction base="dms:Note">
          <xsd:maxLength value="255"/>
        </xsd:restriction>
      </xsd:simpleType>
    </xsd:element>
    <xsd:element name="SharingHintHash" ma:index="12" nillable="true" ma:displayName="共用提示雜湊"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d2ff8e9-6e60-4383-8538-e2f5e43b41cc" xsi:nil="true"/>
  </documentManagement>
</p:properties>
</file>

<file path=customXml/itemProps1.xml><?xml version="1.0" encoding="utf-8"?>
<ds:datastoreItem xmlns:ds="http://schemas.openxmlformats.org/officeDocument/2006/customXml" ds:itemID="{1D2D952E-4E2C-45FB-AEB1-1E86E591FE0D}">
  <ds:schemaRefs>
    <ds:schemaRef ds:uri="1d2ff8e9-6e60-4383-8538-e2f5e43b41cc"/>
    <ds:schemaRef ds:uri="945c9f36-4ca5-453e-98a8-c738a16c2f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38518CBB-A056-478B-A849-027363165915}">
  <ds:schemaRefs>
    <ds:schemaRef ds:uri="http://schemas.microsoft.com/sharepoint/v3/contenttype/forms"/>
  </ds:schemaRefs>
</ds:datastoreItem>
</file>

<file path=customXml/itemProps3.xml><?xml version="1.0" encoding="utf-8"?>
<ds:datastoreItem xmlns:ds="http://schemas.openxmlformats.org/officeDocument/2006/customXml" ds:itemID="{DD55D523-B19A-4AD6-9086-DB486BBC83E9}">
  <ds:schemaRefs>
    <ds:schemaRef ds:uri="http://schemas.microsoft.com/office/2006/metadata/properties"/>
    <ds:schemaRef ds:uri="http://purl.org/dc/elements/1.1/"/>
    <ds:schemaRef ds:uri="http://schemas.microsoft.com/office/2006/documentManagement/types"/>
    <ds:schemaRef ds:uri="945c9f36-4ca5-453e-98a8-c738a16c2fbb"/>
    <ds:schemaRef ds:uri="http://purl.org/dc/terms/"/>
    <ds:schemaRef ds:uri="http://purl.org/dc/dcmitype/"/>
    <ds:schemaRef ds:uri="http://www.w3.org/XML/1998/namespace"/>
    <ds:schemaRef ds:uri="http://schemas.microsoft.com/office/infopath/2007/PartnerControls"/>
    <ds:schemaRef ds:uri="http://schemas.openxmlformats.org/package/2006/metadata/core-properties"/>
    <ds:schemaRef ds:uri="1d2ff8e9-6e60-4383-8538-e2f5e43b41cc"/>
  </ds:schemaRefs>
</ds:datastoreItem>
</file>

<file path=docProps/app.xml><?xml version="1.0" encoding="utf-8"?>
<Properties xmlns="http://schemas.openxmlformats.org/officeDocument/2006/extended-properties" xmlns:vt="http://schemas.openxmlformats.org/officeDocument/2006/docPropsVTypes">
  <TotalTime>0</TotalTime>
  <Words>1288</Words>
  <Application>Microsoft Office PowerPoint</Application>
  <PresentationFormat>如螢幕大小 (16:9)</PresentationFormat>
  <Paragraphs>297</Paragraphs>
  <Slides>54</Slides>
  <Notes>47</Notes>
  <HiddenSlides>0</HiddenSlides>
  <MMClips>1</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54</vt:i4>
      </vt:variant>
    </vt:vector>
  </HeadingPairs>
  <TitlesOfParts>
    <vt:vector size="64" baseType="lpstr">
      <vt:lpstr>Quantico</vt:lpstr>
      <vt:lpstr>微軟正黑體</vt:lpstr>
      <vt:lpstr>Wingdings</vt:lpstr>
      <vt:lpstr>Abadi</vt:lpstr>
      <vt:lpstr>Arial</vt:lpstr>
      <vt:lpstr>微軟正黑體</vt:lpstr>
      <vt:lpstr>Nunito Light</vt:lpstr>
      <vt:lpstr>Source Code Pro</vt:lpstr>
      <vt:lpstr>Calibri</vt:lpstr>
      <vt:lpstr>New Operating System Design Pitch Deck  Infographics by Slidesgo</vt:lpstr>
      <vt:lpstr>CodeAlchemy</vt:lpstr>
      <vt:lpstr>PowerPoint 簡報</vt:lpstr>
      <vt:lpstr>&lt;/目錄</vt:lpstr>
      <vt:lpstr>PowerPoint 簡報</vt:lpstr>
      <vt:lpstr>PowerPoint 簡報</vt:lpstr>
      <vt:lpstr>&lt;/ 動機</vt:lpstr>
      <vt:lpstr>&lt;/ 動機</vt:lpstr>
      <vt:lpstr>PowerPoint 簡報</vt:lpstr>
      <vt:lpstr>&lt;/ 系統架構</vt:lpstr>
      <vt:lpstr>PowerPoint 簡報</vt:lpstr>
      <vt:lpstr>&lt;/ SWOT分析</vt:lpstr>
      <vt:lpstr>&lt;/ SWOT分析</vt:lpstr>
      <vt:lpstr>&lt;/ SWOT分析</vt:lpstr>
      <vt:lpstr>&lt;/ SWOT分析</vt:lpstr>
      <vt:lpstr>&lt;/ SWOT分析</vt:lpstr>
      <vt:lpstr>PowerPoint 簡報</vt:lpstr>
      <vt:lpstr>&lt;/ 系統特色</vt:lpstr>
      <vt:lpstr>文字輸入框</vt:lpstr>
      <vt:lpstr>程式碼編輯器</vt:lpstr>
      <vt:lpstr>&lt;/ 系統特色</vt:lpstr>
      <vt:lpstr>PowerPoint 簡報</vt:lpstr>
      <vt:lpstr>&lt;/ 程式碼分群頁面</vt:lpstr>
      <vt:lpstr>PowerPoint 簡報</vt:lpstr>
      <vt:lpstr>PowerPoint 簡報</vt:lpstr>
      <vt:lpstr>&lt;/ 主頁面</vt:lpstr>
      <vt:lpstr>&lt;/ 答題頁面</vt:lpstr>
      <vt:lpstr>&lt;/ 答題頁面</vt:lpstr>
      <vt:lpstr>&lt;/ 答題頁面</vt:lpstr>
      <vt:lpstr>&lt;/ 答題頁面</vt:lpstr>
      <vt:lpstr>&lt;/ Dolos分析程式碼</vt:lpstr>
      <vt:lpstr>&lt;/ 創建比賽頁面</vt:lpstr>
      <vt:lpstr>&lt;/ 創建比賽頁面</vt:lpstr>
      <vt:lpstr>&lt;/ 創建比賽頁面</vt:lpstr>
      <vt:lpstr>&lt;/ 加入比賽頁面</vt:lpstr>
      <vt:lpstr>&lt;/ 加入比賽頁面</vt:lpstr>
      <vt:lpstr>&lt;/ 比賽頁面</vt:lpstr>
      <vt:lpstr>&lt;/ 個人資料頁面</vt:lpstr>
      <vt:lpstr>&lt;/ 個人資料頁面</vt:lpstr>
      <vt:lpstr>&lt;/ 個人資料頁面</vt:lpstr>
      <vt:lpstr>&lt;/ 回饋頁面</vt:lpstr>
      <vt:lpstr>&lt;/ 回饋紀錄頁面</vt:lpstr>
      <vt:lpstr>PowerPoint 簡報</vt:lpstr>
      <vt:lpstr>&lt;/ 未來展望</vt:lpstr>
      <vt:lpstr>&lt;/ END</vt:lpstr>
      <vt:lpstr>&lt;/ Q&amp;A</vt:lpstr>
      <vt:lpstr>&lt;/附錄</vt:lpstr>
      <vt:lpstr>&lt;/附錄</vt:lpstr>
      <vt:lpstr>&lt;/附錄</vt:lpstr>
      <vt:lpstr>&lt;/附錄</vt:lpstr>
      <vt:lpstr>&lt;/附錄</vt:lpstr>
      <vt:lpstr>&lt;/附錄</vt:lpstr>
      <vt:lpstr>&lt;/附錄</vt:lpstr>
      <vt:lpstr>&lt;/附錄</vt:lpstr>
      <vt:lpstr>&lt;/附錄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CodeAlchemy</dc:title>
  <dc:creator>Enyu</dc:creator>
  <cp:lastModifiedBy>10956011_周恩宇</cp:lastModifiedBy>
  <cp:revision>1</cp:revision>
  <dcterms:modified xsi:type="dcterms:W3CDTF">2024-10-20T08:41:41Z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0x01010094BB35117EF0F941BF6786AE1B5A0117</vt:lpwstr>
  </property>
</Properties>
</file>